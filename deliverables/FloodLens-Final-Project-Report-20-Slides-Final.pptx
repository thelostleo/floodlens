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fb4789586a4bb3" /><Relationship Type="http://schemas.openxmlformats.org/officeDocument/2006/relationships/extended-properties" Target="/docProps/app.xml" Id="R52b29beb6fbf48c5" /><Relationship Type="http://schemas.openxmlformats.org/officeDocument/2006/relationships/officeDocument" Target="/ppt/presentation.xml" Id="Raab81890d08c4d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7ca05b15154f6d"/>
  </p:sldMasterIdLst>
  <p:notesMasterIdLst>
    <p:notesMasterId xmlns:r="http://schemas.openxmlformats.org/officeDocument/2006/relationships" r:id="R8513c9a36f3c4a8a"/>
  </p:notesMasterIdLst>
  <p:sldIdLst>
    <p:sldId xmlns:r="http://schemas.openxmlformats.org/officeDocument/2006/relationships" id="256" r:id="R6b16dd1bc90242dc"/>
    <p:sldId xmlns:r="http://schemas.openxmlformats.org/officeDocument/2006/relationships" id="257" r:id="R119203427fd34609"/>
    <p:sldId xmlns:r="http://schemas.openxmlformats.org/officeDocument/2006/relationships" id="258" r:id="R239bba90f13f44c1"/>
    <p:sldId xmlns:r="http://schemas.openxmlformats.org/officeDocument/2006/relationships" id="259" r:id="R3853a863cf184d6a"/>
    <p:sldId xmlns:r="http://schemas.openxmlformats.org/officeDocument/2006/relationships" id="260" r:id="R617fbc38cf6749a1"/>
    <p:sldId xmlns:r="http://schemas.openxmlformats.org/officeDocument/2006/relationships" id="261" r:id="R7097214626674ee9"/>
    <p:sldId xmlns:r="http://schemas.openxmlformats.org/officeDocument/2006/relationships" id="262" r:id="Rb8953214b66446ab"/>
    <p:sldId xmlns:r="http://schemas.openxmlformats.org/officeDocument/2006/relationships" id="263" r:id="R85b2677ec4f14729"/>
    <p:sldId xmlns:r="http://schemas.openxmlformats.org/officeDocument/2006/relationships" id="264" r:id="R89cced4abf5a49cf"/>
    <p:sldId xmlns:r="http://schemas.openxmlformats.org/officeDocument/2006/relationships" id="265" r:id="Ra61a6cce204f4cbc"/>
    <p:sldId xmlns:r="http://schemas.openxmlformats.org/officeDocument/2006/relationships" id="266" r:id="R5dc73871a2cf4a7c"/>
    <p:sldId xmlns:r="http://schemas.openxmlformats.org/officeDocument/2006/relationships" id="267" r:id="Ree27e8e18fab4a46"/>
    <p:sldId xmlns:r="http://schemas.openxmlformats.org/officeDocument/2006/relationships" id="268" r:id="Rbadb2d3cb28344f0"/>
    <p:sldId xmlns:r="http://schemas.openxmlformats.org/officeDocument/2006/relationships" id="269" r:id="R272b1c77e9ed4e79"/>
    <p:sldId xmlns:r="http://schemas.openxmlformats.org/officeDocument/2006/relationships" id="270" r:id="R92cc9a31176048f1"/>
    <p:sldId xmlns:r="http://schemas.openxmlformats.org/officeDocument/2006/relationships" id="271" r:id="R23468fc4d3774c3b"/>
    <p:sldId xmlns:r="http://schemas.openxmlformats.org/officeDocument/2006/relationships" id="272" r:id="R5460a9a3487f4062"/>
    <p:sldId xmlns:r="http://schemas.openxmlformats.org/officeDocument/2006/relationships" id="273" r:id="R8cfbc9e74aad41a6"/>
    <p:sldId xmlns:r="http://schemas.openxmlformats.org/officeDocument/2006/relationships" id="274" r:id="R570c69c4cba54092"/>
    <p:sldId xmlns:r="http://schemas.openxmlformats.org/officeDocument/2006/relationships" id="275" r:id="R5988ef1aec7a4b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24637270ea48b7" /><Relationship Type="http://schemas.openxmlformats.org/officeDocument/2006/relationships/slideMaster" Target="/ppt/slideMasters/slideMaster1.xml" Id="R727ca05b15154f6d" /><Relationship Type="http://schemas.openxmlformats.org/officeDocument/2006/relationships/notesMaster" Target="/ppt/notesMasters/notesMaster1.xml" Id="R8513c9a36f3c4a8a" /><Relationship Type="http://schemas.openxmlformats.org/officeDocument/2006/relationships/presProps" Target="/ppt/presProps.xml" Id="Rc54c8507b7ac4f18" /><Relationship Type="http://schemas.openxmlformats.org/officeDocument/2006/relationships/tableStyles" Target="/ppt/tableStyles.xml" Id="R30843a6e2cf24cd3" /><Relationship Type="http://schemas.openxmlformats.org/officeDocument/2006/relationships/slide" Target="/ppt/slides/slide1.xml" Id="R6b16dd1bc90242dc" /><Relationship Type="http://schemas.openxmlformats.org/officeDocument/2006/relationships/slide" Target="/ppt/slides/slide2.xml" Id="R119203427fd34609" /><Relationship Type="http://schemas.openxmlformats.org/officeDocument/2006/relationships/slide" Target="/ppt/slides/slide3.xml" Id="R239bba90f13f44c1" /><Relationship Type="http://schemas.openxmlformats.org/officeDocument/2006/relationships/slide" Target="/ppt/slides/slide4.xml" Id="R3853a863cf184d6a" /><Relationship Type="http://schemas.openxmlformats.org/officeDocument/2006/relationships/slide" Target="/ppt/slides/slide5.xml" Id="R617fbc38cf6749a1" /><Relationship Type="http://schemas.openxmlformats.org/officeDocument/2006/relationships/slide" Target="/ppt/slides/slide6.xml" Id="R7097214626674ee9" /><Relationship Type="http://schemas.openxmlformats.org/officeDocument/2006/relationships/slide" Target="/ppt/slides/slide7.xml" Id="Rb8953214b66446ab" /><Relationship Type="http://schemas.openxmlformats.org/officeDocument/2006/relationships/slide" Target="/ppt/slides/slide8.xml" Id="R85b2677ec4f14729" /><Relationship Type="http://schemas.openxmlformats.org/officeDocument/2006/relationships/slide" Target="/ppt/slides/slide9.xml" Id="R89cced4abf5a49cf" /><Relationship Type="http://schemas.openxmlformats.org/officeDocument/2006/relationships/slide" Target="/ppt/slides/slide10.xml" Id="Ra61a6cce204f4cbc" /><Relationship Type="http://schemas.openxmlformats.org/officeDocument/2006/relationships/slide" Target="/ppt/slides/slide11.xml" Id="R5dc73871a2cf4a7c" /><Relationship Type="http://schemas.openxmlformats.org/officeDocument/2006/relationships/slide" Target="/ppt/slides/slide12.xml" Id="Ree27e8e18fab4a46" /><Relationship Type="http://schemas.openxmlformats.org/officeDocument/2006/relationships/slide" Target="/ppt/slides/slide13.xml" Id="Rbadb2d3cb28344f0" /><Relationship Type="http://schemas.openxmlformats.org/officeDocument/2006/relationships/slide" Target="/ppt/slides/slide14.xml" Id="R272b1c77e9ed4e79" /><Relationship Type="http://schemas.openxmlformats.org/officeDocument/2006/relationships/slide" Target="/ppt/slides/slide15.xml" Id="R92cc9a31176048f1" /><Relationship Type="http://schemas.openxmlformats.org/officeDocument/2006/relationships/slide" Target="/ppt/slides/slide16.xml" Id="R23468fc4d3774c3b" /><Relationship Type="http://schemas.openxmlformats.org/officeDocument/2006/relationships/slide" Target="/ppt/slides/slide17.xml" Id="R5460a9a3487f4062" /><Relationship Type="http://schemas.openxmlformats.org/officeDocument/2006/relationships/slide" Target="/ppt/slides/slide18.xml" Id="R8cfbc9e74aad41a6" /><Relationship Type="http://schemas.openxmlformats.org/officeDocument/2006/relationships/slide" Target="/ppt/slides/slide19.xml" Id="R570c69c4cba54092" /><Relationship Type="http://schemas.openxmlformats.org/officeDocument/2006/relationships/slide" Target="/ppt/slides/slide20.xml" Id="R5988ef1aec7a4b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3ca32dbf124a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ddc3a2df73406e" /><Relationship Type="http://schemas.openxmlformats.org/officeDocument/2006/relationships/notesMaster" Target="/ppt/notesMasters/notesMaster1.xml" Id="Rc6b8e82e74814e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52aef0a84f472a" /><Relationship Type="http://schemas.openxmlformats.org/officeDocument/2006/relationships/notesMaster" Target="/ppt/notesMasters/notesMaster1.xml" Id="R734e74be574b49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751b4cc03d4d47" /><Relationship Type="http://schemas.openxmlformats.org/officeDocument/2006/relationships/notesMaster" Target="/ppt/notesMasters/notesMaster1.xml" Id="Rdd764b3646204d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70fc3d93944d8f" /><Relationship Type="http://schemas.openxmlformats.org/officeDocument/2006/relationships/notesMaster" Target="/ppt/notesMasters/notesMaster1.xml" Id="R5b9cf840b49e48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7bca8cf74a4851" /><Relationship Type="http://schemas.openxmlformats.org/officeDocument/2006/relationships/notesMaster" Target="/ppt/notesMasters/notesMaster1.xml" Id="Rb3c50d691d7b4c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74c9ead4414ab4" /><Relationship Type="http://schemas.openxmlformats.org/officeDocument/2006/relationships/notesMaster" Target="/ppt/notesMasters/notesMaster1.xml" Id="R6eab331c147347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ff8876088f4ecd" /><Relationship Type="http://schemas.openxmlformats.org/officeDocument/2006/relationships/notesMaster" Target="/ppt/notesMasters/notesMaster1.xml" Id="R791a698dec3647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2a1c0c643642eb" /><Relationship Type="http://schemas.openxmlformats.org/officeDocument/2006/relationships/notesMaster" Target="/ppt/notesMasters/notesMaster1.xml" Id="R9e14da92039448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468003423348f0" /><Relationship Type="http://schemas.openxmlformats.org/officeDocument/2006/relationships/notesMaster" Target="/ppt/notesMasters/notesMaster1.xml" Id="R04941e8ea99f4b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19308473604a32" /><Relationship Type="http://schemas.openxmlformats.org/officeDocument/2006/relationships/notesMaster" Target="/ppt/notesMasters/notesMaster1.xml" Id="R7f9dbe69cb664a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6bc78f171a4ce9" /><Relationship Type="http://schemas.openxmlformats.org/officeDocument/2006/relationships/notesMaster" Target="/ppt/notesMasters/notesMaster1.xml" Id="R6a7a711b892d40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9cc9cf6dd5454d" /><Relationship Type="http://schemas.openxmlformats.org/officeDocument/2006/relationships/notesMaster" Target="/ppt/notesMasters/notesMaster1.xml" Id="R08ef50ae936c45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1b0599e8934dd0" /><Relationship Type="http://schemas.openxmlformats.org/officeDocument/2006/relationships/notesMaster" Target="/ppt/notesMasters/notesMaster1.xml" Id="Rf6d474fdbf0148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bc3bca1c404502" /><Relationship Type="http://schemas.openxmlformats.org/officeDocument/2006/relationships/notesMaster" Target="/ppt/notesMasters/notesMaster1.xml" Id="Rd7f0109e7ed743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213300787c45d7" /><Relationship Type="http://schemas.openxmlformats.org/officeDocument/2006/relationships/notesMaster" Target="/ppt/notesMasters/notesMaster1.xml" Id="R901e76969fb64e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785073f7da4ca1" /><Relationship Type="http://schemas.openxmlformats.org/officeDocument/2006/relationships/notesMaster" Target="/ppt/notesMasters/notesMaster1.xml" Id="R7c266585dbbb49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3726417dd94da5" /><Relationship Type="http://schemas.openxmlformats.org/officeDocument/2006/relationships/notesMaster" Target="/ppt/notesMasters/notesMaster1.xml" Id="R5b8dae035ca746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c879f0bc574b47" /><Relationship Type="http://schemas.openxmlformats.org/officeDocument/2006/relationships/notesMaster" Target="/ppt/notesMasters/notesMaster1.xml" Id="Rea01fcb698a14c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1e7e3ff03049c7" /><Relationship Type="http://schemas.openxmlformats.org/officeDocument/2006/relationships/notesMaster" Target="/ppt/notesMasters/notesMaster1.xml" Id="R5ac8a2c54e3342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27d2a5962c4dd6" /><Relationship Type="http://schemas.openxmlformats.org/officeDocument/2006/relationships/notesMaster" Target="/ppt/notesMasters/notesMaster1.xml" Id="Rab76b396cd6840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a02777be346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85fd5cf8b45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173852c4743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1f3ebd7f949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3a52a35854d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dcbf499f54f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68B646-FDFF-488D-B738-7C504A9104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E128F9-13D2-4C21-AC98-D5ED94B92C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0D2419-B3B2-42ED-92C8-6286F841BE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71CC97-63FC-489A-AD54-9039B93DC3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3DF95F-5728-42C3-A240-27F40D5A6B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FF0890-3660-40DD-B942-A18A33B400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3F4C13-2711-4BDF-BDDE-2EAA1C3F19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3F02C4-4BD6-4484-A179-A9F00F60C0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CF9CE6-B9A9-46D5-8041-BE76A0E74E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CE3499-89F8-4F1C-BE12-CA06DEBFC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9cfffa02bf4815" /><Relationship Type="http://schemas.openxmlformats.org/officeDocument/2006/relationships/slideLayout" Target="/ppt/slideLayouts/slideLayout1.xml" Id="R3043516d5886480d" /><Relationship Type="http://schemas.openxmlformats.org/officeDocument/2006/relationships/slideLayout" Target="/ppt/slideLayouts/slideLayout2.xml" Id="R313fe33d00874cce" /><Relationship Type="http://schemas.openxmlformats.org/officeDocument/2006/relationships/slideLayout" Target="/ppt/slideLayouts/slideLayout3.xml" Id="R4e6adcd4101d4a58" /><Relationship Type="http://schemas.openxmlformats.org/officeDocument/2006/relationships/slideLayout" Target="/ppt/slideLayouts/slideLayout4.xml" Id="R89ea743e09c34ce7" /><Relationship Type="http://schemas.openxmlformats.org/officeDocument/2006/relationships/slideLayout" Target="/ppt/slideLayouts/slideLayout5.xml" Id="Rb0317ff92fcd4506" /><Relationship Type="http://schemas.openxmlformats.org/officeDocument/2006/relationships/slideLayout" Target="/ppt/slideLayouts/slideLayout6.xml" Id="Rebb83b51fe6546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43516d5886480d"/>
    <p:sldLayoutId xmlns:r="http://schemas.openxmlformats.org/officeDocument/2006/relationships" id="2147483650" r:id="R313fe33d00874cce"/>
    <p:sldLayoutId xmlns:r="http://schemas.openxmlformats.org/officeDocument/2006/relationships" id="2147483651" r:id="R4e6adcd4101d4a58"/>
    <p:sldLayoutId xmlns:r="http://schemas.openxmlformats.org/officeDocument/2006/relationships" id="2147483652" r:id="R89ea743e09c34ce7"/>
    <p:sldLayoutId xmlns:r="http://schemas.openxmlformats.org/officeDocument/2006/relationships" id="2147483653" r:id="Rb0317ff92fcd4506"/>
    <p:sldLayoutId xmlns:r="http://schemas.openxmlformats.org/officeDocument/2006/relationships" id="2147483654" r:id="Rebb83b51fe6546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d3f79d483445de" /><Relationship Type="http://schemas.openxmlformats.org/officeDocument/2006/relationships/notesSlide" Target="/ppt/notesSlides/notesSlide1.xml" Id="R4b90245b975a4d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c2721a5e2477a" /><Relationship Type="http://schemas.openxmlformats.org/officeDocument/2006/relationships/notesSlide" Target="/ppt/notesSlides/notesSlide2.xml" Id="R0bce35e3e64846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06ed41b1e4152" /><Relationship Type="http://schemas.openxmlformats.org/officeDocument/2006/relationships/notesSlide" Target="/ppt/notesSlides/notesSlide3.xml" Id="R95b028cdc0bb4c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ef7e9539b494d" /><Relationship Type="http://schemas.openxmlformats.org/officeDocument/2006/relationships/notesSlide" Target="/ppt/notesSlides/notesSlide4.xml" Id="R97066aa25be947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476db422b4f18" /><Relationship Type="http://schemas.openxmlformats.org/officeDocument/2006/relationships/notesSlide" Target="/ppt/notesSlides/notesSlide5.xml" Id="R6391d678370445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e1f9d98b94708" /><Relationship Type="http://schemas.openxmlformats.org/officeDocument/2006/relationships/notesSlide" Target="/ppt/notesSlides/notesSlide6.xml" Id="R8e10e0cacba041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de3ecbe73c448a" /><Relationship Type="http://schemas.openxmlformats.org/officeDocument/2006/relationships/notesSlide" Target="/ppt/notesSlides/notesSlide7.xml" Id="R2081b5179f4940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20117da91a4ecd" /><Relationship Type="http://schemas.openxmlformats.org/officeDocument/2006/relationships/notesSlide" Target="/ppt/notesSlides/notesSlide8.xml" Id="R265abd2fe2224a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6c0adcaab49f5" /><Relationship Type="http://schemas.openxmlformats.org/officeDocument/2006/relationships/image" Target="/ppt/media/image.jpeg" Id="R5def83b78a3f4d4e" /><Relationship Type="http://schemas.openxmlformats.org/officeDocument/2006/relationships/notesSlide" Target="/ppt/notesSlides/notesSlide9.xml" Id="Rb68061bc79bb4b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584f5b3e54343" /><Relationship Type="http://schemas.openxmlformats.org/officeDocument/2006/relationships/notesSlide" Target="/ppt/notesSlides/notesSlide10.xml" Id="R0fdfc7f054c347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7fd76e34d84140" /><Relationship Type="http://schemas.openxmlformats.org/officeDocument/2006/relationships/notesSlide" Target="/ppt/notesSlides/notesSlide11.xml" Id="R514b80664aaa49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2baa3558d349be" /><Relationship Type="http://schemas.openxmlformats.org/officeDocument/2006/relationships/notesSlide" Target="/ppt/notesSlides/notesSlide12.xml" Id="Rc1fe97c43c8743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38e118da94160" /><Relationship Type="http://schemas.openxmlformats.org/officeDocument/2006/relationships/notesSlide" Target="/ppt/notesSlides/notesSlide13.xml" Id="Rbcd21a6736054d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c5f6fec1c64cbe" /><Relationship Type="http://schemas.openxmlformats.org/officeDocument/2006/relationships/chart" Target="/ppt/slides/charts/chart1.xml" Id="R8ed2394fb5e941b3" /><Relationship Type="http://schemas.openxmlformats.org/officeDocument/2006/relationships/notesSlide" Target="/ppt/notesSlides/notesSlide14.xml" Id="Rd3185a465ea04b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6303f7c614d7a" /><Relationship Type="http://schemas.openxmlformats.org/officeDocument/2006/relationships/image" Target="/ppt/media/image2.jpeg" Id="R3b21aadf703643f3" /><Relationship Type="http://schemas.openxmlformats.org/officeDocument/2006/relationships/notesSlide" Target="/ppt/notesSlides/notesSlide15.xml" Id="R472c574462004c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338c06bf846da" /><Relationship Type="http://schemas.openxmlformats.org/officeDocument/2006/relationships/image" Target="/ppt/media/image.png" Id="R03a6d8b3cca54cb9" /><Relationship Type="http://schemas.openxmlformats.org/officeDocument/2006/relationships/image" Target="/ppt/media/image2.png" Id="R04101860cd3345b4" /><Relationship Type="http://schemas.openxmlformats.org/officeDocument/2006/relationships/image" Target="/ppt/media/image3.png" Id="Rba58d277a09645eb" /><Relationship Type="http://schemas.openxmlformats.org/officeDocument/2006/relationships/image" Target="/ppt/media/image4.png" Id="R305837acf8da4ac9" /><Relationship Type="http://schemas.openxmlformats.org/officeDocument/2006/relationships/notesSlide" Target="/ppt/notesSlides/notesSlide16.xml" Id="R241fab43f2bd49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994953eab47b2" /><Relationship Type="http://schemas.openxmlformats.org/officeDocument/2006/relationships/notesSlide" Target="/ppt/notesSlides/notesSlide17.xml" Id="Rd146af13db0a48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986c54ab7f4e82" /><Relationship Type="http://schemas.openxmlformats.org/officeDocument/2006/relationships/notesSlide" Target="/ppt/notesSlides/notesSlide18.xml" Id="R6bb4e4f3c6a34b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94b4f5255140c4" /><Relationship Type="http://schemas.openxmlformats.org/officeDocument/2006/relationships/notesSlide" Target="/ppt/notesSlides/notesSlide19.xml" Id="R70000d44818441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ba208b9464b9d" /><Relationship Type="http://schemas.openxmlformats.org/officeDocument/2006/relationships/notesSlide" Target="/ppt/notesSlides/notesSlide20.xml" Id="Rc110503bd42047e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Held-out F1</c:v>
          </c:tx>
          <c:spPr>
            <a:solidFill xmlns:a="http://schemas.openxmlformats.org/drawingml/2006/main">
              <a:srgbClr val="0D6B5E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Spatial baseline</c:v>
                </c:pt>
                <c:pt idx="1">
                  <c:v>Rainfall LSTM</c:v>
                </c:pt>
                <c:pt idx="2">
                  <c:v>Extra Trees</c:v>
                </c:pt>
                <c:pt idx="3">
                  <c:v>U-Net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0.667</c:v>
                </c:pt>
                <c:pt idx="1">
                  <c:v>0.293</c:v>
                </c:pt>
                <c:pt idx="2">
                  <c:v>0.647</c:v>
                </c:pt>
                <c:pt idx="3">
                  <c:v>0.725</c:v>
                </c:pt>
              </c:numCache>
            </c:numRef>
          </c:val>
        </c:ser>
        <c:dLbls>
          <c:numFmt formatCode="0.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DD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33BC8-ECD6-4B82-9396-4D066CD3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FLOODLENS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36BAA-8CD3-4D99-8A51-C7209CD5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Transparent neighbourhood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flood awareness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F8848-19A0-4085-A509-7A510055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B9CBC8"/>
                </a:solidFill>
              </a:defRPr>
            </a:defPPr>
            <a:lvl1pPr algn="l">
              <a:defRPr sz="1650" b="0">
                <a:solidFill>
                  <a:srgbClr val="B9CBC8"/>
                </a:solidFill>
              </a:defRPr>
            </a:lvl1pPr>
            <a:lvl2pPr algn="l">
              <a:defRPr sz="1650" b="0">
                <a:solidFill>
                  <a:srgbClr val="B9CBC8"/>
                </a:solidFill>
              </a:defRPr>
            </a:lvl2pPr>
            <a:lvl3pPr algn="l">
              <a:defRPr sz="1650" b="0">
                <a:solidFill>
                  <a:srgbClr val="B9CBC8"/>
                </a:solidFill>
              </a:defRPr>
            </a:lvl3pPr>
            <a:lvl4pPr algn="l">
              <a:defRPr sz="1650" b="0">
                <a:solidFill>
                  <a:srgbClr val="B9CBC8"/>
                </a:solidFill>
              </a:defRPr>
            </a:lvl4pPr>
            <a:lvl5pPr algn="l">
              <a:defRPr sz="1650" b="0">
                <a:solidFill>
                  <a:srgbClr val="B9CBC8"/>
                </a:solidFill>
              </a:defRPr>
            </a:lvl5pPr>
            <a:lvl6pPr algn="l">
              <a:defRPr sz="1650" b="0">
                <a:solidFill>
                  <a:srgbClr val="B9CBC8"/>
                </a:solidFill>
              </a:defRPr>
            </a:lvl6pPr>
            <a:lvl7pPr algn="l">
              <a:defRPr sz="1650" b="0">
                <a:solidFill>
                  <a:srgbClr val="B9CBC8"/>
                </a:solidFill>
              </a:defRPr>
            </a:lvl7pPr>
            <a:lvl8pPr algn="l">
              <a:defRPr sz="1650" b="0">
                <a:solidFill>
                  <a:srgbClr val="B9CBC8"/>
                </a:solidFill>
              </a:defRPr>
            </a:lvl8pPr>
            <a:lvl9pPr algn="l">
              <a:defRPr sz="1650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9CBC8"/>
                </a:solidFill>
              </a:defRPr>
            </a:pPr>
            <a:r>
              <a:rPr sz="1650" b="0">
                <a:solidFill>
                  <a:srgbClr val="B9CBC8"/>
                </a:solidFill>
              </a:rPr>
              <a:t>Final project report and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6D99D-0220-4500-9CE9-D54E8626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8E5E2"/>
                </a:solidFill>
              </a:defRPr>
            </a:defPPr>
            <a:lvl1pPr algn="l">
              <a:defRPr sz="1350" b="0">
                <a:solidFill>
                  <a:srgbClr val="D8E5E2"/>
                </a:solidFill>
              </a:defRPr>
            </a:lvl1pPr>
            <a:lvl2pPr algn="l">
              <a:defRPr sz="1350" b="0">
                <a:solidFill>
                  <a:srgbClr val="D8E5E2"/>
                </a:solidFill>
              </a:defRPr>
            </a:lvl2pPr>
            <a:lvl3pPr algn="l">
              <a:defRPr sz="1350" b="0">
                <a:solidFill>
                  <a:srgbClr val="D8E5E2"/>
                </a:solidFill>
              </a:defRPr>
            </a:lvl3pPr>
            <a:lvl4pPr algn="l">
              <a:defRPr sz="1350" b="0">
                <a:solidFill>
                  <a:srgbClr val="D8E5E2"/>
                </a:solidFill>
              </a:defRPr>
            </a:lvl4pPr>
            <a:lvl5pPr algn="l">
              <a:defRPr sz="1350" b="0">
                <a:solidFill>
                  <a:srgbClr val="D8E5E2"/>
                </a:solidFill>
              </a:defRPr>
            </a:lvl5pPr>
            <a:lvl6pPr algn="l">
              <a:defRPr sz="1350" b="0">
                <a:solidFill>
                  <a:srgbClr val="D8E5E2"/>
                </a:solidFill>
              </a:defRPr>
            </a:lvl6pPr>
            <a:lvl7pPr algn="l">
              <a:defRPr sz="1350" b="0">
                <a:solidFill>
                  <a:srgbClr val="D8E5E2"/>
                </a:solidFill>
              </a:defRPr>
            </a:lvl7pPr>
            <a:lvl8pPr algn="l">
              <a:defRPr sz="1350" b="0">
                <a:solidFill>
                  <a:srgbClr val="D8E5E2"/>
                </a:solidFill>
              </a:defRPr>
            </a:lvl8pPr>
            <a:lvl9pPr algn="l">
              <a:defRPr sz="1350" b="0">
                <a:solidFill>
                  <a:srgbClr val="D8E5E2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E5E2"/>
                </a:solidFill>
              </a:defRPr>
            </a:pPr>
            <a:r>
              <a:rPr sz="1350" b="0">
                <a:solidFill>
                  <a:srgbClr val="D8E5E2"/>
                </a:solidFill>
              </a:rPr>
              <a:t>Terrain, forecast rainfall, river-basin context, and historical-event ML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8B26D-27DE-4EE4-B64C-B72A697B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57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FC87E-C1DC-45F9-94FD-5821B3AE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6B6CF"/>
                </a:solidFill>
              </a:defRPr>
            </a:defPPr>
            <a:lvl1pPr algn="ctr">
              <a:defRPr sz="975" b="1">
                <a:solidFill>
                  <a:srgbClr val="26B6CF"/>
                </a:solidFill>
              </a:defRPr>
            </a:lvl1pPr>
            <a:lvl2pPr algn="ctr">
              <a:defRPr sz="975" b="1">
                <a:solidFill>
                  <a:srgbClr val="26B6CF"/>
                </a:solidFill>
              </a:defRPr>
            </a:lvl2pPr>
            <a:lvl3pPr algn="ctr">
              <a:defRPr sz="975" b="1">
                <a:solidFill>
                  <a:srgbClr val="26B6CF"/>
                </a:solidFill>
              </a:defRPr>
            </a:lvl3pPr>
            <a:lvl4pPr algn="ctr">
              <a:defRPr sz="975" b="1">
                <a:solidFill>
                  <a:srgbClr val="26B6CF"/>
                </a:solidFill>
              </a:defRPr>
            </a:lvl4pPr>
            <a:lvl5pPr algn="ctr">
              <a:defRPr sz="975" b="1">
                <a:solidFill>
                  <a:srgbClr val="26B6CF"/>
                </a:solidFill>
              </a:defRPr>
            </a:lvl5pPr>
            <a:lvl6pPr algn="ctr">
              <a:defRPr sz="975" b="1">
                <a:solidFill>
                  <a:srgbClr val="26B6CF"/>
                </a:solidFill>
              </a:defRPr>
            </a:lvl6pPr>
            <a:lvl7pPr algn="ctr">
              <a:defRPr sz="975" b="1">
                <a:solidFill>
                  <a:srgbClr val="26B6CF"/>
                </a:solidFill>
              </a:defRPr>
            </a:lvl7pPr>
            <a:lvl8pPr algn="ctr">
              <a:defRPr sz="975" b="1">
                <a:solidFill>
                  <a:srgbClr val="26B6CF"/>
                </a:solidFill>
              </a:defRPr>
            </a:lvl8pPr>
            <a:lvl9pPr algn="ctr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20-slide final result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6D607-A9C2-4D1D-8C39-A51FFCBF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"/>
            <a:ext cx="4000500" cy="52197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292A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37382-8BCD-4802-B391-E9730ED5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6B6CF"/>
                </a:solidFill>
              </a:defRPr>
            </a:defPPr>
            <a:lvl1pPr algn="l">
              <a:defRPr sz="975" b="1">
                <a:solidFill>
                  <a:srgbClr val="26B6CF"/>
                </a:solidFill>
              </a:defRPr>
            </a:lvl1pPr>
            <a:lvl2pPr algn="l">
              <a:defRPr sz="975" b="1">
                <a:solidFill>
                  <a:srgbClr val="26B6CF"/>
                </a:solidFill>
              </a:defRPr>
            </a:lvl2pPr>
            <a:lvl3pPr algn="l">
              <a:defRPr sz="975" b="1">
                <a:solidFill>
                  <a:srgbClr val="26B6CF"/>
                </a:solidFill>
              </a:defRPr>
            </a:lvl3pPr>
            <a:lvl4pPr algn="l">
              <a:defRPr sz="975" b="1">
                <a:solidFill>
                  <a:srgbClr val="26B6CF"/>
                </a:solidFill>
              </a:defRPr>
            </a:lvl4pPr>
            <a:lvl5pPr algn="l">
              <a:defRPr sz="975" b="1">
                <a:solidFill>
                  <a:srgbClr val="26B6CF"/>
                </a:solidFill>
              </a:defRPr>
            </a:lvl5pPr>
            <a:lvl6pPr algn="l">
              <a:defRPr sz="975" b="1">
                <a:solidFill>
                  <a:srgbClr val="26B6CF"/>
                </a:solidFill>
              </a:defRPr>
            </a:lvl6pPr>
            <a:lvl7pPr algn="l">
              <a:defRPr sz="975" b="1">
                <a:solidFill>
                  <a:srgbClr val="26B6CF"/>
                </a:solidFill>
              </a:defRPr>
            </a:lvl7pPr>
            <a:lvl8pPr algn="l">
              <a:defRPr sz="975" b="1">
                <a:solidFill>
                  <a:srgbClr val="26B6CF"/>
                </a:solidFill>
              </a:defRPr>
            </a:lvl8pPr>
            <a:lvl9pPr algn="l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LIVE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4FD87-A343-4882-AF21-CF6EC4AA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621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1 / 2 / 5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33C9E-A63A-4CB0-BAED-1E3D616F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02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resident-selected assessment circle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7353A-20E4-4B8B-82F9-AE8BD8E5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28,907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91E1A-6FC8-4E3C-BEFC-4A462E5D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99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HydroBASINS polygons imported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A1961-E444-45B6-AB95-CCEFE0B4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81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1,428,959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616A0-FF96-4F0A-A70B-36FF55FE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19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HydroRIVERS features imported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4C840-22FD-4897-95EA-D1956128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91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B9CBC8"/>
                </a:solidFill>
              </a:defRPr>
            </a:defPPr>
            <a:lvl1pPr algn="l">
              <a:defRPr sz="1050" b="0">
                <a:solidFill>
                  <a:srgbClr val="B9CBC8"/>
                </a:solidFill>
              </a:defRPr>
            </a:lvl1pPr>
            <a:lvl2pPr algn="l">
              <a:defRPr sz="1050" b="0">
                <a:solidFill>
                  <a:srgbClr val="B9CBC8"/>
                </a:solidFill>
              </a:defRPr>
            </a:lvl2pPr>
            <a:lvl3pPr algn="l">
              <a:defRPr sz="1050" b="0">
                <a:solidFill>
                  <a:srgbClr val="B9CBC8"/>
                </a:solidFill>
              </a:defRPr>
            </a:lvl3pPr>
            <a:lvl4pPr algn="l">
              <a:defRPr sz="1050" b="0">
                <a:solidFill>
                  <a:srgbClr val="B9CBC8"/>
                </a:solidFill>
              </a:defRPr>
            </a:lvl4pPr>
            <a:lvl5pPr algn="l">
              <a:defRPr sz="1050" b="0">
                <a:solidFill>
                  <a:srgbClr val="B9CBC8"/>
                </a:solidFill>
              </a:defRPr>
            </a:lvl5pPr>
            <a:lvl6pPr algn="l">
              <a:defRPr sz="1050" b="0">
                <a:solidFill>
                  <a:srgbClr val="B9CBC8"/>
                </a:solidFill>
              </a:defRPr>
            </a:lvl6pPr>
            <a:lvl7pPr algn="l">
              <a:defRPr sz="1050" b="0">
                <a:solidFill>
                  <a:srgbClr val="B9CBC8"/>
                </a:solidFill>
              </a:defRPr>
            </a:lvl7pPr>
            <a:lvl8pPr algn="l">
              <a:defRPr sz="1050" b="0">
                <a:solidFill>
                  <a:srgbClr val="B9CBC8"/>
                </a:solidFill>
              </a:defRPr>
            </a:lvl8pPr>
            <a:lvl9pPr algn="l">
              <a:defRPr sz="1050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9CBC8"/>
                </a:solidFill>
              </a:defRPr>
            </a:pPr>
            <a:r>
              <a:rPr sz="1050" b="0">
                <a:solidFill>
                  <a:srgbClr val="B9CBC8"/>
                </a:solidFill>
              </a:rPr>
              <a:t>Local Docker demonstration • 19 October 2026</a:t>
            </a:r>
          </a:p>
        </p:txBody>
      </p:sp>
    </p:spTree>
    <p:extLst>
      <p:ext uri="{BB962C8B-B14F-4D97-AF65-F5344CB8AC3E}">
        <p14:creationId xmlns:p14="http://schemas.microsoft.com/office/powerpoint/2010/main" val="1428636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1FF0E-3140-43D4-B3FF-B0590CB1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716E2-81DF-431E-97FD-4FF88D7F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Project in one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BB3F0-6153-466E-A08C-93B97277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usable resident interface backed by real spatial data, with research ML kept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919EC-AFCA-4CA6-8E64-1678A98E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4CAF8-3D3E-4A65-BE49-9978B680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CA692-8A60-44AA-9671-E820D3F0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D114D-CDE8-4A1E-9AB9-4D709D1D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Resident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4CD86-F363-4649-8E16-308E38FF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Select a neighbourhood and a 1, 2, or 5 km circle. Read terrain, forecast rainfall, and river-basin context in plain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7267D-B591-4B43-AC66-D6F8080F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56ABC-5AB7-44BA-A0FC-EDC2BFD8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085F3-9FD6-4998-A26A-BA5E132A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Operational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856AC-CE65-44FF-90CE-8BFFE8B7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React and Leaflet call FastAPI. A PostGIS-backed worker samples FABDEM, reads HydroSHEDS, and fetches Open-Meteo rainfall.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B823B-8445-4BF3-A08E-D9C11D78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DABF3-69AB-4FA7-8642-D7C09F16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20F7C-D3FA-4E7A-BDE7-C4D44ACB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Research laboratory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550AD-4196-4E15-ABE7-EE50C0F4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Compare real labels with Extra Trees and U-Net masks on held-out events. Classification models add event-level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92A22-ECC7-456E-8CE9-3B0F2B1D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D6B5E"/>
                </a:solidFill>
              </a:defRPr>
            </a:defPPr>
            <a:lvl1pPr algn="l">
              <a:defRPr sz="2100" b="1">
                <a:solidFill>
                  <a:srgbClr val="0D6B5E"/>
                </a:solidFill>
              </a:defRPr>
            </a:lvl1pPr>
            <a:lvl2pPr algn="l">
              <a:defRPr sz="2100" b="1">
                <a:solidFill>
                  <a:srgbClr val="0D6B5E"/>
                </a:solidFill>
              </a:defRPr>
            </a:lvl2pPr>
            <a:lvl3pPr algn="l">
              <a:defRPr sz="2100" b="1">
                <a:solidFill>
                  <a:srgbClr val="0D6B5E"/>
                </a:solidFill>
              </a:defRPr>
            </a:lvl3pPr>
            <a:lvl4pPr algn="l">
              <a:defRPr sz="2100" b="1">
                <a:solidFill>
                  <a:srgbClr val="0D6B5E"/>
                </a:solidFill>
              </a:defRPr>
            </a:lvl4pPr>
            <a:lvl5pPr algn="l">
              <a:defRPr sz="2100" b="1">
                <a:solidFill>
                  <a:srgbClr val="0D6B5E"/>
                </a:solidFill>
              </a:defRPr>
            </a:lvl5pPr>
            <a:lvl6pPr algn="l">
              <a:defRPr sz="2100" b="1">
                <a:solidFill>
                  <a:srgbClr val="0D6B5E"/>
                </a:solidFill>
              </a:defRPr>
            </a:lvl6pPr>
            <a:lvl7pPr algn="l">
              <a:defRPr sz="2100" b="1">
                <a:solidFill>
                  <a:srgbClr val="0D6B5E"/>
                </a:solidFill>
              </a:defRPr>
            </a:lvl7pPr>
            <a:lvl8pPr algn="l">
              <a:defRPr sz="2100" b="1">
                <a:solidFill>
                  <a:srgbClr val="0D6B5E"/>
                </a:solidFill>
              </a:defRPr>
            </a:lvl8pPr>
            <a:lvl9pPr algn="l">
              <a:defRPr sz="21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D6B5E"/>
                </a:solidFill>
              </a:defRPr>
            </a:pPr>
            <a:r>
              <a:rPr sz="2100" b="1">
                <a:solidFill>
                  <a:srgbClr val="0D6B5E"/>
                </a:solidFill>
              </a:rPr>
              <a:t>A complete local demonstrator with transparent coverage states, reproducible deployment, visible model failures, and measured held-out performance.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4A545-1029-4D3F-89CE-72370C15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6F51"/>
                </a:solidFill>
              </a:defRPr>
            </a:defPPr>
            <a:lvl1pPr algn="l">
              <a:defRPr sz="1200" b="1">
                <a:solidFill>
                  <a:srgbClr val="E86F51"/>
                </a:solidFill>
              </a:defRPr>
            </a:lvl1pPr>
            <a:lvl2pPr algn="l">
              <a:defRPr sz="1200" b="1">
                <a:solidFill>
                  <a:srgbClr val="E86F51"/>
                </a:solidFill>
              </a:defRPr>
            </a:lvl2pPr>
            <a:lvl3pPr algn="l">
              <a:defRPr sz="1200" b="1">
                <a:solidFill>
                  <a:srgbClr val="E86F51"/>
                </a:solidFill>
              </a:defRPr>
            </a:lvl3pPr>
            <a:lvl4pPr algn="l">
              <a:defRPr sz="1200" b="1">
                <a:solidFill>
                  <a:srgbClr val="E86F51"/>
                </a:solidFill>
              </a:defRPr>
            </a:lvl4pPr>
            <a:lvl5pPr algn="l">
              <a:defRPr sz="1200" b="1">
                <a:solidFill>
                  <a:srgbClr val="E86F51"/>
                </a:solidFill>
              </a:defRPr>
            </a:lvl5pPr>
            <a:lvl6pPr algn="l">
              <a:defRPr sz="1200" b="1">
                <a:solidFill>
                  <a:srgbClr val="E86F51"/>
                </a:solidFill>
              </a:defRPr>
            </a:lvl6pPr>
            <a:lvl7pPr algn="l">
              <a:defRPr sz="1200" b="1">
                <a:solidFill>
                  <a:srgbClr val="E86F51"/>
                </a:solidFill>
              </a:defRPr>
            </a:lvl7pPr>
            <a:lvl8pPr algn="l">
              <a:defRPr sz="1200" b="1">
                <a:solidFill>
                  <a:srgbClr val="E86F51"/>
                </a:solidFill>
              </a:defRPr>
            </a:lvl8pPr>
            <a:lvl9pPr algn="l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Neighbourhood awareness only: no official warning, evacuation advice, depth estimate, or property flood probability.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ADCE6-7DB9-4CFE-B726-82703445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F5A7F-58A4-453F-A3CF-78B29391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42738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B1A09-AE88-4882-A755-81D35AF6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C93D9-15C6-4643-92E5-255A9F8B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Why local flood information is easy to misread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80ABD-D3BC-42A2-93A6-E05652ED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394B0-7D44-4CB6-A702-5A6857E5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D3641-FE01-48DA-BED3-D4EE3DC7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BA1BB-F7B7-4B9D-B3BB-74B75239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Terrain maps can mislead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C3398-3BB3-403C-AE40-4F72D099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Raw surface elevation may treat buildings and trees as barriers. FloodLens uses bare-earth terrain and still reports its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8DDF4-65F7-44ED-9FAC-D5AAC9BD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98434-8D5F-4858-B642-87C67166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D89F3-C2B0-4A5F-9D42-1C00EDD3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River proximity is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5D873-8E0A-4CCD-90B2-F9EC0D9F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 mapped river near a point does not prove hydraulic connectivity to a street or property.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94B43-8260-46DF-AFF8-9E15A18E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E2B18-BFBE-4090-A263-B9BD0211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69ACC-EEE7-4ED0-B392-22EED793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A score can look official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08188-D634-4C66-8BD8-AAA90FA2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 simple number may be mistaken for a warning or probability. FloodLens labels its terrain score as a relative index.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9B5EB-8C5C-4230-A7DD-A02B38D2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A5214-052D-4F52-853E-CD897AD2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Design objective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9D6E6-978A-4472-9D6C-FD4A29B1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Help residents understand the water around them while showing what the data cannot establish.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1C5B4-4171-4666-B633-38C8782E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C0C9E-CD18-4CBE-8AC0-D4756FF1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31620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6ED49-B9C5-4E4E-ADA8-FB5C2E70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A1FA7-05B5-4292-9D80-B0B6A0BF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Aim, users, and scientific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2A8B4-3450-4DA5-BD2E-7F258779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54F7D-34D9-4008-A83B-24720AF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D6B5E"/>
                </a:solidFill>
              </a:defRPr>
            </a:defPPr>
            <a:lvl1pPr algn="l">
              <a:defRPr sz="1650" b="1">
                <a:solidFill>
                  <a:srgbClr val="0D6B5E"/>
                </a:solidFill>
              </a:defRPr>
            </a:lvl1pPr>
            <a:lvl2pPr algn="l">
              <a:defRPr sz="1650" b="1">
                <a:solidFill>
                  <a:srgbClr val="0D6B5E"/>
                </a:solidFill>
              </a:defRPr>
            </a:lvl2pPr>
            <a:lvl3pPr algn="l">
              <a:defRPr sz="1650" b="1">
                <a:solidFill>
                  <a:srgbClr val="0D6B5E"/>
                </a:solidFill>
              </a:defRPr>
            </a:lvl3pPr>
            <a:lvl4pPr algn="l">
              <a:defRPr sz="1650" b="1">
                <a:solidFill>
                  <a:srgbClr val="0D6B5E"/>
                </a:solidFill>
              </a:defRPr>
            </a:lvl4pPr>
            <a:lvl5pPr algn="l">
              <a:defRPr sz="1650" b="1">
                <a:solidFill>
                  <a:srgbClr val="0D6B5E"/>
                </a:solidFill>
              </a:defRPr>
            </a:lvl5pPr>
            <a:lvl6pPr algn="l">
              <a:defRPr sz="1650" b="1">
                <a:solidFill>
                  <a:srgbClr val="0D6B5E"/>
                </a:solidFill>
              </a:defRPr>
            </a:lvl6pPr>
            <a:lvl7pPr algn="l">
              <a:defRPr sz="1650" b="1">
                <a:solidFill>
                  <a:srgbClr val="0D6B5E"/>
                </a:solidFill>
              </a:defRPr>
            </a:lvl7pPr>
            <a:lvl8pPr algn="l">
              <a:defRPr sz="1650" b="1">
                <a:solidFill>
                  <a:srgbClr val="0D6B5E"/>
                </a:solidFill>
              </a:defRPr>
            </a:lvl8pPr>
            <a:lvl9pPr algn="l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What FloodLens provides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5F9A4-8DE2-418A-A744-09FFE889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8B24C-FF8A-4BE5-B965-A4610502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Relative terrain susceptibility inside a selected local circle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BB225-4208-483B-9BAE-A1C6B865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392E3-82D5-4E62-9337-2DB0A4A5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48-hour forecast rainfall context from Open-Meteo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7DCB6-E1F6-4B5C-967E-BE16FB02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12345-8243-43B8-A29A-1C26D2AA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Containing basin, upstream basin, and nearby mapped-river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F0D6D-F1DA-4F91-B40B-4067B8B2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A366F-40F3-4B10-AC3D-3EB58E70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Explicit unavailable and outside-coverage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BD900-EBBD-48CC-8282-9A3A8EDD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6F51"/>
                </a:solidFill>
              </a:defRPr>
            </a:defPPr>
            <a:lvl1pPr algn="l">
              <a:defRPr sz="1650" b="1">
                <a:solidFill>
                  <a:srgbClr val="E86F51"/>
                </a:solidFill>
              </a:defRPr>
            </a:lvl1pPr>
            <a:lvl2pPr algn="l">
              <a:defRPr sz="1650" b="1">
                <a:solidFill>
                  <a:srgbClr val="E86F51"/>
                </a:solidFill>
              </a:defRPr>
            </a:lvl2pPr>
            <a:lvl3pPr algn="l">
              <a:defRPr sz="1650" b="1">
                <a:solidFill>
                  <a:srgbClr val="E86F51"/>
                </a:solidFill>
              </a:defRPr>
            </a:lvl3pPr>
            <a:lvl4pPr algn="l">
              <a:defRPr sz="1650" b="1">
                <a:solidFill>
                  <a:srgbClr val="E86F51"/>
                </a:solidFill>
              </a:defRPr>
            </a:lvl4pPr>
            <a:lvl5pPr algn="l">
              <a:defRPr sz="1650" b="1">
                <a:solidFill>
                  <a:srgbClr val="E86F51"/>
                </a:solidFill>
              </a:defRPr>
            </a:lvl5pPr>
            <a:lvl6pPr algn="l">
              <a:defRPr sz="1650" b="1">
                <a:solidFill>
                  <a:srgbClr val="E86F51"/>
                </a:solidFill>
              </a:defRPr>
            </a:lvl6pPr>
            <a:lvl7pPr algn="l">
              <a:defRPr sz="1650" b="1">
                <a:solidFill>
                  <a:srgbClr val="E86F51"/>
                </a:solidFill>
              </a:defRPr>
            </a:lvl7pPr>
            <a:lvl8pPr algn="l">
              <a:defRPr sz="1650" b="1">
                <a:solidFill>
                  <a:srgbClr val="E86F51"/>
                </a:solidFill>
              </a:defRPr>
            </a:lvl8pPr>
            <a:lvl9pPr algn="l">
              <a:defRPr sz="16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6F51"/>
                </a:solidFill>
              </a:defRPr>
            </a:pPr>
            <a:r>
              <a:rPr sz="1650" b="1">
                <a:solidFill>
                  <a:srgbClr val="E86F51"/>
                </a:solidFill>
              </a:rPr>
              <a:t>What the project does not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DA80A-8A3A-4834-AE8D-675D2C9C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AD67C-9D3B-49CF-A661-E027C099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An official alert or evacuation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3F2C9-7ED7-4838-B75F-BFA4A889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92766-9C7A-419A-9569-E707AE76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384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A flood depth or property-level probability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8165A-7B20-4DE3-93FC-B95D1A09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DDDDB-BE11-4CEE-8E37-6BDB90BE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242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Proof that a nearby river will affect a selected property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0707A-675A-4547-8D4D-1E934CF8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D0D69-ADBD-4234-A083-3E234C0D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100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Global coverage beyond imported regions and mounted terrain tiles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FA3D5-FA27-44F1-BD7D-595E1D40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966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9525">
            <a:solidFill>
              <a:srgbClr val="E9E0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ECB73-D2B3-4F72-B36A-1BE56A8E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2A"/>
                </a:solidFill>
              </a:defRPr>
            </a:defPPr>
            <a:lvl1pPr algn="ctr">
              <a:defRPr sz="1350" b="1">
                <a:solidFill>
                  <a:srgbClr val="102A2A"/>
                </a:solidFill>
              </a:defRPr>
            </a:lvl1pPr>
            <a:lvl2pPr algn="ctr">
              <a:defRPr sz="1350" b="1">
                <a:solidFill>
                  <a:srgbClr val="102A2A"/>
                </a:solidFill>
              </a:defRPr>
            </a:lvl2pPr>
            <a:lvl3pPr algn="ctr">
              <a:defRPr sz="1350" b="1">
                <a:solidFill>
                  <a:srgbClr val="102A2A"/>
                </a:solidFill>
              </a:defRPr>
            </a:lvl3pPr>
            <a:lvl4pPr algn="ctr">
              <a:defRPr sz="1350" b="1">
                <a:solidFill>
                  <a:srgbClr val="102A2A"/>
                </a:solidFill>
              </a:defRPr>
            </a:lvl4pPr>
            <a:lvl5pPr algn="ctr">
              <a:defRPr sz="1350" b="1">
                <a:solidFill>
                  <a:srgbClr val="102A2A"/>
                </a:solidFill>
              </a:defRPr>
            </a:lvl5pPr>
            <a:lvl6pPr algn="ctr">
              <a:defRPr sz="1350" b="1">
                <a:solidFill>
                  <a:srgbClr val="102A2A"/>
                </a:solidFill>
              </a:defRPr>
            </a:lvl6pPr>
            <a:lvl7pPr algn="ctr">
              <a:defRPr sz="1350" b="1">
                <a:solidFill>
                  <a:srgbClr val="102A2A"/>
                </a:solidFill>
              </a:defRPr>
            </a:lvl7pPr>
            <a:lvl8pPr algn="ctr">
              <a:defRPr sz="1350" b="1">
                <a:solidFill>
                  <a:srgbClr val="102A2A"/>
                </a:solidFill>
              </a:defRPr>
            </a:lvl8pPr>
            <a:lvl9pPr algn="ctr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The assessment circle is a user-selected area. It is different from a watershed.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643F4-F38D-468D-995B-71E208FB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B1AA5A-F8B5-427F-81C5-1AE4F017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49397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F40DB4-3D9E-4BD7-911B-48D8916C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AA0F6-BD70-4E7C-A2D6-9E761B80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Data sources and their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3FAC9-D10C-4D92-AE21-B2D0B049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C82DD-6666-4019-834E-82FDF97F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2F786-B7EB-4103-8EDE-3FE759A2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16640-FE73-4400-ABD2-6884D248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85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1A153-68A6-48C0-A37A-663A9156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859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IMPORTANT 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94EEF-9C67-47F2-8C72-DBD88A6E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59A7F-73FF-4E51-9AA9-EA9DF46A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FABDEM v1.2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48BDF-C574-40B3-9530-9DEC53E9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66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30 m bare-earth elevation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E55C4-885F-47B3-96DB-0B75EC90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66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Misses drains, walls, culverts, and sewers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D9CD4-048A-4729-A031-93D35358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HydroBASINS L8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57DB1-B5B8-4283-8300-D23AFD53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38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Containing and upstream basin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722CA-CACD-4AA7-9055-968F7EEA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38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Basin membership does not prove property connectivity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8DC38-1AB2-4FB1-A527-1EA89B9F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1C576-4BFB-46F1-B573-4596A818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HydroRIVERS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C63CA-0C40-4457-AE7D-20F1D840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Nearby mapped river and distance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C065E-6C80-4BB7-8ECE-5C1BB15A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9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Generalised geometry; proximity is contextual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4E8D6-AC13-4351-8389-1FFF5084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Open-Meteo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AF0D7-8759-4FFB-A130-CB8DB504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48-hour hourly rainfall forecast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93441-10EA-4491-8F07-B42FEB9E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Forecast provider, not an official warning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DBF90-57FF-410F-9B55-09D986B6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7A430-7836-4FD6-96D2-910E19B7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OpenStreetMap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34BEF-53CF-444E-B6B9-2AF7451F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52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Location selection and basemap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DEDE9-9BED-4103-AE12-5534060D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52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Basemap only; no flood labels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DC79ED-0DD4-421D-9ED0-CA20823E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Sen1Floods11 + CHIRPS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C23182-C48B-41D0-BBEC-4FA7FDB0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24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Historical labels, SAR, and rainfall research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C36E12-91B0-44A6-8035-0A4E786C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24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Research only; labels may include permanent water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0D2F6D-6874-479E-B8DD-01837FDF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E86F51"/>
                </a:solidFill>
              </a:defRPr>
            </a:defPPr>
            <a:lvl1pPr algn="ctr">
              <a:defRPr sz="1200" b="1">
                <a:solidFill>
                  <a:srgbClr val="E86F51"/>
                </a:solidFill>
              </a:defRPr>
            </a:lvl1pPr>
            <a:lvl2pPr algn="ctr">
              <a:defRPr sz="1200" b="1">
                <a:solidFill>
                  <a:srgbClr val="E86F51"/>
                </a:solidFill>
              </a:defRPr>
            </a:lvl2pPr>
            <a:lvl3pPr algn="ctr">
              <a:defRPr sz="1200" b="1">
                <a:solidFill>
                  <a:srgbClr val="E86F51"/>
                </a:solidFill>
              </a:defRPr>
            </a:lvl3pPr>
            <a:lvl4pPr algn="ctr">
              <a:defRPr sz="1200" b="1">
                <a:solidFill>
                  <a:srgbClr val="E86F51"/>
                </a:solidFill>
              </a:defRPr>
            </a:lvl4pPr>
            <a:lvl5pPr algn="ctr">
              <a:defRPr sz="1200" b="1">
                <a:solidFill>
                  <a:srgbClr val="E86F51"/>
                </a:solidFill>
              </a:defRPr>
            </a:lvl5pPr>
            <a:lvl6pPr algn="ctr">
              <a:defRPr sz="1200" b="1">
                <a:solidFill>
                  <a:srgbClr val="E86F51"/>
                </a:solidFill>
              </a:defRPr>
            </a:lvl6pPr>
            <a:lvl7pPr algn="ctr">
              <a:defRPr sz="1200" b="1">
                <a:solidFill>
                  <a:srgbClr val="E86F51"/>
                </a:solidFill>
              </a:defRPr>
            </a:lvl7pPr>
            <a:lvl8pPr algn="ctr">
              <a:defRPr sz="1200" b="1">
                <a:solidFill>
                  <a:srgbClr val="E86F51"/>
                </a:solidFill>
              </a:defRPr>
            </a:lvl8pPr>
            <a:lvl9pPr algn="ctr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Current local demo coverage: Asia HydroSHEDS imports and Chennai-area FABDEM tiles.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1F5D16-52F9-4F51-AECE-ED1D4B64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EF9F01-6FC3-454F-B133-B8426C11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40467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62B21F-A349-4970-99A5-0E74BCA6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E69E0-4174-4F98-A2F1-92BB2DBB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86836-674F-4B92-B3FE-3745FE2A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resident app and historical-event lab share one local web service while keeping calculations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FD1AD-77D6-4379-AF34-E8D31BAD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BD081-C07C-43AF-8633-F89FC36F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0210C-1EEC-44F8-9D88-E93AC708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CEA94-3962-4AE2-896E-8DBA6983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React + Leaflet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Resident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DD72A-7AF4-422B-9C39-EAEBA9D3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31DBD-D81D-4791-8EB7-D4A2988D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C5057-6596-409D-92AC-F3B001B0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C294B-9663-4831-B400-49280BE1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Validation, UUID jobs, polling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B4448-F141-4B10-8BE5-B6000E56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5201D-E543-477B-AEFC-20512736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2BCFF-C00D-4096-84FC-EFBDD24F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PostGIS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90763-257C-4AB4-AC78-E26E1F07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Jobs, results, basin and river geometry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F6AEC-C629-499A-8C41-AE4E1718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25550-ED9E-49C1-B3FB-CCE086B6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BFCCB-F330-4F7B-B259-A2004FFC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22BD4-D7AB-4D05-BD3C-1F43DFA8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Claims jobs and calculates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33DCF-60EA-4AD7-A9B4-A7276916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9FD91-03A3-47D5-81BA-9177D99C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434C1-40D3-496D-B722-9764F2F7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Data providers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135A4-0B9A-46D7-BAA0-CE03C638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FABDEM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Open-Meteo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HydroSHEDS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3373F-729F-4EA4-84E2-54013F7A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63817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91917C-CC86-4009-80C7-8CA4A246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005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Docker exposes the app on localhost. PostgreSQL stays private. The worker claims jobs transactionally.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100944-BB8B-459D-9BF9-5FC163FC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86F51"/>
                </a:solidFill>
              </a:defRPr>
            </a:defPPr>
            <a:lvl1pPr algn="ctr">
              <a:defRPr sz="1350" b="1">
                <a:solidFill>
                  <a:srgbClr val="E86F51"/>
                </a:solidFill>
              </a:defRPr>
            </a:lvl1pPr>
            <a:lvl2pPr algn="ctr">
              <a:defRPr sz="1350" b="1">
                <a:solidFill>
                  <a:srgbClr val="E86F51"/>
                </a:solidFill>
              </a:defRPr>
            </a:lvl2pPr>
            <a:lvl3pPr algn="ctr">
              <a:defRPr sz="1350" b="1">
                <a:solidFill>
                  <a:srgbClr val="E86F51"/>
                </a:solidFill>
              </a:defRPr>
            </a:lvl3pPr>
            <a:lvl4pPr algn="ctr">
              <a:defRPr sz="1350" b="1">
                <a:solidFill>
                  <a:srgbClr val="E86F51"/>
                </a:solidFill>
              </a:defRPr>
            </a:lvl4pPr>
            <a:lvl5pPr algn="ctr">
              <a:defRPr sz="1350" b="1">
                <a:solidFill>
                  <a:srgbClr val="E86F51"/>
                </a:solidFill>
              </a:defRPr>
            </a:lvl5pPr>
            <a:lvl6pPr algn="ctr">
              <a:defRPr sz="1350" b="1">
                <a:solidFill>
                  <a:srgbClr val="E86F51"/>
                </a:solidFill>
              </a:defRPr>
            </a:lvl6pPr>
            <a:lvl7pPr algn="ctr">
              <a:defRPr sz="1350" b="1">
                <a:solidFill>
                  <a:srgbClr val="E86F51"/>
                </a:solidFill>
              </a:defRPr>
            </a:lvl7pPr>
            <a:lvl8pPr algn="ctr">
              <a:defRPr sz="1350" b="1">
                <a:solidFill>
                  <a:srgbClr val="E86F51"/>
                </a:solidFill>
              </a:defRPr>
            </a:lvl8pPr>
            <a:lvl9pPr algn="ctr">
              <a:defRPr sz="13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86F51"/>
                </a:solidFill>
              </a:defRPr>
            </a:pPr>
            <a:r>
              <a:rPr sz="1350" b="1">
                <a:solidFill>
                  <a:srgbClr val="E86F51"/>
                </a:solidFill>
              </a:rPr>
              <a:t>Offline research never writes a flood probability into the resident assessment.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7ADDAF-FFD8-498F-9FF4-CE6290B6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ADA36E-EB42-466F-AB09-27FFC130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897798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DE37FF-B07D-45DC-864A-8065ACE3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642B5-11CB-41D8-84A8-F8D613D5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From map click to neighbourhood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E7D8A-18E7-4345-80A0-5D653E7D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DD1B2-9DE7-4AD6-98AF-E8E7C44E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9250C-C7DE-4B88-B031-C24910A3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CF4F8-6898-4C00-820F-FF298DBD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E7E34-8B4F-4610-AE39-64C415E7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Select 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096B1-19A0-4D9C-B573-28BECFE3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Click the map, choose a city, or enter coordinates.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7214B-52D2-4100-ABB6-78ADB551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EBC1A-A7EC-4642-8413-F82A129E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37975-694B-4BEE-AC7B-4DD52DF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1CB46-4147-4E98-8889-81ED7591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Choose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0999B-64C4-4B8F-A735-C4C02B52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Select a 1 km, 2 km, or 5 km circle.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3BC06-4D23-42B6-AE81-0CE93631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CC573-B145-44DF-AE5D-D1181839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DD39D-E3CF-47BE-9B77-60D14B49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5440D-05E1-42A5-A798-38ECCCA1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Create job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BFCEB-AA83-462E-A719-BE6AFA48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FastAPI validates input and stores a UUID job.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61119-0A8C-4543-BBD5-E2DF0AB3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182A7-3E99-4F59-AE9B-A786AA8A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401D4-4D67-4F78-84CB-B9732CA5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45614-C457-46D3-9E1B-26FF6FEA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Collect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4A65D-0C79-4A53-9984-1C798A48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Worker samples terrain, rain, and river-basin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185AE-C7BE-4E94-9F73-6B710529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51E26-1E12-4ED2-97F3-F883D144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2B95E-BF5D-40F7-81A9-AECDB70D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1A4FCC-D460-4BE9-AD97-02CE38DA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Persist 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7BC1D5-83FC-44AE-9D74-AAC44FE1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PostGIS stores factors, provenance, and status.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5CB26A-8EEF-4C49-AD3A-C5FC7DC8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A88A77-0916-4853-A3B9-A5AA2ECE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078995-BC5A-4537-B091-DBE19298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C35EE-9907-4072-A89D-2389570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Explain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4AF6E-2BC5-4D94-A35F-0B245683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Frontend shows result cards or an unavailable state.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8D31E5-01E4-4C41-B85B-40B0D8A2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FC9759-7E6F-40D7-A4E3-48BDEBB6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D6B5E"/>
                </a:solidFill>
              </a:defRPr>
            </a:defPPr>
            <a:lvl1pPr algn="ctr">
              <a:defRPr sz="1425" b="1">
                <a:solidFill>
                  <a:srgbClr val="0D6B5E"/>
                </a:solidFill>
              </a:defRPr>
            </a:lvl1pPr>
            <a:lvl2pPr algn="ctr">
              <a:defRPr sz="1425" b="1">
                <a:solidFill>
                  <a:srgbClr val="0D6B5E"/>
                </a:solidFill>
              </a:defRPr>
            </a:lvl2pPr>
            <a:lvl3pPr algn="ctr">
              <a:defRPr sz="1425" b="1">
                <a:solidFill>
                  <a:srgbClr val="0D6B5E"/>
                </a:solidFill>
              </a:defRPr>
            </a:lvl3pPr>
            <a:lvl4pPr algn="ctr">
              <a:defRPr sz="1425" b="1">
                <a:solidFill>
                  <a:srgbClr val="0D6B5E"/>
                </a:solidFill>
              </a:defRPr>
            </a:lvl4pPr>
            <a:lvl5pPr algn="ctr">
              <a:defRPr sz="1425" b="1">
                <a:solidFill>
                  <a:srgbClr val="0D6B5E"/>
                </a:solidFill>
              </a:defRPr>
            </a:lvl5pPr>
            <a:lvl6pPr algn="ctr">
              <a:defRPr sz="1425" b="1">
                <a:solidFill>
                  <a:srgbClr val="0D6B5E"/>
                </a:solidFill>
              </a:defRPr>
            </a:lvl6pPr>
            <a:lvl7pPr algn="ctr">
              <a:defRPr sz="1425" b="1">
                <a:solidFill>
                  <a:srgbClr val="0D6B5E"/>
                </a:solidFill>
              </a:defRPr>
            </a:lvl7pPr>
            <a:lvl8pPr algn="ctr">
              <a:defRPr sz="1425" b="1">
                <a:solidFill>
                  <a:srgbClr val="0D6B5E"/>
                </a:solidFill>
              </a:defRPr>
            </a:lvl8pPr>
            <a:lvl9pPr algn="ctr">
              <a:defRPr sz="14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D6B5E"/>
                </a:solidFill>
              </a:defRPr>
            </a:pPr>
            <a:r>
              <a:rPr sz="1425" b="1">
                <a:solidFill>
                  <a:srgbClr val="0D6B5E"/>
                </a:solidFill>
              </a:rPr>
              <a:t>queued  ›  running  ›  complete     or     waiting_for_data / outside_coverage / failed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B6373D-8953-4CF3-A0F5-C6B1F12B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A06331-8E7F-4277-B885-774B9A85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023057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99E49-3220-434A-A27A-6B8B671D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233B0-A04C-4137-8D7A-6F143E8E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Terrain score: deterministic, local, and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E329C-49ED-4295-A392-D7A8C960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2862D-B70A-473E-A1E8-5981237F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048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FF537-0526-4AD7-B5DF-9C751A8F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2A"/>
                </a:solidFill>
              </a:defRPr>
            </a:defPPr>
            <a:lvl1pPr algn="l">
              <a:defRPr sz="1650" b="1">
                <a:solidFill>
                  <a:srgbClr val="102A2A"/>
                </a:solidFill>
              </a:defRPr>
            </a:lvl1pPr>
            <a:lvl2pPr algn="l">
              <a:defRPr sz="1650" b="1">
                <a:solidFill>
                  <a:srgbClr val="102A2A"/>
                </a:solidFill>
              </a:defRPr>
            </a:lvl2pPr>
            <a:lvl3pPr algn="l">
              <a:defRPr sz="1650" b="1">
                <a:solidFill>
                  <a:srgbClr val="102A2A"/>
                </a:solidFill>
              </a:defRPr>
            </a:lvl3pPr>
            <a:lvl4pPr algn="l">
              <a:defRPr sz="1650" b="1">
                <a:solidFill>
                  <a:srgbClr val="102A2A"/>
                </a:solidFill>
              </a:defRPr>
            </a:lvl4pPr>
            <a:lvl5pPr algn="l">
              <a:defRPr sz="1650" b="1">
                <a:solidFill>
                  <a:srgbClr val="102A2A"/>
                </a:solidFill>
              </a:defRPr>
            </a:lvl5pPr>
            <a:lvl6pPr algn="l">
              <a:defRPr sz="1650" b="1">
                <a:solidFill>
                  <a:srgbClr val="102A2A"/>
                </a:solidFill>
              </a:defRPr>
            </a:lvl6pPr>
            <a:lvl7pPr algn="l">
              <a:defRPr sz="1650" b="1">
                <a:solidFill>
                  <a:srgbClr val="102A2A"/>
                </a:solidFill>
              </a:defRPr>
            </a:lvl7pPr>
            <a:lvl8pPr algn="l">
              <a:defRPr sz="1650" b="1">
                <a:solidFill>
                  <a:srgbClr val="102A2A"/>
                </a:solidFill>
              </a:defRPr>
            </a:lvl8pPr>
            <a:lvl9pPr algn="l">
              <a:defRPr sz="16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Relative terrain susceptibility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A5B14-0075-4374-9967-C750D38E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55%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AB746-D0A3-41CD-8226-C2FDDC9D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low relative elevation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EB014-8445-4221-806B-2326FEA5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050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407BC1"/>
                </a:solidFill>
              </a:defRPr>
            </a:defPPr>
            <a:lvl1pPr algn="l">
              <a:defRPr sz="2625" b="1">
                <a:solidFill>
                  <a:srgbClr val="407BC1"/>
                </a:solidFill>
              </a:defRPr>
            </a:lvl1pPr>
            <a:lvl2pPr algn="l">
              <a:defRPr sz="2625" b="1">
                <a:solidFill>
                  <a:srgbClr val="407BC1"/>
                </a:solidFill>
              </a:defRPr>
            </a:lvl2pPr>
            <a:lvl3pPr algn="l">
              <a:defRPr sz="2625" b="1">
                <a:solidFill>
                  <a:srgbClr val="407BC1"/>
                </a:solidFill>
              </a:defRPr>
            </a:lvl3pPr>
            <a:lvl4pPr algn="l">
              <a:defRPr sz="2625" b="1">
                <a:solidFill>
                  <a:srgbClr val="407BC1"/>
                </a:solidFill>
              </a:defRPr>
            </a:lvl4pPr>
            <a:lvl5pPr algn="l">
              <a:defRPr sz="2625" b="1">
                <a:solidFill>
                  <a:srgbClr val="407BC1"/>
                </a:solidFill>
              </a:defRPr>
            </a:lvl5pPr>
            <a:lvl6pPr algn="l">
              <a:defRPr sz="2625" b="1">
                <a:solidFill>
                  <a:srgbClr val="407BC1"/>
                </a:solidFill>
              </a:defRPr>
            </a:lvl6pPr>
            <a:lvl7pPr algn="l">
              <a:defRPr sz="2625" b="1">
                <a:solidFill>
                  <a:srgbClr val="407BC1"/>
                </a:solidFill>
              </a:defRPr>
            </a:lvl7pPr>
            <a:lvl8pPr algn="l">
              <a:defRPr sz="2625" b="1">
                <a:solidFill>
                  <a:srgbClr val="407BC1"/>
                </a:solidFill>
              </a:defRPr>
            </a:lvl8pPr>
            <a:lvl9pPr algn="l">
              <a:defRPr sz="262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07BC1"/>
                </a:solidFill>
              </a:defRPr>
            </a:pPr>
            <a:r>
              <a:rPr sz="2625" b="1">
                <a:solidFill>
                  <a:srgbClr val="407BC1"/>
                </a:solidFill>
              </a:rPr>
              <a:t>25%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045A2-2C08-4924-83C0-079F9A7B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flatness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94CBC-3459-4B1E-BAE8-EEA9163E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49C52-8184-4CF0-9AA9-43D3A9FA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low local relief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1C5D2-7E24-47D8-9AE0-EE5D6E40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26262"/>
                </a:solidFill>
              </a:defRPr>
            </a:defPPr>
            <a:lvl1pPr algn="l">
              <a:defRPr sz="1125" b="1">
                <a:solidFill>
                  <a:srgbClr val="526262"/>
                </a:solidFill>
              </a:defRPr>
            </a:lvl1pPr>
            <a:lvl2pPr algn="l">
              <a:defRPr sz="1125" b="1">
                <a:solidFill>
                  <a:srgbClr val="526262"/>
                </a:solidFill>
              </a:defRPr>
            </a:lvl2pPr>
            <a:lvl3pPr algn="l">
              <a:defRPr sz="1125" b="1">
                <a:solidFill>
                  <a:srgbClr val="526262"/>
                </a:solidFill>
              </a:defRPr>
            </a:lvl3pPr>
            <a:lvl4pPr algn="l">
              <a:defRPr sz="1125" b="1">
                <a:solidFill>
                  <a:srgbClr val="526262"/>
                </a:solidFill>
              </a:defRPr>
            </a:lvl4pPr>
            <a:lvl5pPr algn="l">
              <a:defRPr sz="1125" b="1">
                <a:solidFill>
                  <a:srgbClr val="526262"/>
                </a:solidFill>
              </a:defRPr>
            </a:lvl5pPr>
            <a:lvl6pPr algn="l">
              <a:defRPr sz="1125" b="1">
                <a:solidFill>
                  <a:srgbClr val="526262"/>
                </a:solidFill>
              </a:defRPr>
            </a:lvl6pPr>
            <a:lvl7pPr algn="l">
              <a:defRPr sz="1125" b="1">
                <a:solidFill>
                  <a:srgbClr val="526262"/>
                </a:solidFill>
              </a:defRPr>
            </a:lvl7pPr>
            <a:lvl8pPr algn="l">
              <a:defRPr sz="1125" b="1">
                <a:solidFill>
                  <a:srgbClr val="526262"/>
                </a:solidFill>
              </a:defRPr>
            </a:lvl8pPr>
            <a:lvl9pPr algn="l">
              <a:defRPr sz="11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262"/>
                </a:solidFill>
              </a:defRPr>
            </a:pPr>
            <a:r>
              <a:rPr sz="1125" b="1">
                <a:solidFill>
                  <a:srgbClr val="526262"/>
                </a:solidFill>
              </a:rPr>
              <a:t>0–33 lower   •   34–66 moderate   •   67–100 higher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08B05-FE67-4F72-9255-CE28AC57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429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A0C41-5C07-4279-8AAF-21FAF99C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</a:defRPr>
            </a:defPPr>
            <a:lvl1pPr algn="l">
              <a:defRPr sz="1725" b="1">
                <a:solidFill>
                  <a:srgbClr val="FFFFFF"/>
                </a:solidFill>
              </a:defRPr>
            </a:lvl1pPr>
            <a:lvl2pPr algn="l">
              <a:defRPr sz="1725" b="1">
                <a:solidFill>
                  <a:srgbClr val="FFFFFF"/>
                </a:solidFill>
              </a:defRPr>
            </a:lvl2pPr>
            <a:lvl3pPr algn="l">
              <a:defRPr sz="1725" b="1">
                <a:solidFill>
                  <a:srgbClr val="FFFFFF"/>
                </a:solidFill>
              </a:defRPr>
            </a:lvl3pPr>
            <a:lvl4pPr algn="l">
              <a:defRPr sz="1725" b="1">
                <a:solidFill>
                  <a:srgbClr val="FFFFFF"/>
                </a:solidFill>
              </a:defRPr>
            </a:lvl4pPr>
            <a:lvl5pPr algn="l">
              <a:defRPr sz="1725" b="1">
                <a:solidFill>
                  <a:srgbClr val="FFFFFF"/>
                </a:solidFill>
              </a:defRPr>
            </a:lvl5pPr>
            <a:lvl6pPr algn="l">
              <a:defRPr sz="1725" b="1">
                <a:solidFill>
                  <a:srgbClr val="FFFFFF"/>
                </a:solidFill>
              </a:defRPr>
            </a:lvl6pPr>
            <a:lvl7pPr algn="l">
              <a:defRPr sz="1725" b="1">
                <a:solidFill>
                  <a:srgbClr val="FFFFFF"/>
                </a:solidFill>
              </a:defRPr>
            </a:lvl7pPr>
            <a:lvl8pPr algn="l">
              <a:defRPr sz="1725" b="1">
                <a:solidFill>
                  <a:srgbClr val="FFFFFF"/>
                </a:solidFill>
              </a:defRPr>
            </a:lvl8pPr>
            <a:lvl9pPr algn="l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65/100 means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3BBEA-75B1-46DB-B352-1E1E4615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8E5E2"/>
                </a:solidFill>
              </a:defRPr>
            </a:defPPr>
            <a:lvl1pPr algn="l">
              <a:defRPr sz="1725" b="0">
                <a:solidFill>
                  <a:srgbClr val="D8E5E2"/>
                </a:solidFill>
              </a:defRPr>
            </a:lvl1pPr>
            <a:lvl2pPr algn="l">
              <a:defRPr sz="1725" b="0">
                <a:solidFill>
                  <a:srgbClr val="D8E5E2"/>
                </a:solidFill>
              </a:defRPr>
            </a:lvl2pPr>
            <a:lvl3pPr algn="l">
              <a:defRPr sz="1725" b="0">
                <a:solidFill>
                  <a:srgbClr val="D8E5E2"/>
                </a:solidFill>
              </a:defRPr>
            </a:lvl3pPr>
            <a:lvl4pPr algn="l">
              <a:defRPr sz="1725" b="0">
                <a:solidFill>
                  <a:srgbClr val="D8E5E2"/>
                </a:solidFill>
              </a:defRPr>
            </a:lvl4pPr>
            <a:lvl5pPr algn="l">
              <a:defRPr sz="1725" b="0">
                <a:solidFill>
                  <a:srgbClr val="D8E5E2"/>
                </a:solidFill>
              </a:defRPr>
            </a:lvl5pPr>
            <a:lvl6pPr algn="l">
              <a:defRPr sz="1725" b="0">
                <a:solidFill>
                  <a:srgbClr val="D8E5E2"/>
                </a:solidFill>
              </a:defRPr>
            </a:lvl6pPr>
            <a:lvl7pPr algn="l">
              <a:defRPr sz="1725" b="0">
                <a:solidFill>
                  <a:srgbClr val="D8E5E2"/>
                </a:solidFill>
              </a:defRPr>
            </a:lvl7pPr>
            <a:lvl8pPr algn="l">
              <a:defRPr sz="1725" b="0">
                <a:solidFill>
                  <a:srgbClr val="D8E5E2"/>
                </a:solidFill>
              </a:defRPr>
            </a:lvl8pPr>
            <a:lvl9pPr algn="l">
              <a:defRPr sz="1725" b="0">
                <a:solidFill>
                  <a:srgbClr val="D8E5E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8E5E2"/>
                </a:solidFill>
              </a:defRPr>
            </a:pPr>
            <a:r>
              <a:rPr sz="1725" b="0">
                <a:solidFill>
                  <a:srgbClr val="D8E5E2"/>
                </a:solidFill>
              </a:rPr>
              <a:t>Moderate relative terrain susceptibility within the sampled circle.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4ECC5-EF40-4F34-94E1-DA278AE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It does not mean a 65% chance of flooding and it does not estimate water depth.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8821E-E4E9-4788-A64D-D6B59117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Terrain quality also reports valid-cell coverage and missing-data flags.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C98BF-9CA0-4C7C-94B8-F1A9B96B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77932-80EC-4BBB-BF1C-5843C1D8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23959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FCF29-D1A5-4A7D-B1BD-D4DBB0E5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F88DB-794B-4210-96DC-172DC326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Resident demo: a guided three-step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98901-7090-4D8C-B367-E82A525C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redesign clarifies the location, circle size, and result order before exposing technical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53C28-9261-42F6-A72F-F6D7E252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A8710-9575-4C3E-A886-9531A6FFBF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f83b78a3f4d4e"/>
          <a:stretch xmlns:a="http://schemas.openxmlformats.org/drawingml/2006/main"/>
        </p:blipFill>
        <p:spPr>
          <a:xfrm xmlns:a="http://schemas.openxmlformats.org/drawingml/2006/main">
            <a:off x="1793984" y="1285875"/>
            <a:ext cx="3612931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2DB67-0604-4E04-8EA0-56BA5CAB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46101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ABD2A-5B8F-4A2A-B138-FE962C52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F1E73-344E-499B-BC96-7CFE45FD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430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1. 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9B89B-1EFC-47F9-B1FD-96322FD2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City shortcut, map click, or exact coordinates.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1E85A-2A98-402C-A8D3-D28F53F3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610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AB97E-0DF7-46E7-8F1A-42B87977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E00D9-E1AE-44E2-A9B7-4EE63916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2. Assessment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4141D-C2DE-462A-B646-996B0174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Large 1 km, 2 km, and 5 km choices explain the local circle.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AE2A1-5151-43EC-A9CD-0CDAF494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610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5B7A2-53BC-429C-976D-6BB05564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67D82-A899-4264-BF70-59FA3066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624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3.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A968E-38AD-452D-AD8D-4F89F25C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Land, forecast-rain, and river-context cards appear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6F8C8-6293-4910-A3C8-B6823D80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1970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26262"/>
                </a:solidFill>
              </a:defRPr>
            </a:defPPr>
            <a:lvl1pPr algn="l">
              <a:defRPr sz="1200" b="0">
                <a:solidFill>
                  <a:srgbClr val="526262"/>
                </a:solidFill>
              </a:defRPr>
            </a:lvl1pPr>
            <a:lvl2pPr algn="l">
              <a:defRPr sz="1200" b="0">
                <a:solidFill>
                  <a:srgbClr val="526262"/>
                </a:solidFill>
              </a:defRPr>
            </a:lvl2pPr>
            <a:lvl3pPr algn="l">
              <a:defRPr sz="1200" b="0">
                <a:solidFill>
                  <a:srgbClr val="526262"/>
                </a:solidFill>
              </a:defRPr>
            </a:lvl3pPr>
            <a:lvl4pPr algn="l">
              <a:defRPr sz="1200" b="0">
                <a:solidFill>
                  <a:srgbClr val="526262"/>
                </a:solidFill>
              </a:defRPr>
            </a:lvl4pPr>
            <a:lvl5pPr algn="l">
              <a:defRPr sz="1200" b="0">
                <a:solidFill>
                  <a:srgbClr val="526262"/>
                </a:solidFill>
              </a:defRPr>
            </a:lvl5pPr>
            <a:lvl6pPr algn="l">
              <a:defRPr sz="1200" b="0">
                <a:solidFill>
                  <a:srgbClr val="526262"/>
                </a:solidFill>
              </a:defRPr>
            </a:lvl6pPr>
            <a:lvl7pPr algn="l">
              <a:defRPr sz="1200" b="0">
                <a:solidFill>
                  <a:srgbClr val="526262"/>
                </a:solidFill>
              </a:defRPr>
            </a:lvl7pPr>
            <a:lvl8pPr algn="l">
              <a:defRPr sz="1200" b="0">
                <a:solidFill>
                  <a:srgbClr val="526262"/>
                </a:solidFill>
              </a:defRPr>
            </a:lvl8pPr>
            <a:lvl9pPr algn="l">
              <a:defRPr sz="120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262"/>
                </a:solidFill>
              </a:defRPr>
            </a:pPr>
            <a:r>
              <a:rPr sz="1200" b="0">
                <a:solidFill>
                  <a:srgbClr val="526262"/>
                </a:solidFill>
              </a:rPr>
              <a:t>Technical evidence, source details, comparisons, and print output remain available in disclosures.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6ADD6-E446-4184-8C60-16AA29F4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6ACA9-4B72-43D7-BFCE-6285106C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801528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648A3A-494E-493C-BE25-220379A8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9CB6C-3535-4C35-BC05-4A10E271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Verified live Chennai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FFF65-F0F9-4157-AD67-3F3E77DD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complete 2 km run used mounted terrain tiles, imported HydroSHEDS data, and live Open-Meteo rainfall.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5BD21-B642-4715-AE6D-AB3EB34D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C1CD7-F684-4F63-AC27-DD281BD7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65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79865-A2F1-46EF-949B-525076D9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relative terrain susceptibility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DFD25-0641-476B-8365-2E4311FC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407BC1"/>
                </a:solidFill>
              </a:defRPr>
            </a:defPPr>
            <a:lvl1pPr algn="l">
              <a:defRPr sz="2625" b="1">
                <a:solidFill>
                  <a:srgbClr val="407BC1"/>
                </a:solidFill>
              </a:defRPr>
            </a:lvl1pPr>
            <a:lvl2pPr algn="l">
              <a:defRPr sz="2625" b="1">
                <a:solidFill>
                  <a:srgbClr val="407BC1"/>
                </a:solidFill>
              </a:defRPr>
            </a:lvl2pPr>
            <a:lvl3pPr algn="l">
              <a:defRPr sz="2625" b="1">
                <a:solidFill>
                  <a:srgbClr val="407BC1"/>
                </a:solidFill>
              </a:defRPr>
            </a:lvl3pPr>
            <a:lvl4pPr algn="l">
              <a:defRPr sz="2625" b="1">
                <a:solidFill>
                  <a:srgbClr val="407BC1"/>
                </a:solidFill>
              </a:defRPr>
            </a:lvl4pPr>
            <a:lvl5pPr algn="l">
              <a:defRPr sz="2625" b="1">
                <a:solidFill>
                  <a:srgbClr val="407BC1"/>
                </a:solidFill>
              </a:defRPr>
            </a:lvl5pPr>
            <a:lvl6pPr algn="l">
              <a:defRPr sz="2625" b="1">
                <a:solidFill>
                  <a:srgbClr val="407BC1"/>
                </a:solidFill>
              </a:defRPr>
            </a:lvl6pPr>
            <a:lvl7pPr algn="l">
              <a:defRPr sz="2625" b="1">
                <a:solidFill>
                  <a:srgbClr val="407BC1"/>
                </a:solidFill>
              </a:defRPr>
            </a:lvl7pPr>
            <a:lvl8pPr algn="l">
              <a:defRPr sz="2625" b="1">
                <a:solidFill>
                  <a:srgbClr val="407BC1"/>
                </a:solidFill>
              </a:defRPr>
            </a:lvl8pPr>
            <a:lvl9pPr algn="l">
              <a:defRPr sz="262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07BC1"/>
                </a:solidFill>
              </a:defRPr>
            </a:pPr>
            <a:r>
              <a:rPr sz="2625" b="1">
                <a:solidFill>
                  <a:srgbClr val="407BC1"/>
                </a:solidFill>
              </a:rPr>
              <a:t>0.97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4ED0E-7AB6-4280-B14E-655CE8BD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valid terrain-cell ratio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97B7C-9070-4124-AC60-F845E735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18.6 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5C55D-C2C3-45D9-9736-8CF8A0B8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48-hour rainfall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231B4-E822-45FF-983E-BE692CEE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0.26 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3CF00-6983-4BBB-9E9F-19D3BCA8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nearest mapped river segment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34B33-AE99-43F6-A1E8-AF138092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D115C-9053-4AF7-934C-F5A53F1E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000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2A"/>
                </a:solidFill>
              </a:defRPr>
            </a:defPPr>
            <a:lvl1pPr algn="l">
              <a:defRPr sz="1725" b="1">
                <a:solidFill>
                  <a:srgbClr val="102A2A"/>
                </a:solidFill>
              </a:defRPr>
            </a:lvl1pPr>
            <a:lvl2pPr algn="l">
              <a:defRPr sz="1725" b="1">
                <a:solidFill>
                  <a:srgbClr val="102A2A"/>
                </a:solidFill>
              </a:defRPr>
            </a:lvl2pPr>
            <a:lvl3pPr algn="l">
              <a:defRPr sz="1725" b="1">
                <a:solidFill>
                  <a:srgbClr val="102A2A"/>
                </a:solidFill>
              </a:defRPr>
            </a:lvl3pPr>
            <a:lvl4pPr algn="l">
              <a:defRPr sz="1725" b="1">
                <a:solidFill>
                  <a:srgbClr val="102A2A"/>
                </a:solidFill>
              </a:defRPr>
            </a:lvl4pPr>
            <a:lvl5pPr algn="l">
              <a:defRPr sz="1725" b="1">
                <a:solidFill>
                  <a:srgbClr val="102A2A"/>
                </a:solidFill>
              </a:defRPr>
            </a:lvl5pPr>
            <a:lvl6pPr algn="l">
              <a:defRPr sz="1725" b="1">
                <a:solidFill>
                  <a:srgbClr val="102A2A"/>
                </a:solidFill>
              </a:defRPr>
            </a:lvl6pPr>
            <a:lvl7pPr algn="l">
              <a:defRPr sz="1725" b="1">
                <a:solidFill>
                  <a:srgbClr val="102A2A"/>
                </a:solidFill>
              </a:defRPr>
            </a:lvl7pPr>
            <a:lvl8pPr algn="l">
              <a:defRPr sz="1725" b="1">
                <a:solidFill>
                  <a:srgbClr val="102A2A"/>
                </a:solidFill>
              </a:defRPr>
            </a:lvl8pPr>
            <a:lvl9pPr algn="l">
              <a:defRPr sz="17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Terrain, rainfall, containing basin, upstream context, and nearby river context all reached a complete result for the selected Chennai 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AA561-2E4F-462F-838C-3004346E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38234-0CAC-4DD5-B427-0EA1D61A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0D6B5E"/>
                </a:solidFill>
              </a:defRPr>
            </a:defPPr>
            <a:lvl1pPr algn="ctr">
              <a:defRPr sz="975" b="1">
                <a:solidFill>
                  <a:srgbClr val="0D6B5E"/>
                </a:solidFill>
              </a:defRPr>
            </a:lvl1pPr>
            <a:lvl2pPr algn="ctr">
              <a:defRPr sz="975" b="1">
                <a:solidFill>
                  <a:srgbClr val="0D6B5E"/>
                </a:solidFill>
              </a:defRPr>
            </a:lvl2pPr>
            <a:lvl3pPr algn="ctr">
              <a:defRPr sz="975" b="1">
                <a:solidFill>
                  <a:srgbClr val="0D6B5E"/>
                </a:solidFill>
              </a:defRPr>
            </a:lvl3pPr>
            <a:lvl4pPr algn="ctr">
              <a:defRPr sz="975" b="1">
                <a:solidFill>
                  <a:srgbClr val="0D6B5E"/>
                </a:solidFill>
              </a:defRPr>
            </a:lvl4pPr>
            <a:lvl5pPr algn="ctr">
              <a:defRPr sz="975" b="1">
                <a:solidFill>
                  <a:srgbClr val="0D6B5E"/>
                </a:solidFill>
              </a:defRPr>
            </a:lvl5pPr>
            <a:lvl6pPr algn="ctr">
              <a:defRPr sz="975" b="1">
                <a:solidFill>
                  <a:srgbClr val="0D6B5E"/>
                </a:solidFill>
              </a:defRPr>
            </a:lvl6pPr>
            <a:lvl7pPr algn="ctr">
              <a:defRPr sz="975" b="1">
                <a:solidFill>
                  <a:srgbClr val="0D6B5E"/>
                </a:solidFill>
              </a:defRPr>
            </a:lvl7pPr>
            <a:lvl8pPr algn="ctr">
              <a:defRPr sz="975" b="1">
                <a:solidFill>
                  <a:srgbClr val="0D6B5E"/>
                </a:solidFill>
              </a:defRPr>
            </a:lvl8pPr>
            <a:lvl9pPr algn="ctr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28,907 basin polygons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F382A-BB48-457E-83E4-16F3294B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E4EE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A054A-6291-4336-A291-1824D07F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197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407BC1"/>
                </a:solidFill>
              </a:defRPr>
            </a:defPPr>
            <a:lvl1pPr algn="ctr">
              <a:defRPr sz="975" b="1">
                <a:solidFill>
                  <a:srgbClr val="407BC1"/>
                </a:solidFill>
              </a:defRPr>
            </a:lvl1pPr>
            <a:lvl2pPr algn="ctr">
              <a:defRPr sz="975" b="1">
                <a:solidFill>
                  <a:srgbClr val="407BC1"/>
                </a:solidFill>
              </a:defRPr>
            </a:lvl2pPr>
            <a:lvl3pPr algn="ctr">
              <a:defRPr sz="975" b="1">
                <a:solidFill>
                  <a:srgbClr val="407BC1"/>
                </a:solidFill>
              </a:defRPr>
            </a:lvl3pPr>
            <a:lvl4pPr algn="ctr">
              <a:defRPr sz="975" b="1">
                <a:solidFill>
                  <a:srgbClr val="407BC1"/>
                </a:solidFill>
              </a:defRPr>
            </a:lvl4pPr>
            <a:lvl5pPr algn="ctr">
              <a:defRPr sz="975" b="1">
                <a:solidFill>
                  <a:srgbClr val="407BC1"/>
                </a:solidFill>
              </a:defRPr>
            </a:lvl5pPr>
            <a:lvl6pPr algn="ctr">
              <a:defRPr sz="975" b="1">
                <a:solidFill>
                  <a:srgbClr val="407BC1"/>
                </a:solidFill>
              </a:defRPr>
            </a:lvl6pPr>
            <a:lvl7pPr algn="ctr">
              <a:defRPr sz="975" b="1">
                <a:solidFill>
                  <a:srgbClr val="407BC1"/>
                </a:solidFill>
              </a:defRPr>
            </a:lvl7pPr>
            <a:lvl8pPr algn="ctr">
              <a:defRPr sz="975" b="1">
                <a:solidFill>
                  <a:srgbClr val="407BC1"/>
                </a:solidFill>
              </a:defRPr>
            </a:lvl8pPr>
            <a:lvl9pPr algn="ctr">
              <a:defRPr sz="97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407BC1"/>
                </a:solidFill>
              </a:defRPr>
            </a:pPr>
            <a:r>
              <a:rPr sz="975" b="1">
                <a:solidFill>
                  <a:srgbClr val="407BC1"/>
                </a:solidFill>
              </a:rPr>
              <a:t>1,428,959 river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31572-6DAE-437B-9750-287F9773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5F8"/>
          </a:solidFill>
          <a:ln xmlns:a="http://schemas.openxmlformats.org/drawingml/2006/main" w="9525">
            <a:solidFill>
              <a:srgbClr val="E6F5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DA72C-1679-40EA-A34E-1D837F6C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6B6CF"/>
                </a:solidFill>
              </a:defRPr>
            </a:defPPr>
            <a:lvl1pPr algn="ctr">
              <a:defRPr sz="975" b="1">
                <a:solidFill>
                  <a:srgbClr val="26B6CF"/>
                </a:solidFill>
              </a:defRPr>
            </a:lvl1pPr>
            <a:lvl2pPr algn="ctr">
              <a:defRPr sz="975" b="1">
                <a:solidFill>
                  <a:srgbClr val="26B6CF"/>
                </a:solidFill>
              </a:defRPr>
            </a:lvl2pPr>
            <a:lvl3pPr algn="ctr">
              <a:defRPr sz="975" b="1">
                <a:solidFill>
                  <a:srgbClr val="26B6CF"/>
                </a:solidFill>
              </a:defRPr>
            </a:lvl3pPr>
            <a:lvl4pPr algn="ctr">
              <a:defRPr sz="975" b="1">
                <a:solidFill>
                  <a:srgbClr val="26B6CF"/>
                </a:solidFill>
              </a:defRPr>
            </a:lvl4pPr>
            <a:lvl5pPr algn="ctr">
              <a:defRPr sz="975" b="1">
                <a:solidFill>
                  <a:srgbClr val="26B6CF"/>
                </a:solidFill>
              </a:defRPr>
            </a:lvl5pPr>
            <a:lvl6pPr algn="ctr">
              <a:defRPr sz="975" b="1">
                <a:solidFill>
                  <a:srgbClr val="26B6CF"/>
                </a:solidFill>
              </a:defRPr>
            </a:lvl6pPr>
            <a:lvl7pPr algn="ctr">
              <a:defRPr sz="975" b="1">
                <a:solidFill>
                  <a:srgbClr val="26B6CF"/>
                </a:solidFill>
              </a:defRPr>
            </a:lvl7pPr>
            <a:lvl8pPr algn="ctr">
              <a:defRPr sz="975" b="1">
                <a:solidFill>
                  <a:srgbClr val="26B6CF"/>
                </a:solidFill>
              </a:defRPr>
            </a:lvl8pPr>
            <a:lvl9pPr algn="ctr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Docker app + DB + worker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F5660-3857-4D06-A29F-65CB26D9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197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B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FCA38-2CAB-4BDC-BF36-07C17E54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197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E86F51"/>
                </a:solidFill>
              </a:defRPr>
            </a:defPPr>
            <a:lvl1pPr algn="ctr">
              <a:defRPr sz="975" b="1">
                <a:solidFill>
                  <a:srgbClr val="E86F51"/>
                </a:solidFill>
              </a:defRPr>
            </a:lvl1pPr>
            <a:lvl2pPr algn="ctr">
              <a:defRPr sz="975" b="1">
                <a:solidFill>
                  <a:srgbClr val="E86F51"/>
                </a:solidFill>
              </a:defRPr>
            </a:lvl2pPr>
            <a:lvl3pPr algn="ctr">
              <a:defRPr sz="975" b="1">
                <a:solidFill>
                  <a:srgbClr val="E86F51"/>
                </a:solidFill>
              </a:defRPr>
            </a:lvl3pPr>
            <a:lvl4pPr algn="ctr">
              <a:defRPr sz="975" b="1">
                <a:solidFill>
                  <a:srgbClr val="E86F51"/>
                </a:solidFill>
              </a:defRPr>
            </a:lvl4pPr>
            <a:lvl5pPr algn="ctr">
              <a:defRPr sz="975" b="1">
                <a:solidFill>
                  <a:srgbClr val="E86F51"/>
                </a:solidFill>
              </a:defRPr>
            </a:lvl5pPr>
            <a:lvl6pPr algn="ctr">
              <a:defRPr sz="975" b="1">
                <a:solidFill>
                  <a:srgbClr val="E86F51"/>
                </a:solidFill>
              </a:defRPr>
            </a:lvl6pPr>
            <a:lvl7pPr algn="ctr">
              <a:defRPr sz="975" b="1">
                <a:solidFill>
                  <a:srgbClr val="E86F51"/>
                </a:solidFill>
              </a:defRPr>
            </a:lvl7pPr>
            <a:lvl8pPr algn="ctr">
              <a:defRPr sz="975" b="1">
                <a:solidFill>
                  <a:srgbClr val="E86F51"/>
                </a:solidFill>
              </a:defRPr>
            </a:lvl8pPr>
            <a:lvl9pPr algn="ctr">
              <a:defRPr sz="97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E86F51"/>
                </a:solidFill>
              </a:defRPr>
            </a:pPr>
            <a:r>
              <a:rPr sz="975" b="1">
                <a:solidFill>
                  <a:srgbClr val="E86F51"/>
                </a:solidFill>
              </a:rPr>
              <a:t>Explicit partial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2E62A-C82F-4493-9C80-A3677151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44470-B409-4285-8F73-F312E754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2539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60265-1BA9-45AA-A800-D94F71E8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CD874-F93E-4149-9221-ECC380BC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Research lab: two related ML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AA6DB-2EA1-4956-8AD3-8D5A2AA9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models study historical observed water. They do not produce the resident terrain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7F969-AD6E-4B51-ABD8-E5D5DDF4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90366-0A58-4E38-BE65-B9A57D00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50673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96A14-D2F1-4919-AF91-D9319B45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6487B-8134-4418-80B8-763F36B3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Whole-chip 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E9E1A-6D00-4324-9F8A-810C751F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Does this 512 × 512 chip contain at least 5% labelled observed water?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Models: spatial gradient baseline and rainfall LSTM.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Output: one probability and a thresholded class.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A2169-D273-41A8-8390-6F2559FE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50673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9F06D-ECC0-4D33-8CBA-EC5902F4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DD021-5977-4E8D-95FF-96F1DFA3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Pixel water segmentation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F1FCA-E0BA-4315-90C0-3F2D33DA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Which pixels match the verified observed-water label?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Models: Extra Trees and a three-scale two-band U-Net.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Output: a water mask plus error overlay.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6D8DE-5C13-4CE4-BB95-DBA5AC56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8966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F2A6C-4E78-4F16-8DC8-1C7DDEF1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Training and evaluation stay in research/. The resident API never treats these predictions as warnings or property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955ED-5D73-4338-9A35-39D6CCB5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4C0B7-B1F4-4430-A747-83510CFE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26459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A12A5-DADC-4D64-B940-48051954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CF312-B3BD-4234-BB5C-043459B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Evaluation prevents same-event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6DAC1-D52B-49EE-B4D7-EBB4A6D5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Validation selects checkpoints and thresholds; the test events remain unseen.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1E874-2141-4C1D-BEFE-D38D1672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DCF63-947C-4F2D-8FD5-974AC242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480D0-1BB8-4936-A220-3E980C3B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BC805-2BB9-4255-8975-EBCB563E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242 chips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FB1F0-EA1A-4F71-A68F-B30BC7A9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Six complete-rainfall events fit model weights.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848DA-E020-4B8B-A2AB-2EF5D5D3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E4EE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E98C6-2043-41A8-8978-F51CB18C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A4AF5-1F91-4492-9C0C-F9D2E5F5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87 chips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96291-7F92-49B7-AAE4-9F76CE6F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USA and Sri Lanka select checkpoint and threshold.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398C3-44EE-4FDD-B758-DB80972C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B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E112D-12C7-4265-9459-21EB6960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AA630-B8F6-48FB-A96A-68BC11C1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81 chips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13286-BBC7-499F-9442-6A973CBA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Bolivia and Paraguay form the held-out evaluation.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D0DBC-0239-4C18-85F8-E546EA7E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86F51"/>
                </a:solidFill>
              </a:defRPr>
            </a:defPPr>
            <a:lvl1pPr algn="ctr">
              <a:defRPr sz="1350" b="1">
                <a:solidFill>
                  <a:srgbClr val="E86F51"/>
                </a:solidFill>
              </a:defRPr>
            </a:lvl1pPr>
            <a:lvl2pPr algn="ctr">
              <a:defRPr sz="1350" b="1">
                <a:solidFill>
                  <a:srgbClr val="E86F51"/>
                </a:solidFill>
              </a:defRPr>
            </a:lvl2pPr>
            <a:lvl3pPr algn="ctr">
              <a:defRPr sz="1350" b="1">
                <a:solidFill>
                  <a:srgbClr val="E86F51"/>
                </a:solidFill>
              </a:defRPr>
            </a:lvl3pPr>
            <a:lvl4pPr algn="ctr">
              <a:defRPr sz="1350" b="1">
                <a:solidFill>
                  <a:srgbClr val="E86F51"/>
                </a:solidFill>
              </a:defRPr>
            </a:lvl4pPr>
            <a:lvl5pPr algn="ctr">
              <a:defRPr sz="1350" b="1">
                <a:solidFill>
                  <a:srgbClr val="E86F51"/>
                </a:solidFill>
              </a:defRPr>
            </a:lvl5pPr>
            <a:lvl6pPr algn="ctr">
              <a:defRPr sz="1350" b="1">
                <a:solidFill>
                  <a:srgbClr val="E86F51"/>
                </a:solidFill>
              </a:defRPr>
            </a:lvl6pPr>
            <a:lvl7pPr algn="ctr">
              <a:defRPr sz="1350" b="1">
                <a:solidFill>
                  <a:srgbClr val="E86F51"/>
                </a:solidFill>
              </a:defRPr>
            </a:lvl7pPr>
            <a:lvl8pPr algn="ctr">
              <a:defRPr sz="1350" b="1">
                <a:solidFill>
                  <a:srgbClr val="E86F51"/>
                </a:solidFill>
              </a:defRPr>
            </a:lvl8pPr>
            <a:lvl9pPr algn="ctr">
              <a:defRPr sz="13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86F51"/>
                </a:solidFill>
              </a:defRPr>
            </a:pPr>
            <a:r>
              <a:rPr sz="1350" b="1">
                <a:solidFill>
                  <a:srgbClr val="E86F51"/>
                </a:solidFill>
              </a:rPr>
              <a:t>Spain is excluded because its historical rainfall sequence is incomplete. Missing values are not imputed.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9B44A-FD67-4FE8-8443-D2EFEEEF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D6B5E"/>
                </a:solidFill>
              </a:defRPr>
            </a:defPPr>
            <a:lvl1pPr algn="ctr">
              <a:defRPr sz="1650" b="1">
                <a:solidFill>
                  <a:srgbClr val="0D6B5E"/>
                </a:solidFill>
              </a:defRPr>
            </a:lvl1pPr>
            <a:lvl2pPr algn="ctr">
              <a:defRPr sz="1650" b="1">
                <a:solidFill>
                  <a:srgbClr val="0D6B5E"/>
                </a:solidFill>
              </a:defRPr>
            </a:lvl2pPr>
            <a:lvl3pPr algn="ctr">
              <a:defRPr sz="1650" b="1">
                <a:solidFill>
                  <a:srgbClr val="0D6B5E"/>
                </a:solidFill>
              </a:defRPr>
            </a:lvl3pPr>
            <a:lvl4pPr algn="ctr">
              <a:defRPr sz="1650" b="1">
                <a:solidFill>
                  <a:srgbClr val="0D6B5E"/>
                </a:solidFill>
              </a:defRPr>
            </a:lvl4pPr>
            <a:lvl5pPr algn="ctr">
              <a:defRPr sz="1650" b="1">
                <a:solidFill>
                  <a:srgbClr val="0D6B5E"/>
                </a:solidFill>
              </a:defRPr>
            </a:lvl5pPr>
            <a:lvl6pPr algn="ctr">
              <a:defRPr sz="1650" b="1">
                <a:solidFill>
                  <a:srgbClr val="0D6B5E"/>
                </a:solidFill>
              </a:defRPr>
            </a:lvl6pPr>
            <a:lvl7pPr algn="ctr">
              <a:defRPr sz="1650" b="1">
                <a:solidFill>
                  <a:srgbClr val="0D6B5E"/>
                </a:solidFill>
              </a:defRPr>
            </a:lvl7pPr>
            <a:lvl8pPr algn="ctr">
              <a:defRPr sz="1650" b="1">
                <a:solidFill>
                  <a:srgbClr val="0D6B5E"/>
                </a:solidFill>
              </a:defRPr>
            </a:lvl8pPr>
            <a:lvl9pPr algn="ctr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Event-held-out evaluation is harder and more honest than a random chip split.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20CBD-8B95-4DEB-9177-029EE26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38DB5-DE79-4987-8E79-0BB0D9C1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428164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9C6A52-3409-4685-8207-3168610D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0E474-B6DC-447F-8A81-C5F4359C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How the models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1D12A-1CD9-459D-9679-2EE0595E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36E3D-0359-4028-8CEA-E516856A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0F580-52EE-4237-A4E3-D2F55DEA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05651-4D34-4AB0-885D-7F04C59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199B7-6DD7-4EFA-8E5E-508E77B9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Historical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60003-E387-445C-A768-50C37FBE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Sentinel-1 VV/VH radar and 60 days of CHIRPS rain.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D66C7-4906-4C24-A140-D0EE53A7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AA38D-27DA-41F4-95C3-F9437D96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BA0E9-47F0-41F6-AE0B-3A70A1A5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E84B0-4479-44DC-8656-EC7D51A9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Classification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36345-19FE-4BE5-9F76-FC438420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summaries or an LSTM estimate chip-level water.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39F96-0785-4F46-B6E2-5F68FA49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E63E1-B994-48ED-AFFA-9DBD2239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E5296-FC67-49C5-B5EE-45E9CFBD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A7981-FC28-4657-BA0F-435AA7B7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Segmentation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51170-ED08-4CDE-8D5B-F5CE9749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Extra Trees and U-Net label each valid pixel.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E3ADA-33E0-4985-BBE1-61A6A109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476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D7F2B-39DF-43E8-8F29-6DB0F1D1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3FAE1-BBBF-441B-9777-D687518A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Spatial gradient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4085E-A170-4F6D-B47E-CA01029B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407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VV/VH percentiles, distribution spread, cross-polarisation summaries, texture gradients, and transformed rainfall.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6A394-9601-4691-9EFC-DD47CB04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476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8CC222-2045-4D25-93A0-C403FD2D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1FB9DE-10DF-4BBE-B104-8D59A235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623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Three-scale U-Net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833012-0BF6-436F-834D-BCD1E992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407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Two radar bands, augmented 128 × 128 crops, masked BCE plus Dice loss, and overlapping tiled inference.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1B37BF-89C9-44D2-8F80-EB5ED11B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2A"/>
                </a:solidFill>
              </a:defRPr>
            </a:defPPr>
            <a:lvl1pPr algn="ctr">
              <a:defRPr sz="1350" b="1">
                <a:solidFill>
                  <a:srgbClr val="102A2A"/>
                </a:solidFill>
              </a:defRPr>
            </a:lvl1pPr>
            <a:lvl2pPr algn="ctr">
              <a:defRPr sz="1350" b="1">
                <a:solidFill>
                  <a:srgbClr val="102A2A"/>
                </a:solidFill>
              </a:defRPr>
            </a:lvl2pPr>
            <a:lvl3pPr algn="ctr">
              <a:defRPr sz="1350" b="1">
                <a:solidFill>
                  <a:srgbClr val="102A2A"/>
                </a:solidFill>
              </a:defRPr>
            </a:lvl3pPr>
            <a:lvl4pPr algn="ctr">
              <a:defRPr sz="1350" b="1">
                <a:solidFill>
                  <a:srgbClr val="102A2A"/>
                </a:solidFill>
              </a:defRPr>
            </a:lvl4pPr>
            <a:lvl5pPr algn="ctr">
              <a:defRPr sz="1350" b="1">
                <a:solidFill>
                  <a:srgbClr val="102A2A"/>
                </a:solidFill>
              </a:defRPr>
            </a:lvl5pPr>
            <a:lvl6pPr algn="ctr">
              <a:defRPr sz="1350" b="1">
                <a:solidFill>
                  <a:srgbClr val="102A2A"/>
                </a:solidFill>
              </a:defRPr>
            </a:lvl6pPr>
            <a:lvl7pPr algn="ctr">
              <a:defRPr sz="1350" b="1">
                <a:solidFill>
                  <a:srgbClr val="102A2A"/>
                </a:solidFill>
              </a:defRPr>
            </a:lvl7pPr>
            <a:lvl8pPr algn="ctr">
              <a:defRPr sz="1350" b="1">
                <a:solidFill>
                  <a:srgbClr val="102A2A"/>
                </a:solidFill>
              </a:defRPr>
            </a:lvl8pPr>
            <a:lvl9pPr algn="ctr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The lab places both tasks beside the same held-out event so users can inspect agreement and failure.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02A20-106D-41FC-B265-217F0AD0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4B2F03-E173-41FD-B71F-1ED6B6D3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37266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F6217-98A6-43FC-B141-04C9221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520C1-9268-4676-BEFA-1168B575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Held-out results on Bolivia and Paraguay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8A8A2-A76C-4CDB-9131-84FAB87E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Scores come from 81 chips across two unseen events and remain exploratory.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9B25A-DFAB-46E8-966E-62800789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D5A89A3-0B3E-4104-997E-7B47808C3CB0}"/>
              </a:ext>
            </a:extLst>
          </p:cNvPr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5334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d2394fb5e941b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A6897-229B-4E4A-AA26-159B831A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1244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DC7AA-8C34-40EC-B018-0A0F048F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0.725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E3F33-72F7-4224-868D-F1948C82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U-Net segmentation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C8516-140F-4B9B-AE24-80C8608F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0.569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B31DF-052D-441E-B85F-00360016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U-Net intersection-over-union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1B263-7095-4FFA-995F-2E2F13A8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0.667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3CA4B-28C4-44AE-B997-1FD7F4A7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baseline classification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BF52C-4D8D-46DB-8E24-041D7543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0.864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2C39B-93EB-408F-9C6B-CF7CBF89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baseline 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6F7CA-A125-4AF3-856D-E66FA47D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6F51"/>
                </a:solidFill>
              </a:defRPr>
            </a:defPPr>
            <a:lvl1pPr algn="l">
              <a:defRPr sz="1200" b="1">
                <a:solidFill>
                  <a:srgbClr val="E86F51"/>
                </a:solidFill>
              </a:defRPr>
            </a:lvl1pPr>
            <a:lvl2pPr algn="l">
              <a:defRPr sz="1200" b="1">
                <a:solidFill>
                  <a:srgbClr val="E86F51"/>
                </a:solidFill>
              </a:defRPr>
            </a:lvl2pPr>
            <a:lvl3pPr algn="l">
              <a:defRPr sz="1200" b="1">
                <a:solidFill>
                  <a:srgbClr val="E86F51"/>
                </a:solidFill>
              </a:defRPr>
            </a:lvl3pPr>
            <a:lvl4pPr algn="l">
              <a:defRPr sz="1200" b="1">
                <a:solidFill>
                  <a:srgbClr val="E86F51"/>
                </a:solidFill>
              </a:defRPr>
            </a:lvl4pPr>
            <a:lvl5pPr algn="l">
              <a:defRPr sz="1200" b="1">
                <a:solidFill>
                  <a:srgbClr val="E86F51"/>
                </a:solidFill>
              </a:defRPr>
            </a:lvl5pPr>
            <a:lvl6pPr algn="l">
              <a:defRPr sz="1200" b="1">
                <a:solidFill>
                  <a:srgbClr val="E86F51"/>
                </a:solidFill>
              </a:defRPr>
            </a:lvl6pPr>
            <a:lvl7pPr algn="l">
              <a:defRPr sz="1200" b="1">
                <a:solidFill>
                  <a:srgbClr val="E86F51"/>
                </a:solidFill>
              </a:defRPr>
            </a:lvl7pPr>
            <a:lvl8pPr algn="l">
              <a:defRPr sz="1200" b="1">
                <a:solidFill>
                  <a:srgbClr val="E86F51"/>
                </a:solidFill>
              </a:defRPr>
            </a:lvl8pPr>
            <a:lvl9pPr algn="l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The LSTM reached PR-AUC 0.762, but threshold transfer reduced F1 to 0.293.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4A798-357D-48A2-B84E-8A461A6C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526262"/>
                </a:solidFill>
              </a:defRPr>
            </a:defPPr>
            <a:lvl1pPr algn="ctr">
              <a:defRPr sz="1200" b="1">
                <a:solidFill>
                  <a:srgbClr val="526262"/>
                </a:solidFill>
              </a:defRPr>
            </a:lvl1pPr>
            <a:lvl2pPr algn="ctr">
              <a:defRPr sz="1200" b="1">
                <a:solidFill>
                  <a:srgbClr val="526262"/>
                </a:solidFill>
              </a:defRPr>
            </a:lvl2pPr>
            <a:lvl3pPr algn="ctr">
              <a:defRPr sz="1200" b="1">
                <a:solidFill>
                  <a:srgbClr val="526262"/>
                </a:solidFill>
              </a:defRPr>
            </a:lvl3pPr>
            <a:lvl4pPr algn="ctr">
              <a:defRPr sz="1200" b="1">
                <a:solidFill>
                  <a:srgbClr val="526262"/>
                </a:solidFill>
              </a:defRPr>
            </a:lvl4pPr>
            <a:lvl5pPr algn="ctr">
              <a:defRPr sz="1200" b="1">
                <a:solidFill>
                  <a:srgbClr val="526262"/>
                </a:solidFill>
              </a:defRPr>
            </a:lvl5pPr>
            <a:lvl6pPr algn="ctr">
              <a:defRPr sz="1200" b="1">
                <a:solidFill>
                  <a:srgbClr val="526262"/>
                </a:solidFill>
              </a:defRPr>
            </a:lvl6pPr>
            <a:lvl7pPr algn="ctr">
              <a:defRPr sz="1200" b="1">
                <a:solidFill>
                  <a:srgbClr val="526262"/>
                </a:solidFill>
              </a:defRPr>
            </a:lvl7pPr>
            <a:lvl8pPr algn="ctr">
              <a:defRPr sz="1200" b="1">
                <a:solidFill>
                  <a:srgbClr val="526262"/>
                </a:solidFill>
              </a:defRPr>
            </a:lvl8pPr>
            <a:lvl9pPr algn="ctr">
              <a:defRPr sz="120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26262"/>
                </a:solidFill>
              </a:defRPr>
            </a:pPr>
            <a:r>
              <a:rPr sz="1200" b="1">
                <a:solidFill>
                  <a:srgbClr val="526262"/>
                </a:solidFill>
              </a:rPr>
              <a:t>Classification and segmentation scores describe different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C219A-0122-408C-9063-2DB8FE92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A2294-22CE-41C1-A3D9-C22EA08B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657335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A2E6D-9C1A-4E0F-9D5C-03437818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6B6CF"/>
                </a:solidFill>
              </a:defRPr>
            </a:defPPr>
            <a:lvl1pPr algn="l">
              <a:defRPr sz="1050" b="1">
                <a:solidFill>
                  <a:srgbClr val="26B6CF"/>
                </a:solidFill>
              </a:defRPr>
            </a:lvl1pPr>
            <a:lvl2pPr algn="l">
              <a:defRPr sz="1050" b="1">
                <a:solidFill>
                  <a:srgbClr val="26B6CF"/>
                </a:solidFill>
              </a:defRPr>
            </a:lvl2pPr>
            <a:lvl3pPr algn="l">
              <a:defRPr sz="1050" b="1">
                <a:solidFill>
                  <a:srgbClr val="26B6CF"/>
                </a:solidFill>
              </a:defRPr>
            </a:lvl3pPr>
            <a:lvl4pPr algn="l">
              <a:defRPr sz="1050" b="1">
                <a:solidFill>
                  <a:srgbClr val="26B6CF"/>
                </a:solidFill>
              </a:defRPr>
            </a:lvl4pPr>
            <a:lvl5pPr algn="l">
              <a:defRPr sz="1050" b="1">
                <a:solidFill>
                  <a:srgbClr val="26B6CF"/>
                </a:solidFill>
              </a:defRPr>
            </a:lvl5pPr>
            <a:lvl6pPr algn="l">
              <a:defRPr sz="1050" b="1">
                <a:solidFill>
                  <a:srgbClr val="26B6CF"/>
                </a:solidFill>
              </a:defRPr>
            </a:lvl6pPr>
            <a:lvl7pPr algn="l">
              <a:defRPr sz="1050" b="1">
                <a:solidFill>
                  <a:srgbClr val="26B6CF"/>
                </a:solidFill>
              </a:defRPr>
            </a:lvl7pPr>
            <a:lvl8pPr algn="l">
              <a:defRPr sz="1050" b="1">
                <a:solidFill>
                  <a:srgbClr val="26B6CF"/>
                </a:solidFill>
              </a:defRPr>
            </a:lvl8pPr>
            <a:lvl9pPr algn="l">
              <a:defRPr sz="10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6B6CF"/>
                </a:solidFill>
              </a:defRPr>
            </a:pPr>
            <a:r>
              <a:rPr sz="1050" b="1">
                <a:solidFill>
                  <a:srgbClr val="26B6CF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921E4-656F-4F01-9CF5-85A90DB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Historical Event Lab: comparison in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956B8-07E6-4D57-83D8-F17903A4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CBC8"/>
                </a:solidFill>
              </a:defRPr>
            </a:defPPr>
            <a:lvl1pPr algn="l">
              <a:defRPr sz="1125" b="0">
                <a:solidFill>
                  <a:srgbClr val="B9CBC8"/>
                </a:solidFill>
              </a:defRPr>
            </a:lvl1pPr>
            <a:lvl2pPr algn="l">
              <a:defRPr sz="1125" b="0">
                <a:solidFill>
                  <a:srgbClr val="B9CBC8"/>
                </a:solidFill>
              </a:defRPr>
            </a:lvl2pPr>
            <a:lvl3pPr algn="l">
              <a:defRPr sz="1125" b="0">
                <a:solidFill>
                  <a:srgbClr val="B9CBC8"/>
                </a:solidFill>
              </a:defRPr>
            </a:lvl3pPr>
            <a:lvl4pPr algn="l">
              <a:defRPr sz="1125" b="0">
                <a:solidFill>
                  <a:srgbClr val="B9CBC8"/>
                </a:solidFill>
              </a:defRPr>
            </a:lvl4pPr>
            <a:lvl5pPr algn="l">
              <a:defRPr sz="1125" b="0">
                <a:solidFill>
                  <a:srgbClr val="B9CBC8"/>
                </a:solidFill>
              </a:defRPr>
            </a:lvl5pPr>
            <a:lvl6pPr algn="l">
              <a:defRPr sz="1125" b="0">
                <a:solidFill>
                  <a:srgbClr val="B9CBC8"/>
                </a:solidFill>
              </a:defRPr>
            </a:lvl6pPr>
            <a:lvl7pPr algn="l">
              <a:defRPr sz="1125" b="0">
                <a:solidFill>
                  <a:srgbClr val="B9CBC8"/>
                </a:solidFill>
              </a:defRPr>
            </a:lvl7pPr>
            <a:lvl8pPr algn="l">
              <a:defRPr sz="1125" b="0">
                <a:solidFill>
                  <a:srgbClr val="B9CBC8"/>
                </a:solidFill>
              </a:defRPr>
            </a:lvl8pPr>
            <a:lvl9pPr algn="l">
              <a:defRPr sz="1125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BC8"/>
                </a:solidFill>
              </a:defRPr>
            </a:pPr>
            <a:r>
              <a:rPr sz="1125" b="0">
                <a:solidFill>
                  <a:srgbClr val="B9CBC8"/>
                </a:solidFill>
              </a:rPr>
              <a:t>Select an event and chip, change model, adjust opacity, and inspect run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5B38A-7870-40FB-A327-3256546E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C87F7-8136-41A7-AF51-10FA444384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1aadf703643f3"/>
          <a:stretch xmlns:a="http://schemas.openxmlformats.org/drawingml/2006/main"/>
        </p:blipFill>
        <p:spPr>
          <a:xfrm xmlns:a="http://schemas.openxmlformats.org/drawingml/2006/main">
            <a:off x="1785614" y="1257300"/>
            <a:ext cx="3629672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137A1-2D9D-4646-A16C-637F98FB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DE1AD-574F-4B9E-AEDC-B16A0A0A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E68B6-08C5-4B78-BCD8-D5344630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002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Held-out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FABFE-12EB-489A-97C5-E234EA96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Extra Trees and U-Net IoU/F1 appear beside chip-level classification.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15493-D7C6-4E2F-9542-BD1E7772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D73A1-3FB7-4E87-A2A0-E7AD2C6A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DFC6D-97E4-42E0-A625-D6E1EBDD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Visible threshold transfer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EB5DB-1421-4134-BA5A-C288C513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The original LSTM remains visible because weak transfer is useful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95AF3-2A3D-4DDC-B97D-73C1CE26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E5FEF-2AD0-4C2F-A21B-2FA9C24F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22E05-4FB5-4429-BEE6-6BB23D3E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Reproducible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B0147-0EE9-499C-86B4-389002A7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8155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The export points to the accepted baseline artifact and frozen segmentation run.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1504C-4E1B-4A7B-881F-E3090D53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AA3A0"/>
                </a:solidFill>
              </a:defRPr>
            </a:defPPr>
            <a:lvl1pPr algn="l">
              <a:defRPr sz="825" b="0">
                <a:solidFill>
                  <a:srgbClr val="8AA3A0"/>
                </a:solidFill>
              </a:defRPr>
            </a:lvl1pPr>
            <a:lvl2pPr algn="l">
              <a:defRPr sz="825" b="0">
                <a:solidFill>
                  <a:srgbClr val="8AA3A0"/>
                </a:solidFill>
              </a:defRPr>
            </a:lvl2pPr>
            <a:lvl3pPr algn="l">
              <a:defRPr sz="825" b="0">
                <a:solidFill>
                  <a:srgbClr val="8AA3A0"/>
                </a:solidFill>
              </a:defRPr>
            </a:lvl3pPr>
            <a:lvl4pPr algn="l">
              <a:defRPr sz="825" b="0">
                <a:solidFill>
                  <a:srgbClr val="8AA3A0"/>
                </a:solidFill>
              </a:defRPr>
            </a:lvl4pPr>
            <a:lvl5pPr algn="l">
              <a:defRPr sz="825" b="0">
                <a:solidFill>
                  <a:srgbClr val="8AA3A0"/>
                </a:solidFill>
              </a:defRPr>
            </a:lvl5pPr>
            <a:lvl6pPr algn="l">
              <a:defRPr sz="825" b="0">
                <a:solidFill>
                  <a:srgbClr val="8AA3A0"/>
                </a:solidFill>
              </a:defRPr>
            </a:lvl6pPr>
            <a:lvl7pPr algn="l">
              <a:defRPr sz="825" b="0">
                <a:solidFill>
                  <a:srgbClr val="8AA3A0"/>
                </a:solidFill>
              </a:defRPr>
            </a:lvl7pPr>
            <a:lvl8pPr algn="l">
              <a:defRPr sz="825" b="0">
                <a:solidFill>
                  <a:srgbClr val="8AA3A0"/>
                </a:solidFill>
              </a:defRPr>
            </a:lvl8pPr>
            <a:lvl9pPr algn="l">
              <a:defRPr sz="825" b="0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8AA3A0"/>
                </a:solidFill>
              </a:defRPr>
            </a:pPr>
            <a:r>
              <a:rPr sz="825" b="0">
                <a:solidFill>
                  <a:srgbClr val="8AA3A0"/>
                </a:solidFill>
              </a:rPr>
              <a:t>FloodLens final project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A70B1-7BB5-4235-8A88-8485ACF7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8AA3A0"/>
                </a:solidFill>
              </a:defRPr>
            </a:defPPr>
            <a:lvl1pPr algn="r">
              <a:defRPr sz="825" b="1">
                <a:solidFill>
                  <a:srgbClr val="8AA3A0"/>
                </a:solidFill>
              </a:defRPr>
            </a:lvl1pPr>
            <a:lvl2pPr algn="r">
              <a:defRPr sz="825" b="1">
                <a:solidFill>
                  <a:srgbClr val="8AA3A0"/>
                </a:solidFill>
              </a:defRPr>
            </a:lvl2pPr>
            <a:lvl3pPr algn="r">
              <a:defRPr sz="825" b="1">
                <a:solidFill>
                  <a:srgbClr val="8AA3A0"/>
                </a:solidFill>
              </a:defRPr>
            </a:lvl3pPr>
            <a:lvl4pPr algn="r">
              <a:defRPr sz="825" b="1">
                <a:solidFill>
                  <a:srgbClr val="8AA3A0"/>
                </a:solidFill>
              </a:defRPr>
            </a:lvl4pPr>
            <a:lvl5pPr algn="r">
              <a:defRPr sz="825" b="1">
                <a:solidFill>
                  <a:srgbClr val="8AA3A0"/>
                </a:solidFill>
              </a:defRPr>
            </a:lvl5pPr>
            <a:lvl6pPr algn="r">
              <a:defRPr sz="825" b="1">
                <a:solidFill>
                  <a:srgbClr val="8AA3A0"/>
                </a:solidFill>
              </a:defRPr>
            </a:lvl6pPr>
            <a:lvl7pPr algn="r">
              <a:defRPr sz="825" b="1">
                <a:solidFill>
                  <a:srgbClr val="8AA3A0"/>
                </a:solidFill>
              </a:defRPr>
            </a:lvl7pPr>
            <a:lvl8pPr algn="r">
              <a:defRPr sz="825" b="1">
                <a:solidFill>
                  <a:srgbClr val="8AA3A0"/>
                </a:solidFill>
              </a:defRPr>
            </a:lvl8pPr>
            <a:lvl9pPr algn="r">
              <a:defRPr sz="825" b="1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AA3A0"/>
                </a:solidFill>
              </a:defRPr>
            </a:pPr>
            <a:r>
              <a:rPr sz="825" b="1">
                <a:solidFill>
                  <a:srgbClr val="8AA3A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26697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483934-8D29-43A9-B13A-9AF5DC8A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2B11D-6573-4490-8841-151D4609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Failure analysis on a held-out satellite chip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88766-660E-469E-A66F-058AB92E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Bolivia_129334 has full radar coverage, so the four panels can be compared without a confusing no-data swath.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87D40-EE71-4777-BC60-034D7D00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7A832-1EE9-46C7-AA0F-E1FF6193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Radar input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6CF48-72CD-469D-B981-89FD79ACF3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6d8b3cca54cb9"/>
          <a:stretch xmlns:a="http://schemas.openxmlformats.org/drawingml/2006/main"/>
        </p:blipFill>
        <p:spPr>
          <a:xfrm xmlns:a="http://schemas.openxmlformats.org/drawingml/2006/main">
            <a:off x="83820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1DBE2-57F6-4ED7-A5FE-486B1385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Verified label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B50C4-FBF4-4E0D-A3AC-4659F5F28A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01860cd3345b4"/>
          <a:stretch xmlns:a="http://schemas.openxmlformats.org/drawingml/2006/main"/>
        </p:blipFill>
        <p:spPr>
          <a:xfrm xmlns:a="http://schemas.openxmlformats.org/drawingml/2006/main">
            <a:off x="356235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D3086-A207-4779-9A35-35FF5257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U-Net prediction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5F211-AC9A-440B-ACBC-DFB3EE180D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8d277a09645eb"/>
          <a:stretch xmlns:a="http://schemas.openxmlformats.org/drawingml/2006/main"/>
        </p:blipFill>
        <p:spPr>
          <a:xfrm xmlns:a="http://schemas.openxmlformats.org/drawingml/2006/main">
            <a:off x="628650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78CA5-B4C9-4F85-BA27-9582E1BF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E86F51"/>
                </a:solidFill>
              </a:defRPr>
            </a:defPPr>
            <a:lvl1pPr algn="ctr">
              <a:defRPr sz="1200" b="1">
                <a:solidFill>
                  <a:srgbClr val="E86F51"/>
                </a:solidFill>
              </a:defRPr>
            </a:lvl1pPr>
            <a:lvl2pPr algn="ctr">
              <a:defRPr sz="1200" b="1">
                <a:solidFill>
                  <a:srgbClr val="E86F51"/>
                </a:solidFill>
              </a:defRPr>
            </a:lvl2pPr>
            <a:lvl3pPr algn="ctr">
              <a:defRPr sz="1200" b="1">
                <a:solidFill>
                  <a:srgbClr val="E86F51"/>
                </a:solidFill>
              </a:defRPr>
            </a:lvl3pPr>
            <a:lvl4pPr algn="ctr">
              <a:defRPr sz="1200" b="1">
                <a:solidFill>
                  <a:srgbClr val="E86F51"/>
                </a:solidFill>
              </a:defRPr>
            </a:lvl4pPr>
            <a:lvl5pPr algn="ctr">
              <a:defRPr sz="1200" b="1">
                <a:solidFill>
                  <a:srgbClr val="E86F51"/>
                </a:solidFill>
              </a:defRPr>
            </a:lvl5pPr>
            <a:lvl6pPr algn="ctr">
              <a:defRPr sz="1200" b="1">
                <a:solidFill>
                  <a:srgbClr val="E86F51"/>
                </a:solidFill>
              </a:defRPr>
            </a:lvl6pPr>
            <a:lvl7pPr algn="ctr">
              <a:defRPr sz="1200" b="1">
                <a:solidFill>
                  <a:srgbClr val="E86F51"/>
                </a:solidFill>
              </a:defRPr>
            </a:lvl7pPr>
            <a:lvl8pPr algn="ctr">
              <a:defRPr sz="1200" b="1">
                <a:solidFill>
                  <a:srgbClr val="E86F51"/>
                </a:solidFill>
              </a:defRPr>
            </a:lvl8pPr>
            <a:lvl9pPr algn="ctr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Error overlay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2D490-18AE-41D7-92E1-3AFD3EB8E5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837acf8da4ac9"/>
          <a:stretch xmlns:a="http://schemas.openxmlformats.org/drawingml/2006/main"/>
        </p:blipFill>
        <p:spPr>
          <a:xfrm xmlns:a="http://schemas.openxmlformats.org/drawingml/2006/main">
            <a:off x="901065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420DC-2D7C-4032-8413-28BB1EBF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80374-2F51-45A5-B26F-0C907DBF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How to read this chip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848F6-DD62-4ED7-B00B-992F25B3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65E67-2273-4A98-8876-D091F7F7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Observed water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E3214-A1DD-42F0-AD20-C4821447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29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757"/>
          </a:solidFill>
          <a:ln xmlns:a="http://schemas.openxmlformats.org/drawingml/2006/main" w="0">
            <a:solidFill>
              <a:srgbClr val="D9575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70C74-48D6-47B3-B061-FCE8DAF1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False water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9DA6E-D319-465B-946F-96EE0A0C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3A"/>
          </a:solidFill>
          <a:ln xmlns:a="http://schemas.openxmlformats.org/drawingml/2006/main" w="0">
            <a:solidFill>
              <a:srgbClr val="F2A2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B22E5-0D69-41AC-A5A8-A44D01B5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Missed water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0E3F9-E641-4F19-98B3-0CC38F86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991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6B6B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8902CA-58B1-4A03-A45C-DB7A4730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No label / outside valid footprint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4681A-C1D8-46EA-B9A6-08816855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Chip U-Net IoU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29E4CC-A448-43B5-AB53-18551B8E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76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26B6CF"/>
                </a:solidFill>
              </a:defRPr>
            </a:defPPr>
            <a:lvl1pPr algn="l">
              <a:defRPr sz="2400" b="1">
                <a:solidFill>
                  <a:srgbClr val="26B6CF"/>
                </a:solidFill>
              </a:defRPr>
            </a:lvl1pPr>
            <a:lvl2pPr algn="l">
              <a:defRPr sz="2400" b="1">
                <a:solidFill>
                  <a:srgbClr val="26B6CF"/>
                </a:solidFill>
              </a:defRPr>
            </a:lvl2pPr>
            <a:lvl3pPr algn="l">
              <a:defRPr sz="2400" b="1">
                <a:solidFill>
                  <a:srgbClr val="26B6CF"/>
                </a:solidFill>
              </a:defRPr>
            </a:lvl3pPr>
            <a:lvl4pPr algn="l">
              <a:defRPr sz="2400" b="1">
                <a:solidFill>
                  <a:srgbClr val="26B6CF"/>
                </a:solidFill>
              </a:defRPr>
            </a:lvl4pPr>
            <a:lvl5pPr algn="l">
              <a:defRPr sz="2400" b="1">
                <a:solidFill>
                  <a:srgbClr val="26B6CF"/>
                </a:solidFill>
              </a:defRPr>
            </a:lvl5pPr>
            <a:lvl6pPr algn="l">
              <a:defRPr sz="2400" b="1">
                <a:solidFill>
                  <a:srgbClr val="26B6CF"/>
                </a:solidFill>
              </a:defRPr>
            </a:lvl6pPr>
            <a:lvl7pPr algn="l">
              <a:defRPr sz="2400" b="1">
                <a:solidFill>
                  <a:srgbClr val="26B6CF"/>
                </a:solidFill>
              </a:defRPr>
            </a:lvl7pPr>
            <a:lvl8pPr algn="l">
              <a:defRPr sz="2400" b="1">
                <a:solidFill>
                  <a:srgbClr val="26B6CF"/>
                </a:solidFill>
              </a:defRPr>
            </a:lvl8pPr>
            <a:lvl9pPr algn="l">
              <a:defRPr sz="240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6B6CF"/>
                </a:solidFill>
              </a:defRPr>
            </a:pPr>
            <a:r>
              <a:rPr sz="2400" b="1">
                <a:solidFill>
                  <a:srgbClr val="26B6CF"/>
                </a:solidFill>
              </a:rPr>
              <a:t>0.807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1EF7D4-DDB6-49F1-BEB1-8B4FD48B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Chip precision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B25E3-5F0C-4204-AF01-7E149694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D6B5E"/>
                </a:solidFill>
              </a:defRPr>
            </a:defPPr>
            <a:lvl1pPr algn="l">
              <a:defRPr sz="2400" b="1">
                <a:solidFill>
                  <a:srgbClr val="0D6B5E"/>
                </a:solidFill>
              </a:defRPr>
            </a:lvl1pPr>
            <a:lvl2pPr algn="l">
              <a:defRPr sz="2400" b="1">
                <a:solidFill>
                  <a:srgbClr val="0D6B5E"/>
                </a:solidFill>
              </a:defRPr>
            </a:lvl2pPr>
            <a:lvl3pPr algn="l">
              <a:defRPr sz="2400" b="1">
                <a:solidFill>
                  <a:srgbClr val="0D6B5E"/>
                </a:solidFill>
              </a:defRPr>
            </a:lvl3pPr>
            <a:lvl4pPr algn="l">
              <a:defRPr sz="2400" b="1">
                <a:solidFill>
                  <a:srgbClr val="0D6B5E"/>
                </a:solidFill>
              </a:defRPr>
            </a:lvl4pPr>
            <a:lvl5pPr algn="l">
              <a:defRPr sz="2400" b="1">
                <a:solidFill>
                  <a:srgbClr val="0D6B5E"/>
                </a:solidFill>
              </a:defRPr>
            </a:lvl5pPr>
            <a:lvl6pPr algn="l">
              <a:defRPr sz="2400" b="1">
                <a:solidFill>
                  <a:srgbClr val="0D6B5E"/>
                </a:solidFill>
              </a:defRPr>
            </a:lvl6pPr>
            <a:lvl7pPr algn="l">
              <a:defRPr sz="2400" b="1">
                <a:solidFill>
                  <a:srgbClr val="0D6B5E"/>
                </a:solidFill>
              </a:defRPr>
            </a:lvl7pPr>
            <a:lvl8pPr algn="l">
              <a:defRPr sz="2400" b="1">
                <a:solidFill>
                  <a:srgbClr val="0D6B5E"/>
                </a:solidFill>
              </a:defRPr>
            </a:lvl8pPr>
            <a:lvl9pPr algn="l">
              <a:defRPr sz="24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D6B5E"/>
                </a:solidFill>
              </a:defRPr>
            </a:pPr>
            <a:r>
              <a:rPr sz="2400" b="1">
                <a:solidFill>
                  <a:srgbClr val="0D6B5E"/>
                </a:solidFill>
              </a:rPr>
              <a:t>0.965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6D57BB-E4F8-4D6E-8CC5-D34CE895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E86F51"/>
                </a:solidFill>
              </a:defRPr>
            </a:defPPr>
            <a:lvl1pPr algn="l">
              <a:defRPr sz="1050" b="1">
                <a:solidFill>
                  <a:srgbClr val="E86F51"/>
                </a:solidFill>
              </a:defRPr>
            </a:lvl1pPr>
            <a:lvl2pPr algn="l">
              <a:defRPr sz="1050" b="1">
                <a:solidFill>
                  <a:srgbClr val="E86F51"/>
                </a:solidFill>
              </a:defRPr>
            </a:lvl2pPr>
            <a:lvl3pPr algn="l">
              <a:defRPr sz="1050" b="1">
                <a:solidFill>
                  <a:srgbClr val="E86F51"/>
                </a:solidFill>
              </a:defRPr>
            </a:lvl3pPr>
            <a:lvl4pPr algn="l">
              <a:defRPr sz="1050" b="1">
                <a:solidFill>
                  <a:srgbClr val="E86F51"/>
                </a:solidFill>
              </a:defRPr>
            </a:lvl4pPr>
            <a:lvl5pPr algn="l">
              <a:defRPr sz="1050" b="1">
                <a:solidFill>
                  <a:srgbClr val="E86F51"/>
                </a:solidFill>
              </a:defRPr>
            </a:lvl5pPr>
            <a:lvl6pPr algn="l">
              <a:defRPr sz="1050" b="1">
                <a:solidFill>
                  <a:srgbClr val="E86F51"/>
                </a:solidFill>
              </a:defRPr>
            </a:lvl6pPr>
            <a:lvl7pPr algn="l">
              <a:defRPr sz="1050" b="1">
                <a:solidFill>
                  <a:srgbClr val="E86F51"/>
                </a:solidFill>
              </a:defRPr>
            </a:lvl7pPr>
            <a:lvl8pPr algn="l">
              <a:defRPr sz="1050" b="1">
                <a:solidFill>
                  <a:srgbClr val="E86F51"/>
                </a:solidFill>
              </a:defRPr>
            </a:lvl8pPr>
            <a:lvl9pPr algn="l">
              <a:defRPr sz="10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86F51"/>
                </a:solidFill>
              </a:defRPr>
            </a:pPr>
            <a:r>
              <a:rPr sz="1050" b="1">
                <a:solidFill>
                  <a:srgbClr val="E86F51"/>
                </a:solidFill>
              </a:rPr>
              <a:t>Interpretation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30367-4BE9-499C-A8E2-9BAE92A1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3395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26262"/>
                </a:solidFill>
              </a:defRPr>
            </a:defPPr>
            <a:lvl1pPr algn="l">
              <a:defRPr sz="975" b="0">
                <a:solidFill>
                  <a:srgbClr val="526262"/>
                </a:solidFill>
              </a:defRPr>
            </a:lvl1pPr>
            <a:lvl2pPr algn="l">
              <a:defRPr sz="975" b="0">
                <a:solidFill>
                  <a:srgbClr val="526262"/>
                </a:solidFill>
              </a:defRPr>
            </a:lvl2pPr>
            <a:lvl3pPr algn="l">
              <a:defRPr sz="975" b="0">
                <a:solidFill>
                  <a:srgbClr val="526262"/>
                </a:solidFill>
              </a:defRPr>
            </a:lvl3pPr>
            <a:lvl4pPr algn="l">
              <a:defRPr sz="975" b="0">
                <a:solidFill>
                  <a:srgbClr val="526262"/>
                </a:solidFill>
              </a:defRPr>
            </a:lvl4pPr>
            <a:lvl5pPr algn="l">
              <a:defRPr sz="975" b="0">
                <a:solidFill>
                  <a:srgbClr val="526262"/>
                </a:solidFill>
              </a:defRPr>
            </a:lvl5pPr>
            <a:lvl6pPr algn="l">
              <a:defRPr sz="975" b="0">
                <a:solidFill>
                  <a:srgbClr val="526262"/>
                </a:solidFill>
              </a:defRPr>
            </a:lvl6pPr>
            <a:lvl7pPr algn="l">
              <a:defRPr sz="975" b="0">
                <a:solidFill>
                  <a:srgbClr val="526262"/>
                </a:solidFill>
              </a:defRPr>
            </a:lvl7pPr>
            <a:lvl8pPr algn="l">
              <a:defRPr sz="975" b="0">
                <a:solidFill>
                  <a:srgbClr val="526262"/>
                </a:solidFill>
              </a:defRPr>
            </a:lvl8pPr>
            <a:lvl9pPr algn="l">
              <a:defRPr sz="9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26262"/>
                </a:solidFill>
              </a:defRPr>
            </a:pPr>
            <a:r>
              <a:rPr sz="975" b="0">
                <a:solidFill>
                  <a:srgbClr val="526262"/>
                </a:solidFill>
              </a:rPr>
              <a:t>The U-Net recovers most of the broad labelled water area. Remaining mistakes concentrate around narrow boundaries and small disconnected regions.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EA43E7-C99B-4AC6-A9E5-8CDDAE4C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D0941F-BB94-42D1-97F9-657C44D4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909849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2F32ED-EBD0-427C-A201-5D9052BF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31683-3C1D-45EA-8FD8-F4E6FF64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A higher F1 can still hide a bad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E1BA7-58F8-45F9-9F74-D05297E8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event-balanced LSTM v2 reached F1 0.603 by predicting every held-out chip as positive.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8EE3E-913B-49E5-8486-8C13C219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EB5F9-6A38-4964-800B-D8AAC4E1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51435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3C4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F5197-9D59-4FDF-9D25-FBE1E516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6F51"/>
                </a:solidFill>
              </a:defRPr>
            </a:defPPr>
            <a:lvl1pPr algn="l">
              <a:defRPr sz="1650" b="1">
                <a:solidFill>
                  <a:srgbClr val="E86F51"/>
                </a:solidFill>
              </a:defRPr>
            </a:lvl1pPr>
            <a:lvl2pPr algn="l">
              <a:defRPr sz="1650" b="1">
                <a:solidFill>
                  <a:srgbClr val="E86F51"/>
                </a:solidFill>
              </a:defRPr>
            </a:lvl2pPr>
            <a:lvl3pPr algn="l">
              <a:defRPr sz="1650" b="1">
                <a:solidFill>
                  <a:srgbClr val="E86F51"/>
                </a:solidFill>
              </a:defRPr>
            </a:lvl3pPr>
            <a:lvl4pPr algn="l">
              <a:defRPr sz="1650" b="1">
                <a:solidFill>
                  <a:srgbClr val="E86F51"/>
                </a:solidFill>
              </a:defRPr>
            </a:lvl4pPr>
            <a:lvl5pPr algn="l">
              <a:defRPr sz="1650" b="1">
                <a:solidFill>
                  <a:srgbClr val="E86F51"/>
                </a:solidFill>
              </a:defRPr>
            </a:lvl5pPr>
            <a:lvl6pPr algn="l">
              <a:defRPr sz="1650" b="1">
                <a:solidFill>
                  <a:srgbClr val="E86F51"/>
                </a:solidFill>
              </a:defRPr>
            </a:lvl6pPr>
            <a:lvl7pPr algn="l">
              <a:defRPr sz="1650" b="1">
                <a:solidFill>
                  <a:srgbClr val="E86F51"/>
                </a:solidFill>
              </a:defRPr>
            </a:lvl7pPr>
            <a:lvl8pPr algn="l">
              <a:defRPr sz="1650" b="1">
                <a:solidFill>
                  <a:srgbClr val="E86F51"/>
                </a:solidFill>
              </a:defRPr>
            </a:lvl8pPr>
            <a:lvl9pPr algn="l">
              <a:defRPr sz="16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6F51"/>
                </a:solidFill>
              </a:defRPr>
            </a:pPr>
            <a:r>
              <a:rPr sz="1650" b="1">
                <a:solidFill>
                  <a:srgbClr val="E86F51"/>
                </a:solidFill>
              </a:rPr>
              <a:t>Rejected LSTM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82593-6B17-4BD7-B553-D901EA8E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81 / 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E9DF7-BDAC-48CF-A534-46680973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chips predicted positive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4E232-A857-46E4-81C2-BD8324FE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A224D-13DC-4A9C-AD6B-B1CB0172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true negatives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B54CF-6F29-4405-8ECB-C13889FF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2A"/>
                </a:solidFill>
              </a:defRPr>
            </a:defPPr>
            <a:lvl1pPr algn="l">
              <a:defRPr sz="1500" b="1">
                <a:solidFill>
                  <a:srgbClr val="102A2A"/>
                </a:solidFill>
              </a:defRPr>
            </a:lvl1pPr>
            <a:lvl2pPr algn="l">
              <a:defRPr sz="1500" b="1">
                <a:solidFill>
                  <a:srgbClr val="102A2A"/>
                </a:solidFill>
              </a:defRPr>
            </a:lvl2pPr>
            <a:lvl3pPr algn="l">
              <a:defRPr sz="1500" b="1">
                <a:solidFill>
                  <a:srgbClr val="102A2A"/>
                </a:solidFill>
              </a:defRPr>
            </a:lvl3pPr>
            <a:lvl4pPr algn="l">
              <a:defRPr sz="1500" b="1">
                <a:solidFill>
                  <a:srgbClr val="102A2A"/>
                </a:solidFill>
              </a:defRPr>
            </a:lvl4pPr>
            <a:lvl5pPr algn="l">
              <a:defRPr sz="1500" b="1">
                <a:solidFill>
                  <a:srgbClr val="102A2A"/>
                </a:solidFill>
              </a:defRPr>
            </a:lvl5pPr>
            <a:lvl6pPr algn="l">
              <a:defRPr sz="1500" b="1">
                <a:solidFill>
                  <a:srgbClr val="102A2A"/>
                </a:solidFill>
              </a:defRPr>
            </a:lvl6pPr>
            <a:lvl7pPr algn="l">
              <a:defRPr sz="1500" b="1">
                <a:solidFill>
                  <a:srgbClr val="102A2A"/>
                </a:solidFill>
              </a:defRPr>
            </a:lvl7pPr>
            <a:lvl8pPr algn="l">
              <a:defRPr sz="1500" b="1">
                <a:solidFill>
                  <a:srgbClr val="102A2A"/>
                </a:solidFill>
              </a:defRPr>
            </a:lvl8pPr>
            <a:lvl9pPr algn="l">
              <a:defRPr sz="150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The apparent F1 improvement did not represent a useful decision rule.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9E0A5-352B-4DA1-B311-D917AFB1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52959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337DE-6152-4C26-BAEE-67F3D5D4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D6B5E"/>
                </a:solidFill>
              </a:defRPr>
            </a:defPPr>
            <a:lvl1pPr algn="l">
              <a:defRPr sz="1650" b="1">
                <a:solidFill>
                  <a:srgbClr val="0D6B5E"/>
                </a:solidFill>
              </a:defRPr>
            </a:lvl1pPr>
            <a:lvl2pPr algn="l">
              <a:defRPr sz="1650" b="1">
                <a:solidFill>
                  <a:srgbClr val="0D6B5E"/>
                </a:solidFill>
              </a:defRPr>
            </a:lvl2pPr>
            <a:lvl3pPr algn="l">
              <a:defRPr sz="1650" b="1">
                <a:solidFill>
                  <a:srgbClr val="0D6B5E"/>
                </a:solidFill>
              </a:defRPr>
            </a:lvl3pPr>
            <a:lvl4pPr algn="l">
              <a:defRPr sz="1650" b="1">
                <a:solidFill>
                  <a:srgbClr val="0D6B5E"/>
                </a:solidFill>
              </a:defRPr>
            </a:lvl4pPr>
            <a:lvl5pPr algn="l">
              <a:defRPr sz="1650" b="1">
                <a:solidFill>
                  <a:srgbClr val="0D6B5E"/>
                </a:solidFill>
              </a:defRPr>
            </a:lvl5pPr>
            <a:lvl6pPr algn="l">
              <a:defRPr sz="1650" b="1">
                <a:solidFill>
                  <a:srgbClr val="0D6B5E"/>
                </a:solidFill>
              </a:defRPr>
            </a:lvl6pPr>
            <a:lvl7pPr algn="l">
              <a:defRPr sz="1650" b="1">
                <a:solidFill>
                  <a:srgbClr val="0D6B5E"/>
                </a:solidFill>
              </a:defRPr>
            </a:lvl7pPr>
            <a:lvl8pPr algn="l">
              <a:defRPr sz="1650" b="1">
                <a:solidFill>
                  <a:srgbClr val="0D6B5E"/>
                </a:solidFill>
              </a:defRPr>
            </a:lvl8pPr>
            <a:lvl9pPr algn="l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Accepted spatial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80CD9-C4E6-4763-9E98-AAF06FFB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0.667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1E6FE-C8A7-481E-AE3C-2B27CE1F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CC172-27D4-4777-9B55-6FDC4126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0.864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490B3-642D-48F7-AD22-1F89CBAC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precision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B2509-F45D-42B0-8F11-47C9EF49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2A"/>
                </a:solidFill>
              </a:defRPr>
            </a:defPPr>
            <a:lvl1pPr algn="l">
              <a:defRPr sz="1500" b="1">
                <a:solidFill>
                  <a:srgbClr val="102A2A"/>
                </a:solidFill>
              </a:defRPr>
            </a:lvl1pPr>
            <a:lvl2pPr algn="l">
              <a:defRPr sz="1500" b="1">
                <a:solidFill>
                  <a:srgbClr val="102A2A"/>
                </a:solidFill>
              </a:defRPr>
            </a:lvl2pPr>
            <a:lvl3pPr algn="l">
              <a:defRPr sz="1500" b="1">
                <a:solidFill>
                  <a:srgbClr val="102A2A"/>
                </a:solidFill>
              </a:defRPr>
            </a:lvl3pPr>
            <a:lvl4pPr algn="l">
              <a:defRPr sz="1500" b="1">
                <a:solidFill>
                  <a:srgbClr val="102A2A"/>
                </a:solidFill>
              </a:defRPr>
            </a:lvl4pPr>
            <a:lvl5pPr algn="l">
              <a:defRPr sz="1500" b="1">
                <a:solidFill>
                  <a:srgbClr val="102A2A"/>
                </a:solidFill>
              </a:defRPr>
            </a:lvl5pPr>
            <a:lvl6pPr algn="l">
              <a:defRPr sz="1500" b="1">
                <a:solidFill>
                  <a:srgbClr val="102A2A"/>
                </a:solidFill>
              </a:defRPr>
            </a:lvl6pPr>
            <a:lvl7pPr algn="l">
              <a:defRPr sz="1500" b="1">
                <a:solidFill>
                  <a:srgbClr val="102A2A"/>
                </a:solidFill>
              </a:defRPr>
            </a:lvl7pPr>
            <a:lvl8pPr algn="l">
              <a:defRPr sz="1500" b="1">
                <a:solidFill>
                  <a:srgbClr val="102A2A"/>
                </a:solidFill>
              </a:defRPr>
            </a:lvl8pPr>
            <a:lvl9pPr algn="l">
              <a:defRPr sz="150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It preserves positive and negative decisions, with PR-AUC 0.871 and ROC-AUC 0.909.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5101B-79B6-4EAD-A151-5C91F3DE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D6B5E"/>
                </a:solidFill>
              </a:defRPr>
            </a:defPPr>
            <a:lvl1pPr algn="ctr">
              <a:defRPr sz="1575" b="1">
                <a:solidFill>
                  <a:srgbClr val="0D6B5E"/>
                </a:solidFill>
              </a:defRPr>
            </a:lvl1pPr>
            <a:lvl2pPr algn="ctr">
              <a:defRPr sz="1575" b="1">
                <a:solidFill>
                  <a:srgbClr val="0D6B5E"/>
                </a:solidFill>
              </a:defRPr>
            </a:lvl2pPr>
            <a:lvl3pPr algn="ctr">
              <a:defRPr sz="1575" b="1">
                <a:solidFill>
                  <a:srgbClr val="0D6B5E"/>
                </a:solidFill>
              </a:defRPr>
            </a:lvl3pPr>
            <a:lvl4pPr algn="ctr">
              <a:defRPr sz="1575" b="1">
                <a:solidFill>
                  <a:srgbClr val="0D6B5E"/>
                </a:solidFill>
              </a:defRPr>
            </a:lvl4pPr>
            <a:lvl5pPr algn="ctr">
              <a:defRPr sz="1575" b="1">
                <a:solidFill>
                  <a:srgbClr val="0D6B5E"/>
                </a:solidFill>
              </a:defRPr>
            </a:lvl5pPr>
            <a:lvl6pPr algn="ctr">
              <a:defRPr sz="1575" b="1">
                <a:solidFill>
                  <a:srgbClr val="0D6B5E"/>
                </a:solidFill>
              </a:defRPr>
            </a:lvl6pPr>
            <a:lvl7pPr algn="ctr">
              <a:defRPr sz="1575" b="1">
                <a:solidFill>
                  <a:srgbClr val="0D6B5E"/>
                </a:solidFill>
              </a:defRPr>
            </a:lvl7pPr>
            <a:lvl8pPr algn="ctr">
              <a:defRPr sz="1575" b="1">
                <a:solidFill>
                  <a:srgbClr val="0D6B5E"/>
                </a:solidFill>
              </a:defRPr>
            </a:lvl8pPr>
            <a:lvl9pPr algn="ctr">
              <a:defRPr sz="15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D6B5E"/>
                </a:solidFill>
              </a:defRPr>
            </a:pPr>
            <a:r>
              <a:rPr sz="1575" b="1">
                <a:solidFill>
                  <a:srgbClr val="0D6B5E"/>
                </a:solidFill>
              </a:rPr>
              <a:t>Model selection uses the confusion pattern and threshold-independent metrics, not F1 alone.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A5E62-4453-4713-86E8-3D784D3F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59BEF-9B51-4E71-880C-4786260C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734370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6AC638-5760-4863-B5AE-CD3D3016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491D2-DC3C-42E1-AD53-05412E7C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Final deliverables produced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B641A-1A1B-412D-A9CA-5FF8247C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project now includes a resident application, a research laboratory, verified local data, trained models, and reproducible documentation.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A38FD-B5D7-4A59-88BA-A97BA288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6879F-1281-43AB-81F3-D86FB9B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F97B1-9DEC-4E10-BDD4-5615C43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496C7-9083-4E7A-9F3A-78C024BF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Resident 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67DC9-8411-40EF-A1B5-2F7D4404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Guided map workflow, 1/2/5 km assessment circles, asynchronous job progress, factor cards, source disclosures, comparison snapshots, and print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898C1-656E-4363-BC7C-ACF49AA5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BF243-F802-46BA-83EF-071B46B6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B0066-2D60-4413-B37B-51E720CC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Historical Event 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4CFA3-DF2D-4983-A1D3-C658BDE3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event and chip selection, synchronized radar/label/prediction panels, model switching, zoom, opacity, failure sorting, run provenance, and experiment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545B6-E57E-4C3E-B3C6-705E0901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9F5F9-51F9-4E9F-9A0A-924B3C1B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FD548-570B-4046-831F-6094EFAE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Model and data 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5EA7F-C84B-475F-9351-A70D6E5B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Accepted classification and segmentation runs, frozen thresholds, predictions, metrics, event split, local dataset registry, and provenance-aware imports.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A678A-41A3-4587-A9F3-8114BBAB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5BDAC-F3CE-4489-AE18-D85AE16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EF6C4-458A-40E9-8D25-A1579AB7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Deployment package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2F8A5-0CD9-4E4B-BC6F-744C232D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Docker Compose runs the app, worker, and PostGIS database. The same app serves the resident site and /research/ viewer.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A6383-8FFA-4461-AAC4-DAF9B2E3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899E9-B293-46B2-9286-FE31902E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CA5B4-65D5-4A0A-A581-007CB9C0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Project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BAABB-825B-4E75-B63B-EBA92201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Technical README files, method notes, source inventory, reproducible run instructions, screenshots, and this final presentation.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F92F8C-C2C1-4F17-BF8C-7E6546D7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17E782-96C7-44D7-B7A7-D43D500F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3A465D-AE29-401A-B9EF-915173BC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Safety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74B496-089C-40C8-ADFF-5091220D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Unavailable data stays unavailable. Research output remains outside the resident assessment and carries no warning or property-risk claim.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E33B1A-A86B-448B-A7A0-F6E4B402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31F6E9-BB59-4B12-9771-027E7ACB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811114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0EE3DD-8D54-4088-9CA2-FFFE82A1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1E6AF-3C61-42D0-8947-2EBC1BA3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Final result: what a user receives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99349-4BE6-4B1A-85FF-6F5EB576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completed assessment turns multiple technical data sources into a short, understandable neighbourhood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0EA34-3262-4AD2-BA8E-1A6D910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4738C-70C5-4B12-98A5-2910645E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2D75E-A98C-4343-892B-06B02918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FB584-526F-4218-A74F-D22CA50D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CFB2D-A235-4985-B504-94622D4D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763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Location and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6C21B-17BB-4181-BAB7-E2B13A9A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668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Selected map point, exact coordinates when expanded, and the chosen 1 km, 2 km, or 5 km circle.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D68B1-82C2-4741-8C64-7A2DC52B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40224-BAD8-463C-ADA4-03DA16C6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FFAC5-C35C-4839-AF5F-E25F093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02064-4681-4B6D-9C3F-AD6F7693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526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Land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F8F36-25E9-4F8D-B6CF-6A5ABF28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Relative terrain susceptibility, factor explanation, coverage ratio, and a clear statement that the score is not flood probability.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677EA-84BA-40A4-B38B-A690DCE2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3C4B6-039A-4D3F-B04A-416E29E3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C26D2-F457-4F09-8C87-5F255028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08C83-66CB-4BE3-AE2B-6AE98E98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289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Rainfall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0543B-8684-4FE3-A7CF-CBD81F31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Provider, forecast window, total rainfall, intensity context, and an unavailable state if the provider cannot return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844FF-3094-42BC-A540-0A1A9352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836AE-4D52-43BE-A8C2-38C94E95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7048B-AE92-45CE-880F-2ECDCDAE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846E0-80F1-44E5-8EC7-34E61E6E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River and basin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D4F9F4-DEF4-4831-8B43-6565E1DF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Containing basin, upstream context, nearest mapped river distance, and wording that prevents property-level interpretation.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FC573-D3F0-41CD-B5CF-FF2EE60E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0A771D-FE88-4778-A2C4-843B1AA5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  <a:ln xmlns:a="http://schemas.openxmlformats.org/drawingml/2006/main" w="9525">
            <a:solidFill>
              <a:srgbClr val="E86F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A54433-4DF6-4C18-B382-C8ADB75A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49E6C4-9BC8-476B-9F14-5CD85E22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815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Evidence and provenance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EB3A33-7895-4164-8DE9-01DF6050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Analysis ID, dataset status, import coverage, source versions, timing, technical JSON, and printable output.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9E48C6-EDB0-4E35-996F-958E50B2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The final screen starts with the information residents can act on, while detailed evidence stays available for review.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0EDA25-B9F4-4C6E-B08A-B1B4EE62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0A0DE-2472-4B90-AAFB-387A35F3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414783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2BE11-2635-47B2-96CF-21DA33A3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6B6CF"/>
                </a:solidFill>
              </a:defRPr>
            </a:defPPr>
            <a:lvl1pPr algn="l">
              <a:defRPr sz="1050" b="1">
                <a:solidFill>
                  <a:srgbClr val="26B6CF"/>
                </a:solidFill>
              </a:defRPr>
            </a:lvl1pPr>
            <a:lvl2pPr algn="l">
              <a:defRPr sz="1050" b="1">
                <a:solidFill>
                  <a:srgbClr val="26B6CF"/>
                </a:solidFill>
              </a:defRPr>
            </a:lvl2pPr>
            <a:lvl3pPr algn="l">
              <a:defRPr sz="1050" b="1">
                <a:solidFill>
                  <a:srgbClr val="26B6CF"/>
                </a:solidFill>
              </a:defRPr>
            </a:lvl3pPr>
            <a:lvl4pPr algn="l">
              <a:defRPr sz="1050" b="1">
                <a:solidFill>
                  <a:srgbClr val="26B6CF"/>
                </a:solidFill>
              </a:defRPr>
            </a:lvl4pPr>
            <a:lvl5pPr algn="l">
              <a:defRPr sz="1050" b="1">
                <a:solidFill>
                  <a:srgbClr val="26B6CF"/>
                </a:solidFill>
              </a:defRPr>
            </a:lvl5pPr>
            <a:lvl6pPr algn="l">
              <a:defRPr sz="1050" b="1">
                <a:solidFill>
                  <a:srgbClr val="26B6CF"/>
                </a:solidFill>
              </a:defRPr>
            </a:lvl6pPr>
            <a:lvl7pPr algn="l">
              <a:defRPr sz="1050" b="1">
                <a:solidFill>
                  <a:srgbClr val="26B6CF"/>
                </a:solidFill>
              </a:defRPr>
            </a:lvl7pPr>
            <a:lvl8pPr algn="l">
              <a:defRPr sz="1050" b="1">
                <a:solidFill>
                  <a:srgbClr val="26B6CF"/>
                </a:solidFill>
              </a:defRPr>
            </a:lvl8pPr>
            <a:lvl9pPr algn="l">
              <a:defRPr sz="10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6B6CF"/>
                </a:solidFill>
              </a:defRPr>
            </a:pPr>
            <a:r>
              <a:rPr sz="1050" b="1">
                <a:solidFill>
                  <a:srgbClr val="26B6CF"/>
                </a:solidFill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2BBAC-A778-4268-AFB7-D0F7499F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</a:defRPr>
            </a:defPPr>
            <a:lvl1pPr algn="l">
              <a:defRPr sz="2400" b="1">
                <a:solidFill>
                  <a:srgbClr val="FFFFFF"/>
                </a:solidFill>
              </a:defRPr>
            </a:lvl1pPr>
            <a:lvl2pPr algn="l">
              <a:defRPr sz="2400" b="1">
                <a:solidFill>
                  <a:srgbClr val="FFFFFF"/>
                </a:solidFill>
              </a:defRPr>
            </a:lvl2pPr>
            <a:lvl3pPr algn="l">
              <a:defRPr sz="2400" b="1">
                <a:solidFill>
                  <a:srgbClr val="FFFFFF"/>
                </a:solidFill>
              </a:defRPr>
            </a:lvl3pPr>
            <a:lvl4pPr algn="l">
              <a:defRPr sz="2400" b="1">
                <a:solidFill>
                  <a:srgbClr val="FFFFFF"/>
                </a:solidFill>
              </a:defRPr>
            </a:lvl4pPr>
            <a:lvl5pPr algn="l">
              <a:defRPr sz="2400" b="1">
                <a:solidFill>
                  <a:srgbClr val="FFFFFF"/>
                </a:solidFill>
              </a:defRPr>
            </a:lvl5pPr>
            <a:lvl6pPr algn="l">
              <a:defRPr sz="2400" b="1">
                <a:solidFill>
                  <a:srgbClr val="FFFFFF"/>
                </a:solidFill>
              </a:defRPr>
            </a:lvl6pPr>
            <a:lvl7pPr algn="l">
              <a:defRPr sz="2400" b="1">
                <a:solidFill>
                  <a:srgbClr val="FFFFFF"/>
                </a:solidFill>
              </a:defRPr>
            </a:lvl7pPr>
            <a:lvl8pPr algn="l">
              <a:defRPr sz="2400" b="1">
                <a:solidFill>
                  <a:srgbClr val="FFFFFF"/>
                </a:solidFill>
              </a:defRPr>
            </a:lvl8pPr>
            <a:lvl9pPr algn="l">
              <a:defRPr sz="2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End result and project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91B96-AA28-407C-A63C-AED6BE83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81456-B324-4B43-B458-9CB61313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local resident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C381A-650F-498E-A2D2-FF2281D4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F9856-78D8-4695-A775-A9DED988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historical-event research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42251-614B-4AFE-AC60-3323D4EF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844E3-E51F-432D-8459-5F8CF4F4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Chennai data-backed demonstration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EBE9E-8EF5-47E7-9A2E-A8CC65D0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Exploratory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08B9E-CCF8-4298-81C0-884BC298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95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ML 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CB98F-966F-421F-BDC9-E1A9EA46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96600" cy="1885950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0B292A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41FB5-8A7B-429A-8702-A66DC2A7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Final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309B5-B6ED-4359-9DE7-F9F8BE5E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</a:defRPr>
            </a:defPPr>
            <a:lvl1pPr algn="l">
              <a:defRPr sz="2025" b="1">
                <a:solidFill>
                  <a:srgbClr val="FFFFFF"/>
                </a:solidFill>
              </a:defRPr>
            </a:lvl1pPr>
            <a:lvl2pPr algn="l">
              <a:defRPr sz="2025" b="1">
                <a:solidFill>
                  <a:srgbClr val="FFFFFF"/>
                </a:solidFill>
              </a:defRPr>
            </a:lvl2pPr>
            <a:lvl3pPr algn="l">
              <a:defRPr sz="2025" b="1">
                <a:solidFill>
                  <a:srgbClr val="FFFFFF"/>
                </a:solidFill>
              </a:defRPr>
            </a:lvl3pPr>
            <a:lvl4pPr algn="l">
              <a:defRPr sz="2025" b="1">
                <a:solidFill>
                  <a:srgbClr val="FFFFFF"/>
                </a:solidFill>
              </a:defRPr>
            </a:lvl4pPr>
            <a:lvl5pPr algn="l">
              <a:defRPr sz="2025" b="1">
                <a:solidFill>
                  <a:srgbClr val="FFFFFF"/>
                </a:solidFill>
              </a:defRPr>
            </a:lvl5pPr>
            <a:lvl6pPr algn="l">
              <a:defRPr sz="2025" b="1">
                <a:solidFill>
                  <a:srgbClr val="FFFFFF"/>
                </a:solidFill>
              </a:defRPr>
            </a:lvl6pPr>
            <a:lvl7pPr algn="l">
              <a:defRPr sz="2025" b="1">
                <a:solidFill>
                  <a:srgbClr val="FFFFFF"/>
                </a:solidFill>
              </a:defRPr>
            </a:lvl7pPr>
            <a:lvl8pPr algn="l">
              <a:defRPr sz="2025" b="1">
                <a:solidFill>
                  <a:srgbClr val="FFFFFF"/>
                </a:solidFill>
              </a:defRPr>
            </a:lvl8pPr>
            <a:lvl9pPr algn="l"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FloodLens successfully demonstrates how terrain, forecast rainfall, river-basin context, and historical-event ML analysis can be combined in one transparent project without presenting experimental predictions as public warnings.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0AB41-1F2A-4AF4-908C-7517246D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6B6CF"/>
                </a:solidFill>
              </a:defRPr>
            </a:defPPr>
            <a:lvl1pPr algn="l">
              <a:defRPr sz="1275" b="1">
                <a:solidFill>
                  <a:srgbClr val="26B6CF"/>
                </a:solidFill>
              </a:defRPr>
            </a:lvl1pPr>
            <a:lvl2pPr algn="l">
              <a:defRPr sz="1275" b="1">
                <a:solidFill>
                  <a:srgbClr val="26B6CF"/>
                </a:solidFill>
              </a:defRPr>
            </a:lvl2pPr>
            <a:lvl3pPr algn="l">
              <a:defRPr sz="1275" b="1">
                <a:solidFill>
                  <a:srgbClr val="26B6CF"/>
                </a:solidFill>
              </a:defRPr>
            </a:lvl3pPr>
            <a:lvl4pPr algn="l">
              <a:defRPr sz="1275" b="1">
                <a:solidFill>
                  <a:srgbClr val="26B6CF"/>
                </a:solidFill>
              </a:defRPr>
            </a:lvl4pPr>
            <a:lvl5pPr algn="l">
              <a:defRPr sz="1275" b="1">
                <a:solidFill>
                  <a:srgbClr val="26B6CF"/>
                </a:solidFill>
              </a:defRPr>
            </a:lvl5pPr>
            <a:lvl6pPr algn="l">
              <a:defRPr sz="1275" b="1">
                <a:solidFill>
                  <a:srgbClr val="26B6CF"/>
                </a:solidFill>
              </a:defRPr>
            </a:lvl6pPr>
            <a:lvl7pPr algn="l">
              <a:defRPr sz="1275" b="1">
                <a:solidFill>
                  <a:srgbClr val="26B6CF"/>
                </a:solidFill>
              </a:defRPr>
            </a:lvl7pPr>
            <a:lvl8pPr algn="l">
              <a:defRPr sz="1275" b="1">
                <a:solidFill>
                  <a:srgbClr val="26B6CF"/>
                </a:solidFill>
              </a:defRPr>
            </a:lvl8pPr>
            <a:lvl9pPr algn="l">
              <a:defRPr sz="12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B6CF"/>
                </a:solidFill>
              </a:defRPr>
            </a:pPr>
            <a:r>
              <a:rPr sz="1275" b="1">
                <a:solidFill>
                  <a:srgbClr val="26B6CF"/>
                </a:solidFill>
              </a:rPr>
              <a:t>Ready for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CDFE5-BA0C-4656-844B-31AFA3CB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0C31C-A594-46FB-AA1A-EC33A7C1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Academic submission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8FF8E-59C4-4AFA-A6FD-6A16DBC9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7685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71525-1F61-453F-AF24-B99D878E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768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Portfolio demonstration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D4994-4155-42DA-922D-E51329A0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768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49F83-FA6A-422E-B191-27BB20C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76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Research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66805-BFB0-440A-8D29-21319168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76850"/>
            <a:ext cx="2686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8FC33-01F6-47C8-B18E-E77BCAA3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768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Future validation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94BA4-AA0E-403B-9B9D-1087827B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B9CBC8"/>
                </a:solidFill>
              </a:defRPr>
            </a:defPPr>
            <a:lvl1pPr algn="ctr">
              <a:defRPr sz="1200" b="1">
                <a:solidFill>
                  <a:srgbClr val="B9CBC8"/>
                </a:solidFill>
              </a:defRPr>
            </a:lvl1pPr>
            <a:lvl2pPr algn="ctr">
              <a:defRPr sz="1200" b="1">
                <a:solidFill>
                  <a:srgbClr val="B9CBC8"/>
                </a:solidFill>
              </a:defRPr>
            </a:lvl2pPr>
            <a:lvl3pPr algn="ctr">
              <a:defRPr sz="1200" b="1">
                <a:solidFill>
                  <a:srgbClr val="B9CBC8"/>
                </a:solidFill>
              </a:defRPr>
            </a:lvl3pPr>
            <a:lvl4pPr algn="ctr">
              <a:defRPr sz="1200" b="1">
                <a:solidFill>
                  <a:srgbClr val="B9CBC8"/>
                </a:solidFill>
              </a:defRPr>
            </a:lvl4pPr>
            <a:lvl5pPr algn="ctr">
              <a:defRPr sz="1200" b="1">
                <a:solidFill>
                  <a:srgbClr val="B9CBC8"/>
                </a:solidFill>
              </a:defRPr>
            </a:lvl5pPr>
            <a:lvl6pPr algn="ctr">
              <a:defRPr sz="1200" b="1">
                <a:solidFill>
                  <a:srgbClr val="B9CBC8"/>
                </a:solidFill>
              </a:defRPr>
            </a:lvl6pPr>
            <a:lvl7pPr algn="ctr">
              <a:defRPr sz="1200" b="1">
                <a:solidFill>
                  <a:srgbClr val="B9CBC8"/>
                </a:solidFill>
              </a:defRPr>
            </a:lvl7pPr>
            <a:lvl8pPr algn="ctr">
              <a:defRPr sz="1200" b="1">
                <a:solidFill>
                  <a:srgbClr val="B9CBC8"/>
                </a:solidFill>
              </a:defRPr>
            </a:lvl8pPr>
            <a:lvl9pPr algn="ctr">
              <a:defRPr sz="1200" b="1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9CBC8"/>
                </a:solidFill>
              </a:defRPr>
            </a:pPr>
            <a:r>
              <a:rPr sz="1200" b="1">
                <a:solidFill>
                  <a:srgbClr val="B9CBC8"/>
                </a:solidFill>
              </a:rPr>
              <a:t>Next scientific step: add more independent events and India-focused geography-held-out validation before considering resident-facing ML.</a:t>
            </a:r>
          </a:p>
        </p:txBody>
      </p:sp>
    </p:spTree>
    <p:extLst>
      <p:ext uri="{BB962C8B-B14F-4D97-AF65-F5344CB8AC3E}">
        <p14:creationId xmlns:p14="http://schemas.microsoft.com/office/powerpoint/2010/main" val="88858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2026-10-19T14:19:01.5350000Z</dcterms:created>
  <dcterms:modified xsi:type="dcterms:W3CDTF">2026-10-19T14:19:01.5350000Z</dcterms:modified>
</coreProperties>
</file>