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c0473b666046dd" /><Relationship Type="http://schemas.openxmlformats.org/officeDocument/2006/relationships/extended-properties" Target="/docProps/app.xml" Id="R540fa25b4d3d4edc" /><Relationship Type="http://schemas.openxmlformats.org/officeDocument/2006/relationships/officeDocument" Target="/ppt/presentation.xml" Id="R5d578c65880740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fc7a8015254221"/>
  </p:sldMasterIdLst>
  <p:notesMasterIdLst>
    <p:notesMasterId xmlns:r="http://schemas.openxmlformats.org/officeDocument/2006/relationships" r:id="Rd030497dff4c49c0"/>
  </p:notesMasterIdLst>
  <p:sldIdLst>
    <p:sldId xmlns:r="http://schemas.openxmlformats.org/officeDocument/2006/relationships" id="256" r:id="R3bb4ad5ff4c445ac"/>
    <p:sldId xmlns:r="http://schemas.openxmlformats.org/officeDocument/2006/relationships" id="257" r:id="Ref3f8c4cba2f4631"/>
    <p:sldId xmlns:r="http://schemas.openxmlformats.org/officeDocument/2006/relationships" id="258" r:id="R6d5281179c7a4c34"/>
    <p:sldId xmlns:r="http://schemas.openxmlformats.org/officeDocument/2006/relationships" id="259" r:id="Rf4b920536f1141d5"/>
    <p:sldId xmlns:r="http://schemas.openxmlformats.org/officeDocument/2006/relationships" id="260" r:id="R2c2caabb46004499"/>
    <p:sldId xmlns:r="http://schemas.openxmlformats.org/officeDocument/2006/relationships" id="261" r:id="R0561b1bb2c194cc2"/>
    <p:sldId xmlns:r="http://schemas.openxmlformats.org/officeDocument/2006/relationships" id="262" r:id="Rbfb68e66450a4e8d"/>
    <p:sldId xmlns:r="http://schemas.openxmlformats.org/officeDocument/2006/relationships" id="263" r:id="R24525593f2bc4a18"/>
    <p:sldId xmlns:r="http://schemas.openxmlformats.org/officeDocument/2006/relationships" id="264" r:id="R893f1d42ab694196"/>
    <p:sldId xmlns:r="http://schemas.openxmlformats.org/officeDocument/2006/relationships" id="265" r:id="R7fc3a99204714c91"/>
    <p:sldId xmlns:r="http://schemas.openxmlformats.org/officeDocument/2006/relationships" id="266" r:id="Rdbb935d335c24f5e"/>
    <p:sldId xmlns:r="http://schemas.openxmlformats.org/officeDocument/2006/relationships" id="267" r:id="Ra269ec58e3554d8c"/>
    <p:sldId xmlns:r="http://schemas.openxmlformats.org/officeDocument/2006/relationships" id="268" r:id="R694093cf8ec5493f"/>
    <p:sldId xmlns:r="http://schemas.openxmlformats.org/officeDocument/2006/relationships" id="269" r:id="R2c8b58e7c1404bce"/>
    <p:sldId xmlns:r="http://schemas.openxmlformats.org/officeDocument/2006/relationships" id="270" r:id="R503d9ec2beaa49e8"/>
    <p:sldId xmlns:r="http://schemas.openxmlformats.org/officeDocument/2006/relationships" id="271" r:id="Rb4ff6cba645945bd"/>
    <p:sldId xmlns:r="http://schemas.openxmlformats.org/officeDocument/2006/relationships" id="272" r:id="R19e6d24ac656428e"/>
    <p:sldId xmlns:r="http://schemas.openxmlformats.org/officeDocument/2006/relationships" id="273" r:id="R4598bd292cba41c0"/>
    <p:sldId xmlns:r="http://schemas.openxmlformats.org/officeDocument/2006/relationships" id="274" r:id="R6702381239c043a2"/>
    <p:sldId xmlns:r="http://schemas.openxmlformats.org/officeDocument/2006/relationships" id="275" r:id="R9304f89d1c3645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534d1ed9cb4e9d" /><Relationship Type="http://schemas.openxmlformats.org/officeDocument/2006/relationships/slideMaster" Target="/ppt/slideMasters/slideMaster1.xml" Id="R06fc7a8015254221" /><Relationship Type="http://schemas.openxmlformats.org/officeDocument/2006/relationships/notesMaster" Target="/ppt/notesMasters/notesMaster1.xml" Id="Rd030497dff4c49c0" /><Relationship Type="http://schemas.openxmlformats.org/officeDocument/2006/relationships/presProps" Target="/ppt/presProps.xml" Id="R143e22df281f4140" /><Relationship Type="http://schemas.openxmlformats.org/officeDocument/2006/relationships/tableStyles" Target="/ppt/tableStyles.xml" Id="Rda5d22e6976a40b8" /><Relationship Type="http://schemas.openxmlformats.org/officeDocument/2006/relationships/slide" Target="/ppt/slides/slide1.xml" Id="R3bb4ad5ff4c445ac" /><Relationship Type="http://schemas.openxmlformats.org/officeDocument/2006/relationships/slide" Target="/ppt/slides/slide2.xml" Id="Ref3f8c4cba2f4631" /><Relationship Type="http://schemas.openxmlformats.org/officeDocument/2006/relationships/slide" Target="/ppt/slides/slide3.xml" Id="R6d5281179c7a4c34" /><Relationship Type="http://schemas.openxmlformats.org/officeDocument/2006/relationships/slide" Target="/ppt/slides/slide4.xml" Id="Rf4b920536f1141d5" /><Relationship Type="http://schemas.openxmlformats.org/officeDocument/2006/relationships/slide" Target="/ppt/slides/slide5.xml" Id="R2c2caabb46004499" /><Relationship Type="http://schemas.openxmlformats.org/officeDocument/2006/relationships/slide" Target="/ppt/slides/slide6.xml" Id="R0561b1bb2c194cc2" /><Relationship Type="http://schemas.openxmlformats.org/officeDocument/2006/relationships/slide" Target="/ppt/slides/slide7.xml" Id="Rbfb68e66450a4e8d" /><Relationship Type="http://schemas.openxmlformats.org/officeDocument/2006/relationships/slide" Target="/ppt/slides/slide8.xml" Id="R24525593f2bc4a18" /><Relationship Type="http://schemas.openxmlformats.org/officeDocument/2006/relationships/slide" Target="/ppt/slides/slide9.xml" Id="R893f1d42ab694196" /><Relationship Type="http://schemas.openxmlformats.org/officeDocument/2006/relationships/slide" Target="/ppt/slides/slide10.xml" Id="R7fc3a99204714c91" /><Relationship Type="http://schemas.openxmlformats.org/officeDocument/2006/relationships/slide" Target="/ppt/slides/slide11.xml" Id="Rdbb935d335c24f5e" /><Relationship Type="http://schemas.openxmlformats.org/officeDocument/2006/relationships/slide" Target="/ppt/slides/slide12.xml" Id="Ra269ec58e3554d8c" /><Relationship Type="http://schemas.openxmlformats.org/officeDocument/2006/relationships/slide" Target="/ppt/slides/slide13.xml" Id="R694093cf8ec5493f" /><Relationship Type="http://schemas.openxmlformats.org/officeDocument/2006/relationships/slide" Target="/ppt/slides/slide14.xml" Id="R2c8b58e7c1404bce" /><Relationship Type="http://schemas.openxmlformats.org/officeDocument/2006/relationships/slide" Target="/ppt/slides/slide15.xml" Id="R503d9ec2beaa49e8" /><Relationship Type="http://schemas.openxmlformats.org/officeDocument/2006/relationships/slide" Target="/ppt/slides/slide16.xml" Id="Rb4ff6cba645945bd" /><Relationship Type="http://schemas.openxmlformats.org/officeDocument/2006/relationships/slide" Target="/ppt/slides/slide17.xml" Id="R19e6d24ac656428e" /><Relationship Type="http://schemas.openxmlformats.org/officeDocument/2006/relationships/slide" Target="/ppt/slides/slide18.xml" Id="R4598bd292cba41c0" /><Relationship Type="http://schemas.openxmlformats.org/officeDocument/2006/relationships/slide" Target="/ppt/slides/slide19.xml" Id="R6702381239c043a2" /><Relationship Type="http://schemas.openxmlformats.org/officeDocument/2006/relationships/slide" Target="/ppt/slides/slide20.xml" Id="R9304f89d1c3645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34bffa3fd44c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b08daf022d48f8" /><Relationship Type="http://schemas.openxmlformats.org/officeDocument/2006/relationships/notesMaster" Target="/ppt/notesMasters/notesMaster1.xml" Id="Re739e920ea1c4b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2c671af0b048c0" /><Relationship Type="http://schemas.openxmlformats.org/officeDocument/2006/relationships/notesMaster" Target="/ppt/notesMasters/notesMaster1.xml" Id="Rc645ba5b49884f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c6d4d7252e4f12" /><Relationship Type="http://schemas.openxmlformats.org/officeDocument/2006/relationships/notesMaster" Target="/ppt/notesMasters/notesMaster1.xml" Id="Rb14c5503f38e41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0a5df0422347c7" /><Relationship Type="http://schemas.openxmlformats.org/officeDocument/2006/relationships/notesMaster" Target="/ppt/notesMasters/notesMaster1.xml" Id="Rd6ee3f1801b14c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3c579f21844dd3" /><Relationship Type="http://schemas.openxmlformats.org/officeDocument/2006/relationships/notesMaster" Target="/ppt/notesMasters/notesMaster1.xml" Id="Rb152f90f6c4a4d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e23b9d46b54be5" /><Relationship Type="http://schemas.openxmlformats.org/officeDocument/2006/relationships/notesMaster" Target="/ppt/notesMasters/notesMaster1.xml" Id="Re064913770714d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ed8189b74d44c5" /><Relationship Type="http://schemas.openxmlformats.org/officeDocument/2006/relationships/notesMaster" Target="/ppt/notesMasters/notesMaster1.xml" Id="R6c03d4118d7541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01be9e30534863" /><Relationship Type="http://schemas.openxmlformats.org/officeDocument/2006/relationships/notesMaster" Target="/ppt/notesMasters/notesMaster1.xml" Id="R2f0cc659d8ab41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03b5a00f094223" /><Relationship Type="http://schemas.openxmlformats.org/officeDocument/2006/relationships/notesMaster" Target="/ppt/notesMasters/notesMaster1.xml" Id="Rdd7dc473f895438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6b8bb7c7684f2d" /><Relationship Type="http://schemas.openxmlformats.org/officeDocument/2006/relationships/notesMaster" Target="/ppt/notesMasters/notesMaster1.xml" Id="R4bfecfc49f1d4e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6165e559034522" /><Relationship Type="http://schemas.openxmlformats.org/officeDocument/2006/relationships/notesMaster" Target="/ppt/notesMasters/notesMaster1.xml" Id="Rb37355ce933645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72f1c504c94205" /><Relationship Type="http://schemas.openxmlformats.org/officeDocument/2006/relationships/notesMaster" Target="/ppt/notesMasters/notesMaster1.xml" Id="R0ffc735acf5d46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2da2ce786644c8" /><Relationship Type="http://schemas.openxmlformats.org/officeDocument/2006/relationships/notesMaster" Target="/ppt/notesMasters/notesMaster1.xml" Id="Rc5ac2469efdc4f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32be679a244361" /><Relationship Type="http://schemas.openxmlformats.org/officeDocument/2006/relationships/notesMaster" Target="/ppt/notesMasters/notesMaster1.xml" Id="R0b9cc0c64de84e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1bc40c8bd1405d" /><Relationship Type="http://schemas.openxmlformats.org/officeDocument/2006/relationships/notesMaster" Target="/ppt/notesMasters/notesMaster1.xml" Id="R352b67eefc724e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8cac0712b8942c2" /><Relationship Type="http://schemas.openxmlformats.org/officeDocument/2006/relationships/notesMaster" Target="/ppt/notesMasters/notesMaster1.xml" Id="R2843a99fef3a4af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463029100da439d" /><Relationship Type="http://schemas.openxmlformats.org/officeDocument/2006/relationships/notesMaster" Target="/ppt/notesMasters/notesMaster1.xml" Id="R9e45b29bae434c1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878110aa7aa48ab" /><Relationship Type="http://schemas.openxmlformats.org/officeDocument/2006/relationships/notesMaster" Target="/ppt/notesMasters/notesMaster1.xml" Id="Rc0e38e8e3eed45c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497e9ccf8c14f48" /><Relationship Type="http://schemas.openxmlformats.org/officeDocument/2006/relationships/notesMaster" Target="/ppt/notesMasters/notesMaster1.xml" Id="Rf59f00671fa141f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65a0d6fbb864c32" /><Relationship Type="http://schemas.openxmlformats.org/officeDocument/2006/relationships/notesMaster" Target="/ppt/notesMasters/notesMaster1.xml" Id="Ra7b89c7cdda143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dea151b43141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576dfb53c454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6a24490ae46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bb5f1f40e64d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63cce9d8fd4aa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8a88ad952e46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C106A8-B1C2-42EF-8628-353A62ABE8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767AD6D-4840-4295-B392-8532FA850F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1CD9DB6-343F-47E4-91F9-1C0B965219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A43B6F-1D32-451D-8DDF-4339248825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538FB5-0264-474B-8C2E-CC50F26B69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5427EB-9668-45B6-B0A3-28F8A625CF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405688-979A-4481-9E37-421AD27550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C75381A-750A-4A4D-A595-666015F169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BCBBAF-7EA3-46BE-B505-CD2BE6ED80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4EB3F7-6A96-4CDD-A1CF-F2898A755C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31582649034ee2" /><Relationship Type="http://schemas.openxmlformats.org/officeDocument/2006/relationships/slideLayout" Target="/ppt/slideLayouts/slideLayout1.xml" Id="Rcb1e988618f44a30" /><Relationship Type="http://schemas.openxmlformats.org/officeDocument/2006/relationships/slideLayout" Target="/ppt/slideLayouts/slideLayout2.xml" Id="Rd625a6a87f0c433d" /><Relationship Type="http://schemas.openxmlformats.org/officeDocument/2006/relationships/slideLayout" Target="/ppt/slideLayouts/slideLayout3.xml" Id="Re4be30abd29b48ce" /><Relationship Type="http://schemas.openxmlformats.org/officeDocument/2006/relationships/slideLayout" Target="/ppt/slideLayouts/slideLayout4.xml" Id="R0043a41735c14d1c" /><Relationship Type="http://schemas.openxmlformats.org/officeDocument/2006/relationships/slideLayout" Target="/ppt/slideLayouts/slideLayout5.xml" Id="Rfaeae129fc744ab6" /><Relationship Type="http://schemas.openxmlformats.org/officeDocument/2006/relationships/slideLayout" Target="/ppt/slideLayouts/slideLayout6.xml" Id="R6631308497ac4f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1e988618f44a30"/>
    <p:sldLayoutId xmlns:r="http://schemas.openxmlformats.org/officeDocument/2006/relationships" id="2147483650" r:id="Rd625a6a87f0c433d"/>
    <p:sldLayoutId xmlns:r="http://schemas.openxmlformats.org/officeDocument/2006/relationships" id="2147483651" r:id="Re4be30abd29b48ce"/>
    <p:sldLayoutId xmlns:r="http://schemas.openxmlformats.org/officeDocument/2006/relationships" id="2147483652" r:id="R0043a41735c14d1c"/>
    <p:sldLayoutId xmlns:r="http://schemas.openxmlformats.org/officeDocument/2006/relationships" id="2147483653" r:id="Rfaeae129fc744ab6"/>
    <p:sldLayoutId xmlns:r="http://schemas.openxmlformats.org/officeDocument/2006/relationships" id="2147483654" r:id="R6631308497ac4f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526f6f6bdc4b16" /><Relationship Type="http://schemas.openxmlformats.org/officeDocument/2006/relationships/notesSlide" Target="/ppt/notesSlides/notesSlide1.xml" Id="R36ac4c0495b648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e07c1e773d496d" /><Relationship Type="http://schemas.openxmlformats.org/officeDocument/2006/relationships/notesSlide" Target="/ppt/notesSlides/notesSlide2.xml" Id="R2ec7268515764a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04ea59d26f4f05" /><Relationship Type="http://schemas.openxmlformats.org/officeDocument/2006/relationships/notesSlide" Target="/ppt/notesSlides/notesSlide3.xml" Id="R1e4ba6a908d94f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6c7a511ce743ec" /><Relationship Type="http://schemas.openxmlformats.org/officeDocument/2006/relationships/notesSlide" Target="/ppt/notesSlides/notesSlide4.xml" Id="Rfbe2ef29503343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3934494b574b0e" /><Relationship Type="http://schemas.openxmlformats.org/officeDocument/2006/relationships/notesSlide" Target="/ppt/notesSlides/notesSlide5.xml" Id="Rbfb9140f827f46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a8dfdaa8b14d6c" /><Relationship Type="http://schemas.openxmlformats.org/officeDocument/2006/relationships/notesSlide" Target="/ppt/notesSlides/notesSlide6.xml" Id="R9ba6520e2ae144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82b5b07fae444e" /><Relationship Type="http://schemas.openxmlformats.org/officeDocument/2006/relationships/notesSlide" Target="/ppt/notesSlides/notesSlide7.xml" Id="R778646871f4448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12c279ca194b00" /><Relationship Type="http://schemas.openxmlformats.org/officeDocument/2006/relationships/notesSlide" Target="/ppt/notesSlides/notesSlide8.xml" Id="R3396fa04cde34d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46efde176445b" /><Relationship Type="http://schemas.openxmlformats.org/officeDocument/2006/relationships/image" Target="/ppt/media/image.jpeg" Id="Rfc62f96df2a04d33" /><Relationship Type="http://schemas.openxmlformats.org/officeDocument/2006/relationships/notesSlide" Target="/ppt/notesSlides/notesSlide9.xml" Id="R3b822a7f3eec41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9d246a797a4b5d" /><Relationship Type="http://schemas.openxmlformats.org/officeDocument/2006/relationships/notesSlide" Target="/ppt/notesSlides/notesSlide10.xml" Id="Raac01b935f2749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2ca7aaa8c54312" /><Relationship Type="http://schemas.openxmlformats.org/officeDocument/2006/relationships/notesSlide" Target="/ppt/notesSlides/notesSlide11.xml" Id="Rf60117de75b64b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a5ef63a61446f4" /><Relationship Type="http://schemas.openxmlformats.org/officeDocument/2006/relationships/notesSlide" Target="/ppt/notesSlides/notesSlide12.xml" Id="R29913cbd79a342f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fdcd3f2e714489" /><Relationship Type="http://schemas.openxmlformats.org/officeDocument/2006/relationships/notesSlide" Target="/ppt/notesSlides/notesSlide13.xml" Id="R1e1313a3148141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d9b9b8449f424f" /><Relationship Type="http://schemas.openxmlformats.org/officeDocument/2006/relationships/chart" Target="/ppt/slides/charts/chart1.xml" Id="Rc3ee07e70ad14b5a" /><Relationship Type="http://schemas.openxmlformats.org/officeDocument/2006/relationships/notesSlide" Target="/ppt/notesSlides/notesSlide14.xml" Id="Rc7228847610a4de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ea62e2465845ad" /><Relationship Type="http://schemas.openxmlformats.org/officeDocument/2006/relationships/image" Target="/ppt/media/image2.jpeg" Id="R3689e93a7f4e482d" /><Relationship Type="http://schemas.openxmlformats.org/officeDocument/2006/relationships/notesSlide" Target="/ppt/notesSlides/notesSlide15.xml" Id="R5c6cb422b05c4dd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ade9094bee4f28" /><Relationship Type="http://schemas.openxmlformats.org/officeDocument/2006/relationships/image" Target="/ppt/media/image.png" Id="R5975917b58c74a27" /><Relationship Type="http://schemas.openxmlformats.org/officeDocument/2006/relationships/image" Target="/ppt/media/image2.png" Id="Ra1d8ffc3a690464a" /><Relationship Type="http://schemas.openxmlformats.org/officeDocument/2006/relationships/image" Target="/ppt/media/image3.png" Id="Ra588ce5e19674e31" /><Relationship Type="http://schemas.openxmlformats.org/officeDocument/2006/relationships/image" Target="/ppt/media/image4.png" Id="Rd4755031522e49d5" /><Relationship Type="http://schemas.openxmlformats.org/officeDocument/2006/relationships/notesSlide" Target="/ppt/notesSlides/notesSlide16.xml" Id="R7459d4d1236b4f2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15ccb458d9438f" /><Relationship Type="http://schemas.openxmlformats.org/officeDocument/2006/relationships/notesSlide" Target="/ppt/notesSlides/notesSlide17.xml" Id="R9c21683755e7487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4540d1882e4b37" /><Relationship Type="http://schemas.openxmlformats.org/officeDocument/2006/relationships/notesSlide" Target="/ppt/notesSlides/notesSlide18.xml" Id="R19d05c50c5a343d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0e728aea0c4189" /><Relationship Type="http://schemas.openxmlformats.org/officeDocument/2006/relationships/notesSlide" Target="/ppt/notesSlides/notesSlide19.xml" Id="R383ee20c960847f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062d4f081c4ae4" /><Relationship Type="http://schemas.openxmlformats.org/officeDocument/2006/relationships/notesSlide" Target="/ppt/notesSlides/notesSlide20.xml" Id="R0d64554324e8410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Held-out F1</c:v>
          </c:tx>
          <c:spPr>
            <a:solidFill xmlns:a="http://schemas.openxmlformats.org/drawingml/2006/main">
              <a:srgbClr val="0D6B5E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Spatial baseline</c:v>
                </c:pt>
                <c:pt idx="1">
                  <c:v>Rainfall LSTM</c:v>
                </c:pt>
                <c:pt idx="2">
                  <c:v>Extra Trees</c:v>
                </c:pt>
                <c:pt idx="3">
                  <c:v>U-Net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0.667</c:v>
                </c:pt>
                <c:pt idx="1">
                  <c:v>0.293</c:v>
                </c:pt>
                <c:pt idx="2">
                  <c:v>0.647</c:v>
                </c:pt>
                <c:pt idx="3">
                  <c:v>0.725</c:v>
                </c:pt>
              </c:numCache>
            </c:numRef>
          </c:val>
        </c:ser>
        <c:dLbls>
          <c:numFmt formatCode="0.000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DDA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C881D3-D875-4634-8F66-3D0E3641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B6CF"/>
                </a:solidFill>
              </a:defRPr>
            </a:defPPr>
            <a:lvl1pPr algn="l">
              <a:defRPr sz="1350" b="1">
                <a:solidFill>
                  <a:srgbClr val="26B6CF"/>
                </a:solidFill>
              </a:defRPr>
            </a:lvl1pPr>
            <a:lvl2pPr algn="l">
              <a:defRPr sz="1350" b="1">
                <a:solidFill>
                  <a:srgbClr val="26B6CF"/>
                </a:solidFill>
              </a:defRPr>
            </a:lvl2pPr>
            <a:lvl3pPr algn="l">
              <a:defRPr sz="1350" b="1">
                <a:solidFill>
                  <a:srgbClr val="26B6CF"/>
                </a:solidFill>
              </a:defRPr>
            </a:lvl3pPr>
            <a:lvl4pPr algn="l">
              <a:defRPr sz="1350" b="1">
                <a:solidFill>
                  <a:srgbClr val="26B6CF"/>
                </a:solidFill>
              </a:defRPr>
            </a:lvl4pPr>
            <a:lvl5pPr algn="l">
              <a:defRPr sz="1350" b="1">
                <a:solidFill>
                  <a:srgbClr val="26B6CF"/>
                </a:solidFill>
              </a:defRPr>
            </a:lvl5pPr>
            <a:lvl6pPr algn="l">
              <a:defRPr sz="1350" b="1">
                <a:solidFill>
                  <a:srgbClr val="26B6CF"/>
                </a:solidFill>
              </a:defRPr>
            </a:lvl6pPr>
            <a:lvl7pPr algn="l">
              <a:defRPr sz="1350" b="1">
                <a:solidFill>
                  <a:srgbClr val="26B6CF"/>
                </a:solidFill>
              </a:defRPr>
            </a:lvl7pPr>
            <a:lvl8pPr algn="l">
              <a:defRPr sz="1350" b="1">
                <a:solidFill>
                  <a:srgbClr val="26B6CF"/>
                </a:solidFill>
              </a:defRPr>
            </a:lvl8pPr>
            <a:lvl9pPr algn="l">
              <a:defRPr sz="13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B6CF"/>
                </a:solidFill>
              </a:defRPr>
            </a:pPr>
            <a:r>
              <a:rPr sz="1350" b="1">
                <a:solidFill>
                  <a:srgbClr val="26B6CF"/>
                </a:solidFill>
              </a:rPr>
              <a:t>FLOODLENS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A2CAF-EEFE-4D17-90DE-6AA1D87C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</a:defRPr>
            </a:defPPr>
            <a:lvl1pPr algn="l">
              <a:defRPr sz="3900" b="1">
                <a:solidFill>
                  <a:srgbClr val="FFFFFF"/>
                </a:solidFill>
              </a:defRPr>
            </a:lvl1pPr>
            <a:lvl2pPr algn="l">
              <a:defRPr sz="3900" b="1">
                <a:solidFill>
                  <a:srgbClr val="FFFFFF"/>
                </a:solidFill>
              </a:defRPr>
            </a:lvl2pPr>
            <a:lvl3pPr algn="l">
              <a:defRPr sz="3900" b="1">
                <a:solidFill>
                  <a:srgbClr val="FFFFFF"/>
                </a:solidFill>
              </a:defRPr>
            </a:lvl3pPr>
            <a:lvl4pPr algn="l">
              <a:defRPr sz="3900" b="1">
                <a:solidFill>
                  <a:srgbClr val="FFFFFF"/>
                </a:solidFill>
              </a:defRPr>
            </a:lvl4pPr>
            <a:lvl5pPr algn="l">
              <a:defRPr sz="3900" b="1">
                <a:solidFill>
                  <a:srgbClr val="FFFFFF"/>
                </a:solidFill>
              </a:defRPr>
            </a:lvl5pPr>
            <a:lvl6pPr algn="l">
              <a:defRPr sz="3900" b="1">
                <a:solidFill>
                  <a:srgbClr val="FFFFFF"/>
                </a:solidFill>
              </a:defRPr>
            </a:lvl6pPr>
            <a:lvl7pPr algn="l">
              <a:defRPr sz="3900" b="1">
                <a:solidFill>
                  <a:srgbClr val="FFFFFF"/>
                </a:solidFill>
              </a:defRPr>
            </a:lvl7pPr>
            <a:lvl8pPr algn="l">
              <a:defRPr sz="3900" b="1">
                <a:solidFill>
                  <a:srgbClr val="FFFFFF"/>
                </a:solidFill>
              </a:defRPr>
            </a:lvl8pPr>
            <a:lvl9pPr algn="l"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Transparent neighbourhood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flood awareness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BABC1-3649-4AB4-BEAA-C242D3A6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B9CBC8"/>
                </a:solidFill>
              </a:defRPr>
            </a:defPPr>
            <a:lvl1pPr algn="l">
              <a:defRPr sz="1650" b="0">
                <a:solidFill>
                  <a:srgbClr val="B9CBC8"/>
                </a:solidFill>
              </a:defRPr>
            </a:lvl1pPr>
            <a:lvl2pPr algn="l">
              <a:defRPr sz="1650" b="0">
                <a:solidFill>
                  <a:srgbClr val="B9CBC8"/>
                </a:solidFill>
              </a:defRPr>
            </a:lvl2pPr>
            <a:lvl3pPr algn="l">
              <a:defRPr sz="1650" b="0">
                <a:solidFill>
                  <a:srgbClr val="B9CBC8"/>
                </a:solidFill>
              </a:defRPr>
            </a:lvl3pPr>
            <a:lvl4pPr algn="l">
              <a:defRPr sz="1650" b="0">
                <a:solidFill>
                  <a:srgbClr val="B9CBC8"/>
                </a:solidFill>
              </a:defRPr>
            </a:lvl4pPr>
            <a:lvl5pPr algn="l">
              <a:defRPr sz="1650" b="0">
                <a:solidFill>
                  <a:srgbClr val="B9CBC8"/>
                </a:solidFill>
              </a:defRPr>
            </a:lvl5pPr>
            <a:lvl6pPr algn="l">
              <a:defRPr sz="1650" b="0">
                <a:solidFill>
                  <a:srgbClr val="B9CBC8"/>
                </a:solidFill>
              </a:defRPr>
            </a:lvl6pPr>
            <a:lvl7pPr algn="l">
              <a:defRPr sz="1650" b="0">
                <a:solidFill>
                  <a:srgbClr val="B9CBC8"/>
                </a:solidFill>
              </a:defRPr>
            </a:lvl7pPr>
            <a:lvl8pPr algn="l">
              <a:defRPr sz="1650" b="0">
                <a:solidFill>
                  <a:srgbClr val="B9CBC8"/>
                </a:solidFill>
              </a:defRPr>
            </a:lvl8pPr>
            <a:lvl9pPr algn="l">
              <a:defRPr sz="1650" b="0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B9CBC8"/>
                </a:solidFill>
              </a:defRPr>
            </a:pPr>
            <a:r>
              <a:rPr sz="1650" b="0">
                <a:solidFill>
                  <a:srgbClr val="B9CBC8"/>
                </a:solidFill>
              </a:rPr>
              <a:t>Final project report and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87EB5-FD81-4C97-BBC3-2246B9FF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561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D8E5E2"/>
                </a:solidFill>
              </a:defRPr>
            </a:defPPr>
            <a:lvl1pPr algn="l">
              <a:defRPr sz="1350" b="0">
                <a:solidFill>
                  <a:srgbClr val="D8E5E2"/>
                </a:solidFill>
              </a:defRPr>
            </a:lvl1pPr>
            <a:lvl2pPr algn="l">
              <a:defRPr sz="1350" b="0">
                <a:solidFill>
                  <a:srgbClr val="D8E5E2"/>
                </a:solidFill>
              </a:defRPr>
            </a:lvl2pPr>
            <a:lvl3pPr algn="l">
              <a:defRPr sz="1350" b="0">
                <a:solidFill>
                  <a:srgbClr val="D8E5E2"/>
                </a:solidFill>
              </a:defRPr>
            </a:lvl3pPr>
            <a:lvl4pPr algn="l">
              <a:defRPr sz="1350" b="0">
                <a:solidFill>
                  <a:srgbClr val="D8E5E2"/>
                </a:solidFill>
              </a:defRPr>
            </a:lvl4pPr>
            <a:lvl5pPr algn="l">
              <a:defRPr sz="1350" b="0">
                <a:solidFill>
                  <a:srgbClr val="D8E5E2"/>
                </a:solidFill>
              </a:defRPr>
            </a:lvl5pPr>
            <a:lvl6pPr algn="l">
              <a:defRPr sz="1350" b="0">
                <a:solidFill>
                  <a:srgbClr val="D8E5E2"/>
                </a:solidFill>
              </a:defRPr>
            </a:lvl6pPr>
            <a:lvl7pPr algn="l">
              <a:defRPr sz="1350" b="0">
                <a:solidFill>
                  <a:srgbClr val="D8E5E2"/>
                </a:solidFill>
              </a:defRPr>
            </a:lvl7pPr>
            <a:lvl8pPr algn="l">
              <a:defRPr sz="1350" b="0">
                <a:solidFill>
                  <a:srgbClr val="D8E5E2"/>
                </a:solidFill>
              </a:defRPr>
            </a:lvl8pPr>
            <a:lvl9pPr algn="l">
              <a:defRPr sz="1350" b="0">
                <a:solidFill>
                  <a:srgbClr val="D8E5E2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8E5E2"/>
                </a:solidFill>
              </a:defRPr>
            </a:pPr>
            <a:r>
              <a:rPr sz="1350" b="0">
                <a:solidFill>
                  <a:srgbClr val="D8E5E2"/>
                </a:solidFill>
              </a:rPr>
              <a:t>Terrain, forecast rainfall, river-basin context, and historical-event ML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92A36-54FD-4A8A-9AA0-7F2F4B1D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2571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8B138-58B6-4403-B56F-677671FC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26B6CF"/>
                </a:solidFill>
              </a:defRPr>
            </a:defPPr>
            <a:lvl1pPr algn="ctr">
              <a:defRPr sz="975" b="1">
                <a:solidFill>
                  <a:srgbClr val="26B6CF"/>
                </a:solidFill>
              </a:defRPr>
            </a:lvl1pPr>
            <a:lvl2pPr algn="ctr">
              <a:defRPr sz="975" b="1">
                <a:solidFill>
                  <a:srgbClr val="26B6CF"/>
                </a:solidFill>
              </a:defRPr>
            </a:lvl2pPr>
            <a:lvl3pPr algn="ctr">
              <a:defRPr sz="975" b="1">
                <a:solidFill>
                  <a:srgbClr val="26B6CF"/>
                </a:solidFill>
              </a:defRPr>
            </a:lvl3pPr>
            <a:lvl4pPr algn="ctr">
              <a:defRPr sz="975" b="1">
                <a:solidFill>
                  <a:srgbClr val="26B6CF"/>
                </a:solidFill>
              </a:defRPr>
            </a:lvl4pPr>
            <a:lvl5pPr algn="ctr">
              <a:defRPr sz="975" b="1">
                <a:solidFill>
                  <a:srgbClr val="26B6CF"/>
                </a:solidFill>
              </a:defRPr>
            </a:lvl5pPr>
            <a:lvl6pPr algn="ctr">
              <a:defRPr sz="975" b="1">
                <a:solidFill>
                  <a:srgbClr val="26B6CF"/>
                </a:solidFill>
              </a:defRPr>
            </a:lvl6pPr>
            <a:lvl7pPr algn="ctr">
              <a:defRPr sz="975" b="1">
                <a:solidFill>
                  <a:srgbClr val="26B6CF"/>
                </a:solidFill>
              </a:defRPr>
            </a:lvl7pPr>
            <a:lvl8pPr algn="ctr">
              <a:defRPr sz="975" b="1">
                <a:solidFill>
                  <a:srgbClr val="26B6CF"/>
                </a:solidFill>
              </a:defRPr>
            </a:lvl8pPr>
            <a:lvl9pPr algn="ctr">
              <a:defRPr sz="9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26B6CF"/>
                </a:solidFill>
              </a:defRPr>
            </a:pPr>
            <a:r>
              <a:rPr sz="975" b="1">
                <a:solidFill>
                  <a:srgbClr val="26B6CF"/>
                </a:solidFill>
              </a:rPr>
              <a:t>20-slide final result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0A04A-5CFE-403E-A1A6-178E2AF4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3900"/>
            <a:ext cx="4000500" cy="52197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292A"/>
          </a:solidFill>
          <a:ln xmlns:a="http://schemas.openxmlformats.org/drawingml/2006/main" w="9525">
            <a:solidFill>
              <a:srgbClr val="2850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68171-7F00-45FD-97BE-70BC6F9C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028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26B6CF"/>
                </a:solidFill>
              </a:defRPr>
            </a:defPPr>
            <a:lvl1pPr algn="l">
              <a:defRPr sz="975" b="1">
                <a:solidFill>
                  <a:srgbClr val="26B6CF"/>
                </a:solidFill>
              </a:defRPr>
            </a:lvl1pPr>
            <a:lvl2pPr algn="l">
              <a:defRPr sz="975" b="1">
                <a:solidFill>
                  <a:srgbClr val="26B6CF"/>
                </a:solidFill>
              </a:defRPr>
            </a:lvl2pPr>
            <a:lvl3pPr algn="l">
              <a:defRPr sz="975" b="1">
                <a:solidFill>
                  <a:srgbClr val="26B6CF"/>
                </a:solidFill>
              </a:defRPr>
            </a:lvl3pPr>
            <a:lvl4pPr algn="l">
              <a:defRPr sz="975" b="1">
                <a:solidFill>
                  <a:srgbClr val="26B6CF"/>
                </a:solidFill>
              </a:defRPr>
            </a:lvl4pPr>
            <a:lvl5pPr algn="l">
              <a:defRPr sz="975" b="1">
                <a:solidFill>
                  <a:srgbClr val="26B6CF"/>
                </a:solidFill>
              </a:defRPr>
            </a:lvl5pPr>
            <a:lvl6pPr algn="l">
              <a:defRPr sz="975" b="1">
                <a:solidFill>
                  <a:srgbClr val="26B6CF"/>
                </a:solidFill>
              </a:defRPr>
            </a:lvl6pPr>
            <a:lvl7pPr algn="l">
              <a:defRPr sz="975" b="1">
                <a:solidFill>
                  <a:srgbClr val="26B6CF"/>
                </a:solidFill>
              </a:defRPr>
            </a:lvl7pPr>
            <a:lvl8pPr algn="l">
              <a:defRPr sz="975" b="1">
                <a:solidFill>
                  <a:srgbClr val="26B6CF"/>
                </a:solidFill>
              </a:defRPr>
            </a:lvl8pPr>
            <a:lvl9pPr algn="l">
              <a:defRPr sz="9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26B6CF"/>
                </a:solidFill>
              </a:defRPr>
            </a:pPr>
            <a:r>
              <a:rPr sz="975" b="1">
                <a:solidFill>
                  <a:srgbClr val="26B6CF"/>
                </a:solidFill>
              </a:rPr>
              <a:t>LIVE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825F3-3E00-4406-AF29-7BF1AF8B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621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</a:defRPr>
            </a:defPPr>
            <a:lvl1pPr algn="l">
              <a:defRPr sz="2625" b="1">
                <a:solidFill>
                  <a:srgbClr val="FFFFFF"/>
                </a:solidFill>
              </a:defRPr>
            </a:lvl1pPr>
            <a:lvl2pPr algn="l">
              <a:defRPr sz="2625" b="1">
                <a:solidFill>
                  <a:srgbClr val="FFFFFF"/>
                </a:solidFill>
              </a:defRPr>
            </a:lvl2pPr>
            <a:lvl3pPr algn="l">
              <a:defRPr sz="2625" b="1">
                <a:solidFill>
                  <a:srgbClr val="FFFFFF"/>
                </a:solidFill>
              </a:defRPr>
            </a:lvl3pPr>
            <a:lvl4pPr algn="l">
              <a:defRPr sz="2625" b="1">
                <a:solidFill>
                  <a:srgbClr val="FFFFFF"/>
                </a:solidFill>
              </a:defRPr>
            </a:lvl4pPr>
            <a:lvl5pPr algn="l">
              <a:defRPr sz="2625" b="1">
                <a:solidFill>
                  <a:srgbClr val="FFFFFF"/>
                </a:solidFill>
              </a:defRPr>
            </a:lvl5pPr>
            <a:lvl6pPr algn="l">
              <a:defRPr sz="2625" b="1">
                <a:solidFill>
                  <a:srgbClr val="FFFFFF"/>
                </a:solidFill>
              </a:defRPr>
            </a:lvl6pPr>
            <a:lvl7pPr algn="l">
              <a:defRPr sz="2625" b="1">
                <a:solidFill>
                  <a:srgbClr val="FFFFFF"/>
                </a:solidFill>
              </a:defRPr>
            </a:lvl7pPr>
            <a:lvl8pPr algn="l">
              <a:defRPr sz="2625" b="1">
                <a:solidFill>
                  <a:srgbClr val="FFFFFF"/>
                </a:solidFill>
              </a:defRPr>
            </a:lvl8pPr>
            <a:lvl9pPr algn="l"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1 / 2 / 5 km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5C99F-1596-4F6E-A385-9761199A4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002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resident-selected assessment circle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ED69C-CD4E-4B3F-BA02-25A90A7E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71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</a:defRPr>
            </a:defPPr>
            <a:lvl1pPr algn="l">
              <a:defRPr sz="2625" b="1">
                <a:solidFill>
                  <a:srgbClr val="FFFFFF"/>
                </a:solidFill>
              </a:defRPr>
            </a:lvl1pPr>
            <a:lvl2pPr algn="l">
              <a:defRPr sz="2625" b="1">
                <a:solidFill>
                  <a:srgbClr val="FFFFFF"/>
                </a:solidFill>
              </a:defRPr>
            </a:lvl2pPr>
            <a:lvl3pPr algn="l">
              <a:defRPr sz="2625" b="1">
                <a:solidFill>
                  <a:srgbClr val="FFFFFF"/>
                </a:solidFill>
              </a:defRPr>
            </a:lvl3pPr>
            <a:lvl4pPr algn="l">
              <a:defRPr sz="2625" b="1">
                <a:solidFill>
                  <a:srgbClr val="FFFFFF"/>
                </a:solidFill>
              </a:defRPr>
            </a:lvl4pPr>
            <a:lvl5pPr algn="l">
              <a:defRPr sz="2625" b="1">
                <a:solidFill>
                  <a:srgbClr val="FFFFFF"/>
                </a:solidFill>
              </a:defRPr>
            </a:lvl5pPr>
            <a:lvl6pPr algn="l">
              <a:defRPr sz="2625" b="1">
                <a:solidFill>
                  <a:srgbClr val="FFFFFF"/>
                </a:solidFill>
              </a:defRPr>
            </a:lvl6pPr>
            <a:lvl7pPr algn="l">
              <a:defRPr sz="2625" b="1">
                <a:solidFill>
                  <a:srgbClr val="FFFFFF"/>
                </a:solidFill>
              </a:defRPr>
            </a:lvl7pPr>
            <a:lvl8pPr algn="l">
              <a:defRPr sz="2625" b="1">
                <a:solidFill>
                  <a:srgbClr val="FFFFFF"/>
                </a:solidFill>
              </a:defRPr>
            </a:lvl8pPr>
            <a:lvl9pPr algn="l"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28,907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2B5E3-3A9A-42D9-BF0C-72D51F46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099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HydroBASINS polygons imported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440FC-7363-48B0-9AF8-8DD19F85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5814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</a:defRPr>
            </a:defPPr>
            <a:lvl1pPr algn="l">
              <a:defRPr sz="2625" b="1">
                <a:solidFill>
                  <a:srgbClr val="FFFFFF"/>
                </a:solidFill>
              </a:defRPr>
            </a:lvl1pPr>
            <a:lvl2pPr algn="l">
              <a:defRPr sz="2625" b="1">
                <a:solidFill>
                  <a:srgbClr val="FFFFFF"/>
                </a:solidFill>
              </a:defRPr>
            </a:lvl2pPr>
            <a:lvl3pPr algn="l">
              <a:defRPr sz="2625" b="1">
                <a:solidFill>
                  <a:srgbClr val="FFFFFF"/>
                </a:solidFill>
              </a:defRPr>
            </a:lvl3pPr>
            <a:lvl4pPr algn="l">
              <a:defRPr sz="2625" b="1">
                <a:solidFill>
                  <a:srgbClr val="FFFFFF"/>
                </a:solidFill>
              </a:defRPr>
            </a:lvl4pPr>
            <a:lvl5pPr algn="l">
              <a:defRPr sz="2625" b="1">
                <a:solidFill>
                  <a:srgbClr val="FFFFFF"/>
                </a:solidFill>
              </a:defRPr>
            </a:lvl5pPr>
            <a:lvl6pPr algn="l">
              <a:defRPr sz="2625" b="1">
                <a:solidFill>
                  <a:srgbClr val="FFFFFF"/>
                </a:solidFill>
              </a:defRPr>
            </a:lvl6pPr>
            <a:lvl7pPr algn="l">
              <a:defRPr sz="2625" b="1">
                <a:solidFill>
                  <a:srgbClr val="FFFFFF"/>
                </a:solidFill>
              </a:defRPr>
            </a:lvl7pPr>
            <a:lvl8pPr algn="l">
              <a:defRPr sz="2625" b="1">
                <a:solidFill>
                  <a:srgbClr val="FFFFFF"/>
                </a:solidFill>
              </a:defRPr>
            </a:lvl8pPr>
            <a:lvl9pPr algn="l">
              <a:defRPr sz="26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</a:defRPr>
            </a:pPr>
            <a:r>
              <a:rPr sz="2625" b="1">
                <a:solidFill>
                  <a:srgbClr val="FFFFFF"/>
                </a:solidFill>
              </a:rPr>
              <a:t>1,428,959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5C251-F3AC-4E38-8B81-A26EDA64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195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HydroRIVERS features imported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6E9E9-5642-470D-A35F-6C46F465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911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B9CBC8"/>
                </a:solidFill>
              </a:defRPr>
            </a:defPPr>
            <a:lvl1pPr algn="l">
              <a:defRPr sz="1050" b="0">
                <a:solidFill>
                  <a:srgbClr val="B9CBC8"/>
                </a:solidFill>
              </a:defRPr>
            </a:lvl1pPr>
            <a:lvl2pPr algn="l">
              <a:defRPr sz="1050" b="0">
                <a:solidFill>
                  <a:srgbClr val="B9CBC8"/>
                </a:solidFill>
              </a:defRPr>
            </a:lvl2pPr>
            <a:lvl3pPr algn="l">
              <a:defRPr sz="1050" b="0">
                <a:solidFill>
                  <a:srgbClr val="B9CBC8"/>
                </a:solidFill>
              </a:defRPr>
            </a:lvl3pPr>
            <a:lvl4pPr algn="l">
              <a:defRPr sz="1050" b="0">
                <a:solidFill>
                  <a:srgbClr val="B9CBC8"/>
                </a:solidFill>
              </a:defRPr>
            </a:lvl4pPr>
            <a:lvl5pPr algn="l">
              <a:defRPr sz="1050" b="0">
                <a:solidFill>
                  <a:srgbClr val="B9CBC8"/>
                </a:solidFill>
              </a:defRPr>
            </a:lvl5pPr>
            <a:lvl6pPr algn="l">
              <a:defRPr sz="1050" b="0">
                <a:solidFill>
                  <a:srgbClr val="B9CBC8"/>
                </a:solidFill>
              </a:defRPr>
            </a:lvl6pPr>
            <a:lvl7pPr algn="l">
              <a:defRPr sz="1050" b="0">
                <a:solidFill>
                  <a:srgbClr val="B9CBC8"/>
                </a:solidFill>
              </a:defRPr>
            </a:lvl7pPr>
            <a:lvl8pPr algn="l">
              <a:defRPr sz="1050" b="0">
                <a:solidFill>
                  <a:srgbClr val="B9CBC8"/>
                </a:solidFill>
              </a:defRPr>
            </a:lvl8pPr>
            <a:lvl9pPr algn="l">
              <a:defRPr sz="1050" b="0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B9CBC8"/>
                </a:solidFill>
              </a:defRPr>
            </a:pPr>
            <a:r>
              <a:rPr sz="1050" b="0">
                <a:solidFill>
                  <a:srgbClr val="B9CBC8"/>
                </a:solidFill>
              </a:rPr>
              <a:t>Local Docker demonstration • 19 October 2026</a:t>
            </a:r>
          </a:p>
        </p:txBody>
      </p:sp>
    </p:spTree>
    <p:extLst>
      <p:ext uri="{BB962C8B-B14F-4D97-AF65-F5344CB8AC3E}">
        <p14:creationId xmlns:p14="http://schemas.microsoft.com/office/powerpoint/2010/main" val="19182054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501CC7-92CA-43E3-BF22-80B7BDC8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82DA5-E2D7-4B60-BF26-EA549186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Project in one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F098C-B074-43AF-95CB-C76F48FB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 usable resident interface backed by real spatial data, with research ML kept separate.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F27C1-3DB7-4AD4-94D3-DD4B8DAE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026BAC-FF4C-45AE-A9E5-3FE0435C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34290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1F37A-5C77-4CDC-8AA8-0EF51997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8FC12-DCF4-4CF3-B5F9-A3EE37BB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430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Resident 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A8688-3CF0-4564-B00D-17375E7A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Select a neighbourhood and a 1, 2, or 5 km circle. Read terrain, forecast rainfall, and river-basin context in plain language.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1BBF6-08D5-46EB-B16A-9AD41686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09700"/>
            <a:ext cx="34290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29A12-0713-4850-81EE-42EB7060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0970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26707F-44CF-4A36-A5DD-C224267F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430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Operational 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3677A-C2AE-4685-A69B-EA1570C3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React and Leaflet call FastAPI. A PostGIS-backed worker samples FABDEM, reads HydroSHEDS, and fetches Open-Meteo rainfall.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622E8-AFCA-439A-8FC6-9AB85CBF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09700"/>
            <a:ext cx="342900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8593D-6411-4CCB-8E67-478D27BA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09700"/>
            <a:ext cx="762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4815A-5223-4E19-A27A-3D4810E1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430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Research laboratory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B0226A-8686-4F93-A321-95B66B67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43100"/>
            <a:ext cx="30289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Compare real labels with Extra Trees and U-Net masks on held-out events. Classification models add event-level context.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82D07C-E531-425E-922F-FDC8B29D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D6B5E"/>
                </a:solidFill>
              </a:defRPr>
            </a:defPPr>
            <a:lvl1pPr algn="l">
              <a:defRPr sz="2100" b="1">
                <a:solidFill>
                  <a:srgbClr val="0D6B5E"/>
                </a:solidFill>
              </a:defRPr>
            </a:lvl1pPr>
            <a:lvl2pPr algn="l">
              <a:defRPr sz="2100" b="1">
                <a:solidFill>
                  <a:srgbClr val="0D6B5E"/>
                </a:solidFill>
              </a:defRPr>
            </a:lvl2pPr>
            <a:lvl3pPr algn="l">
              <a:defRPr sz="2100" b="1">
                <a:solidFill>
                  <a:srgbClr val="0D6B5E"/>
                </a:solidFill>
              </a:defRPr>
            </a:lvl3pPr>
            <a:lvl4pPr algn="l">
              <a:defRPr sz="2100" b="1">
                <a:solidFill>
                  <a:srgbClr val="0D6B5E"/>
                </a:solidFill>
              </a:defRPr>
            </a:lvl4pPr>
            <a:lvl5pPr algn="l">
              <a:defRPr sz="2100" b="1">
                <a:solidFill>
                  <a:srgbClr val="0D6B5E"/>
                </a:solidFill>
              </a:defRPr>
            </a:lvl5pPr>
            <a:lvl6pPr algn="l">
              <a:defRPr sz="2100" b="1">
                <a:solidFill>
                  <a:srgbClr val="0D6B5E"/>
                </a:solidFill>
              </a:defRPr>
            </a:lvl6pPr>
            <a:lvl7pPr algn="l">
              <a:defRPr sz="2100" b="1">
                <a:solidFill>
                  <a:srgbClr val="0D6B5E"/>
                </a:solidFill>
              </a:defRPr>
            </a:lvl7pPr>
            <a:lvl8pPr algn="l">
              <a:defRPr sz="2100" b="1">
                <a:solidFill>
                  <a:srgbClr val="0D6B5E"/>
                </a:solidFill>
              </a:defRPr>
            </a:lvl8pPr>
            <a:lvl9pPr algn="l">
              <a:defRPr sz="21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D6B5E"/>
                </a:solidFill>
              </a:defRPr>
            </a:pPr>
            <a:r>
              <a:rPr sz="2100" b="1">
                <a:solidFill>
                  <a:srgbClr val="0D6B5E"/>
                </a:solidFill>
              </a:rPr>
              <a:t>A complete local demonstrator with transparent coverage states, reproducible deployment, visible model failures, and measured held-out performance.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3F396A-EAED-4CCC-85C8-37E0DF4F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E86F51"/>
                </a:solidFill>
              </a:defRPr>
            </a:defPPr>
            <a:lvl1pPr algn="l">
              <a:defRPr sz="1200" b="1">
                <a:solidFill>
                  <a:srgbClr val="E86F51"/>
                </a:solidFill>
              </a:defRPr>
            </a:lvl1pPr>
            <a:lvl2pPr algn="l">
              <a:defRPr sz="1200" b="1">
                <a:solidFill>
                  <a:srgbClr val="E86F51"/>
                </a:solidFill>
              </a:defRPr>
            </a:lvl2pPr>
            <a:lvl3pPr algn="l">
              <a:defRPr sz="1200" b="1">
                <a:solidFill>
                  <a:srgbClr val="E86F51"/>
                </a:solidFill>
              </a:defRPr>
            </a:lvl3pPr>
            <a:lvl4pPr algn="l">
              <a:defRPr sz="1200" b="1">
                <a:solidFill>
                  <a:srgbClr val="E86F51"/>
                </a:solidFill>
              </a:defRPr>
            </a:lvl4pPr>
            <a:lvl5pPr algn="l">
              <a:defRPr sz="1200" b="1">
                <a:solidFill>
                  <a:srgbClr val="E86F51"/>
                </a:solidFill>
              </a:defRPr>
            </a:lvl5pPr>
            <a:lvl6pPr algn="l">
              <a:defRPr sz="1200" b="1">
                <a:solidFill>
                  <a:srgbClr val="E86F51"/>
                </a:solidFill>
              </a:defRPr>
            </a:lvl6pPr>
            <a:lvl7pPr algn="l">
              <a:defRPr sz="1200" b="1">
                <a:solidFill>
                  <a:srgbClr val="E86F51"/>
                </a:solidFill>
              </a:defRPr>
            </a:lvl7pPr>
            <a:lvl8pPr algn="l">
              <a:defRPr sz="1200" b="1">
                <a:solidFill>
                  <a:srgbClr val="E86F51"/>
                </a:solidFill>
              </a:defRPr>
            </a:lvl8pPr>
            <a:lvl9pPr algn="l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Neighbourhood awareness only: no official warning, evacuation advice, depth estimate, or property flood probability.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D58CCB-8CDA-4D83-BEC8-05CF4011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AC50E-9CB7-4C39-989C-BA982BC8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183461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BD08C1-7055-47BE-BDD0-24B61443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D1E9B-B06C-49E2-908E-705DE674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Why local flood information is easy to misread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8811A-F22C-4573-9D00-CA187D58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DD030-23BE-4485-8C60-7520BD22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33528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8E34A-0480-4163-BF68-4ABCFD05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36961-159F-4CE6-BDEE-0015C9AC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Terrain maps can mislead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6C35D-4E05-4A73-B5E3-D0E81B23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Raw surface elevation may treat buildings and trees as barriers. FloodLens uses bare-earth terrain and still reports its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AC5653-C05A-4A2B-B529-4802C75E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24000"/>
            <a:ext cx="33528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1A52CF-F6CC-4747-8FCA-3834F3AE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240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ABC76-FAA8-471D-994A-B379C431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57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River proximity is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401C3-1C1C-4CC7-BC0B-65F1FD62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5740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A mapped river near a point does not prove hydraulic connectivity to a street or property.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CB16D-4C1F-4454-8936-D69606D2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3528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6092E-CB7D-4DD2-AD23-C6AD2634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1"/>
          </a:solidFill>
          <a:ln xmlns:a="http://schemas.openxmlformats.org/drawingml/2006/main" w="0">
            <a:solidFill>
              <a:srgbClr val="E86F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CA83E-C3C0-4D1E-8666-15189DC9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57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A score can look official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09E6D-3367-456D-9570-3E84C16D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5740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A simple number may be mistaken for a warning or probability. FloodLens labels its terrain score as a relative index.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3B508-15BD-42AD-BCC8-24EA1FA4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8966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3ED1F-34D9-4BBF-8F55-558EBB0E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B6CF"/>
                </a:solidFill>
              </a:defRPr>
            </a:defPPr>
            <a:lvl1pPr algn="l">
              <a:defRPr sz="1350" b="1">
                <a:solidFill>
                  <a:srgbClr val="26B6CF"/>
                </a:solidFill>
              </a:defRPr>
            </a:lvl1pPr>
            <a:lvl2pPr algn="l">
              <a:defRPr sz="1350" b="1">
                <a:solidFill>
                  <a:srgbClr val="26B6CF"/>
                </a:solidFill>
              </a:defRPr>
            </a:lvl2pPr>
            <a:lvl3pPr algn="l">
              <a:defRPr sz="1350" b="1">
                <a:solidFill>
                  <a:srgbClr val="26B6CF"/>
                </a:solidFill>
              </a:defRPr>
            </a:lvl3pPr>
            <a:lvl4pPr algn="l">
              <a:defRPr sz="1350" b="1">
                <a:solidFill>
                  <a:srgbClr val="26B6CF"/>
                </a:solidFill>
              </a:defRPr>
            </a:lvl4pPr>
            <a:lvl5pPr algn="l">
              <a:defRPr sz="1350" b="1">
                <a:solidFill>
                  <a:srgbClr val="26B6CF"/>
                </a:solidFill>
              </a:defRPr>
            </a:lvl5pPr>
            <a:lvl6pPr algn="l">
              <a:defRPr sz="1350" b="1">
                <a:solidFill>
                  <a:srgbClr val="26B6CF"/>
                </a:solidFill>
              </a:defRPr>
            </a:lvl6pPr>
            <a:lvl7pPr algn="l">
              <a:defRPr sz="1350" b="1">
                <a:solidFill>
                  <a:srgbClr val="26B6CF"/>
                </a:solidFill>
              </a:defRPr>
            </a:lvl7pPr>
            <a:lvl8pPr algn="l">
              <a:defRPr sz="1350" b="1">
                <a:solidFill>
                  <a:srgbClr val="26B6CF"/>
                </a:solidFill>
              </a:defRPr>
            </a:lvl8pPr>
            <a:lvl9pPr algn="l">
              <a:defRPr sz="13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B6CF"/>
                </a:solidFill>
              </a:defRPr>
            </a:pPr>
            <a:r>
              <a:rPr sz="1350" b="1">
                <a:solidFill>
                  <a:srgbClr val="26B6CF"/>
                </a:solidFill>
              </a:rPr>
              <a:t>Design objective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15AA3-5971-43D9-A5F3-F6651AF5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Help residents understand the water around them while showing what the data cannot establish.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48176-166F-411E-AA48-13C75E3B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37258C-3E81-42CA-A66D-B47C9D95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948776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41A4D2-E422-44AF-AE51-90A232E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EC039-0C0D-4A7B-8CDF-71BF11D3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Aim, users, and scientific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38074-F94E-497F-9458-23838030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3FA71-54B9-4080-9712-D96B0E4D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D6B5E"/>
                </a:solidFill>
              </a:defRPr>
            </a:defPPr>
            <a:lvl1pPr algn="l">
              <a:defRPr sz="1650" b="1">
                <a:solidFill>
                  <a:srgbClr val="0D6B5E"/>
                </a:solidFill>
              </a:defRPr>
            </a:lvl1pPr>
            <a:lvl2pPr algn="l">
              <a:defRPr sz="1650" b="1">
                <a:solidFill>
                  <a:srgbClr val="0D6B5E"/>
                </a:solidFill>
              </a:defRPr>
            </a:lvl2pPr>
            <a:lvl3pPr algn="l">
              <a:defRPr sz="1650" b="1">
                <a:solidFill>
                  <a:srgbClr val="0D6B5E"/>
                </a:solidFill>
              </a:defRPr>
            </a:lvl3pPr>
            <a:lvl4pPr algn="l">
              <a:defRPr sz="1650" b="1">
                <a:solidFill>
                  <a:srgbClr val="0D6B5E"/>
                </a:solidFill>
              </a:defRPr>
            </a:lvl4pPr>
            <a:lvl5pPr algn="l">
              <a:defRPr sz="1650" b="1">
                <a:solidFill>
                  <a:srgbClr val="0D6B5E"/>
                </a:solidFill>
              </a:defRPr>
            </a:lvl5pPr>
            <a:lvl6pPr algn="l">
              <a:defRPr sz="1650" b="1">
                <a:solidFill>
                  <a:srgbClr val="0D6B5E"/>
                </a:solidFill>
              </a:defRPr>
            </a:lvl6pPr>
            <a:lvl7pPr algn="l">
              <a:defRPr sz="1650" b="1">
                <a:solidFill>
                  <a:srgbClr val="0D6B5E"/>
                </a:solidFill>
              </a:defRPr>
            </a:lvl7pPr>
            <a:lvl8pPr algn="l">
              <a:defRPr sz="1650" b="1">
                <a:solidFill>
                  <a:srgbClr val="0D6B5E"/>
                </a:solidFill>
              </a:defRPr>
            </a:lvl8pPr>
            <a:lvl9pPr algn="l">
              <a:defRPr sz="16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D6B5E"/>
                </a:solidFill>
              </a:defRPr>
            </a:pPr>
            <a:r>
              <a:rPr sz="1650" b="1">
                <a:solidFill>
                  <a:srgbClr val="0D6B5E"/>
                </a:solidFill>
              </a:rPr>
              <a:t>What FloodLens provides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677FD-B78D-49B2-B18E-8E010D95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9BF30-6C75-4C14-8817-14132AEA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Relative terrain susceptibility inside a selected local circle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680B2-94A6-451D-A012-57427BB2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75689-3960-4839-91CC-11FF143C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48-hour forecast rainfall context from Open-Meteo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147DC-3519-4FE3-A985-4C38D74B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A5865-686F-4324-B0C1-920FA44D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Containing basin, upstream basin, and nearby mapped-river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7FBEF-85A7-4939-A80E-4F500732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6F5B4-2193-4443-BE25-605CF653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Explicit unavailable and outside-coverage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0FFE1-98F5-47FA-BF0E-46A6FC04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E86F51"/>
                </a:solidFill>
              </a:defRPr>
            </a:defPPr>
            <a:lvl1pPr algn="l">
              <a:defRPr sz="1650" b="1">
                <a:solidFill>
                  <a:srgbClr val="E86F51"/>
                </a:solidFill>
              </a:defRPr>
            </a:lvl1pPr>
            <a:lvl2pPr algn="l">
              <a:defRPr sz="1650" b="1">
                <a:solidFill>
                  <a:srgbClr val="E86F51"/>
                </a:solidFill>
              </a:defRPr>
            </a:lvl2pPr>
            <a:lvl3pPr algn="l">
              <a:defRPr sz="1650" b="1">
                <a:solidFill>
                  <a:srgbClr val="E86F51"/>
                </a:solidFill>
              </a:defRPr>
            </a:lvl3pPr>
            <a:lvl4pPr algn="l">
              <a:defRPr sz="1650" b="1">
                <a:solidFill>
                  <a:srgbClr val="E86F51"/>
                </a:solidFill>
              </a:defRPr>
            </a:lvl4pPr>
            <a:lvl5pPr algn="l">
              <a:defRPr sz="1650" b="1">
                <a:solidFill>
                  <a:srgbClr val="E86F51"/>
                </a:solidFill>
              </a:defRPr>
            </a:lvl5pPr>
            <a:lvl6pPr algn="l">
              <a:defRPr sz="1650" b="1">
                <a:solidFill>
                  <a:srgbClr val="E86F51"/>
                </a:solidFill>
              </a:defRPr>
            </a:lvl6pPr>
            <a:lvl7pPr algn="l">
              <a:defRPr sz="1650" b="1">
                <a:solidFill>
                  <a:srgbClr val="E86F51"/>
                </a:solidFill>
              </a:defRPr>
            </a:lvl7pPr>
            <a:lvl8pPr algn="l">
              <a:defRPr sz="1650" b="1">
                <a:solidFill>
                  <a:srgbClr val="E86F51"/>
                </a:solidFill>
              </a:defRPr>
            </a:lvl8pPr>
            <a:lvl9pPr algn="l">
              <a:defRPr sz="16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86F51"/>
                </a:solidFill>
              </a:defRPr>
            </a:pPr>
            <a:r>
              <a:rPr sz="1650" b="1">
                <a:solidFill>
                  <a:srgbClr val="E86F51"/>
                </a:solidFill>
              </a:rPr>
              <a:t>What the project does not claim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0E965-369B-4668-9C7E-F3F8EB06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66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2D350-8E18-41DC-833D-01059742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526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An official alert or evacuation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A26F4-7283-4495-A122-5F18F553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FCCB2-F790-49DB-A231-F84C7F86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384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A flood depth or property-level probability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7FE2D-299B-4FF4-B6E4-0F2B42FA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F0313-BF41-4183-AA4D-E7962487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242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Proof that a nearby river will affect a selected property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F1160E-B929-4ED5-9D39-1F0F70FB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751F95-D1C1-4C6F-8D51-833D3E1C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10025"/>
            <a:ext cx="4724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02A2A"/>
                </a:solidFill>
              </a:defRPr>
            </a:defPPr>
            <a:lvl1pPr algn="l">
              <a:defRPr sz="1275" b="0">
                <a:solidFill>
                  <a:srgbClr val="102A2A"/>
                </a:solidFill>
              </a:defRPr>
            </a:lvl1pPr>
            <a:lvl2pPr algn="l">
              <a:defRPr sz="1275" b="0">
                <a:solidFill>
                  <a:srgbClr val="102A2A"/>
                </a:solidFill>
              </a:defRPr>
            </a:lvl2pPr>
            <a:lvl3pPr algn="l">
              <a:defRPr sz="1275" b="0">
                <a:solidFill>
                  <a:srgbClr val="102A2A"/>
                </a:solidFill>
              </a:defRPr>
            </a:lvl3pPr>
            <a:lvl4pPr algn="l">
              <a:defRPr sz="1275" b="0">
                <a:solidFill>
                  <a:srgbClr val="102A2A"/>
                </a:solidFill>
              </a:defRPr>
            </a:lvl4pPr>
            <a:lvl5pPr algn="l">
              <a:defRPr sz="1275" b="0">
                <a:solidFill>
                  <a:srgbClr val="102A2A"/>
                </a:solidFill>
              </a:defRPr>
            </a:lvl5pPr>
            <a:lvl6pPr algn="l">
              <a:defRPr sz="1275" b="0">
                <a:solidFill>
                  <a:srgbClr val="102A2A"/>
                </a:solidFill>
              </a:defRPr>
            </a:lvl6pPr>
            <a:lvl7pPr algn="l">
              <a:defRPr sz="1275" b="0">
                <a:solidFill>
                  <a:srgbClr val="102A2A"/>
                </a:solidFill>
              </a:defRPr>
            </a:lvl7pPr>
            <a:lvl8pPr algn="l">
              <a:defRPr sz="1275" b="0">
                <a:solidFill>
                  <a:srgbClr val="102A2A"/>
                </a:solidFill>
              </a:defRPr>
            </a:lvl8pPr>
            <a:lvl9pPr algn="l">
              <a:defRPr sz="1275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02A2A"/>
                </a:solidFill>
              </a:defRPr>
            </a:pPr>
            <a:r>
              <a:rPr sz="1275" b="0">
                <a:solidFill>
                  <a:srgbClr val="102A2A"/>
                </a:solidFill>
              </a:rPr>
              <a:t>Global coverage beyond imported regions and mounted terrain tiles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69103B-907D-41FF-8CC3-5C83DE59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8966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E9E0CF"/>
          </a:solidFill>
          <a:ln xmlns:a="http://schemas.openxmlformats.org/drawingml/2006/main" w="9525">
            <a:solidFill>
              <a:srgbClr val="E9E0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00B934-D4B6-48E9-8314-4F372A6E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14975"/>
            <a:ext cx="10439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02A2A"/>
                </a:solidFill>
              </a:defRPr>
            </a:defPPr>
            <a:lvl1pPr algn="ctr">
              <a:defRPr sz="1350" b="1">
                <a:solidFill>
                  <a:srgbClr val="102A2A"/>
                </a:solidFill>
              </a:defRPr>
            </a:lvl1pPr>
            <a:lvl2pPr algn="ctr">
              <a:defRPr sz="1350" b="1">
                <a:solidFill>
                  <a:srgbClr val="102A2A"/>
                </a:solidFill>
              </a:defRPr>
            </a:lvl2pPr>
            <a:lvl3pPr algn="ctr">
              <a:defRPr sz="1350" b="1">
                <a:solidFill>
                  <a:srgbClr val="102A2A"/>
                </a:solidFill>
              </a:defRPr>
            </a:lvl3pPr>
            <a:lvl4pPr algn="ctr">
              <a:defRPr sz="1350" b="1">
                <a:solidFill>
                  <a:srgbClr val="102A2A"/>
                </a:solidFill>
              </a:defRPr>
            </a:lvl4pPr>
            <a:lvl5pPr algn="ctr">
              <a:defRPr sz="1350" b="1">
                <a:solidFill>
                  <a:srgbClr val="102A2A"/>
                </a:solidFill>
              </a:defRPr>
            </a:lvl5pPr>
            <a:lvl6pPr algn="ctr">
              <a:defRPr sz="1350" b="1">
                <a:solidFill>
                  <a:srgbClr val="102A2A"/>
                </a:solidFill>
              </a:defRPr>
            </a:lvl6pPr>
            <a:lvl7pPr algn="ctr">
              <a:defRPr sz="1350" b="1">
                <a:solidFill>
                  <a:srgbClr val="102A2A"/>
                </a:solidFill>
              </a:defRPr>
            </a:lvl7pPr>
            <a:lvl8pPr algn="ctr">
              <a:defRPr sz="1350" b="1">
                <a:solidFill>
                  <a:srgbClr val="102A2A"/>
                </a:solidFill>
              </a:defRPr>
            </a:lvl8pPr>
            <a:lvl9pPr algn="ctr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The assessment circle is a user-selected area. It is different from a watershed.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88E138-58C9-46E3-A0C8-756E2F04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252FE-F6BC-4F05-9A07-1D4855CA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05796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747123-2998-456C-A30C-39D693B1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9BF5B-F6A3-4558-B348-D3C78473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Data sources and their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43984-EEFB-419A-A61C-7E65D47A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0A3DD-A533-48E0-B0E2-A0C83FA9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4095750"/>
          </a:xfrm>
          <a:prstGeom xmlns:a="http://schemas.openxmlformats.org/drawingml/2006/main" prst="roundRect">
            <a:avLst>
              <a:gd name="adj" fmla="val 3256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516A2-FFF1-4E47-891D-8FF30E32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85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D6B5E"/>
                </a:solidFill>
              </a:defRPr>
            </a:defPPr>
            <a:lvl1pPr algn="l">
              <a:defRPr sz="975" b="1">
                <a:solidFill>
                  <a:srgbClr val="0D6B5E"/>
                </a:solidFill>
              </a:defRPr>
            </a:lvl1pPr>
            <a:lvl2pPr algn="l">
              <a:defRPr sz="975" b="1">
                <a:solidFill>
                  <a:srgbClr val="0D6B5E"/>
                </a:solidFill>
              </a:defRPr>
            </a:lvl2pPr>
            <a:lvl3pPr algn="l">
              <a:defRPr sz="975" b="1">
                <a:solidFill>
                  <a:srgbClr val="0D6B5E"/>
                </a:solidFill>
              </a:defRPr>
            </a:lvl3pPr>
            <a:lvl4pPr algn="l">
              <a:defRPr sz="975" b="1">
                <a:solidFill>
                  <a:srgbClr val="0D6B5E"/>
                </a:solidFill>
              </a:defRPr>
            </a:lvl4pPr>
            <a:lvl5pPr algn="l">
              <a:defRPr sz="975" b="1">
                <a:solidFill>
                  <a:srgbClr val="0D6B5E"/>
                </a:solidFill>
              </a:defRPr>
            </a:lvl5pPr>
            <a:lvl6pPr algn="l">
              <a:defRPr sz="975" b="1">
                <a:solidFill>
                  <a:srgbClr val="0D6B5E"/>
                </a:solidFill>
              </a:defRPr>
            </a:lvl6pPr>
            <a:lvl7pPr algn="l">
              <a:defRPr sz="975" b="1">
                <a:solidFill>
                  <a:srgbClr val="0D6B5E"/>
                </a:solidFill>
              </a:defRPr>
            </a:lvl7pPr>
            <a:lvl8pPr algn="l">
              <a:defRPr sz="975" b="1">
                <a:solidFill>
                  <a:srgbClr val="0D6B5E"/>
                </a:solidFill>
              </a:defRPr>
            </a:lvl8pPr>
            <a:lvl9pPr algn="l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DE5D9-B693-49F2-A730-647755F9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485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D6B5E"/>
                </a:solidFill>
              </a:defRPr>
            </a:defPPr>
            <a:lvl1pPr algn="l">
              <a:defRPr sz="975" b="1">
                <a:solidFill>
                  <a:srgbClr val="0D6B5E"/>
                </a:solidFill>
              </a:defRPr>
            </a:lvl1pPr>
            <a:lvl2pPr algn="l">
              <a:defRPr sz="975" b="1">
                <a:solidFill>
                  <a:srgbClr val="0D6B5E"/>
                </a:solidFill>
              </a:defRPr>
            </a:lvl2pPr>
            <a:lvl3pPr algn="l">
              <a:defRPr sz="975" b="1">
                <a:solidFill>
                  <a:srgbClr val="0D6B5E"/>
                </a:solidFill>
              </a:defRPr>
            </a:lvl3pPr>
            <a:lvl4pPr algn="l">
              <a:defRPr sz="975" b="1">
                <a:solidFill>
                  <a:srgbClr val="0D6B5E"/>
                </a:solidFill>
              </a:defRPr>
            </a:lvl4pPr>
            <a:lvl5pPr algn="l">
              <a:defRPr sz="975" b="1">
                <a:solidFill>
                  <a:srgbClr val="0D6B5E"/>
                </a:solidFill>
              </a:defRPr>
            </a:lvl5pPr>
            <a:lvl6pPr algn="l">
              <a:defRPr sz="975" b="1">
                <a:solidFill>
                  <a:srgbClr val="0D6B5E"/>
                </a:solidFill>
              </a:defRPr>
            </a:lvl6pPr>
            <a:lvl7pPr algn="l">
              <a:defRPr sz="975" b="1">
                <a:solidFill>
                  <a:srgbClr val="0D6B5E"/>
                </a:solidFill>
              </a:defRPr>
            </a:lvl7pPr>
            <a:lvl8pPr algn="l">
              <a:defRPr sz="975" b="1">
                <a:solidFill>
                  <a:srgbClr val="0D6B5E"/>
                </a:solidFill>
              </a:defRPr>
            </a:lvl8pPr>
            <a:lvl9pPr algn="l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26845-0918-4013-8FF3-22D44640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485900"/>
            <a:ext cx="546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D6B5E"/>
                </a:solidFill>
              </a:defRPr>
            </a:defPPr>
            <a:lvl1pPr algn="l">
              <a:defRPr sz="975" b="1">
                <a:solidFill>
                  <a:srgbClr val="0D6B5E"/>
                </a:solidFill>
              </a:defRPr>
            </a:lvl1pPr>
            <a:lvl2pPr algn="l">
              <a:defRPr sz="975" b="1">
                <a:solidFill>
                  <a:srgbClr val="0D6B5E"/>
                </a:solidFill>
              </a:defRPr>
            </a:lvl2pPr>
            <a:lvl3pPr algn="l">
              <a:defRPr sz="975" b="1">
                <a:solidFill>
                  <a:srgbClr val="0D6B5E"/>
                </a:solidFill>
              </a:defRPr>
            </a:lvl3pPr>
            <a:lvl4pPr algn="l">
              <a:defRPr sz="975" b="1">
                <a:solidFill>
                  <a:srgbClr val="0D6B5E"/>
                </a:solidFill>
              </a:defRPr>
            </a:lvl4pPr>
            <a:lvl5pPr algn="l">
              <a:defRPr sz="975" b="1">
                <a:solidFill>
                  <a:srgbClr val="0D6B5E"/>
                </a:solidFill>
              </a:defRPr>
            </a:lvl5pPr>
            <a:lvl6pPr algn="l">
              <a:defRPr sz="975" b="1">
                <a:solidFill>
                  <a:srgbClr val="0D6B5E"/>
                </a:solidFill>
              </a:defRPr>
            </a:lvl6pPr>
            <a:lvl7pPr algn="l">
              <a:defRPr sz="975" b="1">
                <a:solidFill>
                  <a:srgbClr val="0D6B5E"/>
                </a:solidFill>
              </a:defRPr>
            </a:lvl7pPr>
            <a:lvl8pPr algn="l">
              <a:defRPr sz="975" b="1">
                <a:solidFill>
                  <a:srgbClr val="0D6B5E"/>
                </a:solidFill>
              </a:defRPr>
            </a:lvl8pPr>
            <a:lvl9pPr algn="l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IMPORTANT LIMIT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6ED88-514F-4CF7-8F4B-41B509A2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1070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solidFill>
              <a:srgbClr val="EDF2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27EBE-9BE2-434A-9183-54E209F3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FABDEM v1.2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8EF33-ED4C-4103-97BB-83D9ADE6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66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30 m bare-earth elevation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D6E6D-63D9-4C51-B13D-431E11C6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669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Misses drains, walls, culverts, and sewers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AA202-4CC2-4DF7-BDC3-55D88775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HydroBASINS L8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30A8AC-1098-4CF6-A2A8-8A7CD799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38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Containing and upstream basin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EEAFC-BFAE-4100-B002-754180A2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384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Basin membership does not prove property connectivity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611F3-5169-4CFF-A652-34A04676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1070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solidFill>
              <a:srgbClr val="EDF2E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0B3450-010E-47AD-B84A-1591E751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HydroRIVERS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F3048F-1EEF-45FC-8846-09BA90C5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09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Nearby mapped river and distance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BF390-4E7D-4151-97C2-D2F7BC63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099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Generalised geometry; proximity is contextual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124B61-2880-4F4C-8C4D-7479C4C1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Open-Meteo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DB6EF4-37D8-4CBD-8C23-629B83A6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81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48-hour hourly rainfall forecast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F1A778-4B6B-44D3-AC3B-B313BD91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814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Forecast provider, not an official warning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F6077-FB5A-4048-92A8-C757CDCF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10706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F"/>
          </a:solidFill>
          <a:ln xmlns:a="http://schemas.openxmlformats.org/drawingml/2006/main" w="0">
            <a:solidFill>
              <a:srgbClr val="EDF2E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E23CDA-8C4E-433E-ADAC-21BB9DB1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OpenStreetMap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5BFF88-EFC9-460F-AA2E-879AB3B8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529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Location selection and basemap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855739-B3AC-454A-BB2A-BC9CA5A0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1529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Basemap only; no flood labels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0965C4-722F-4F13-8755-CDE23F33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02A2A"/>
                </a:solidFill>
              </a:defRPr>
            </a:defPPr>
            <a:lvl1pPr algn="l">
              <a:defRPr sz="1125" b="1">
                <a:solidFill>
                  <a:srgbClr val="102A2A"/>
                </a:solidFill>
              </a:defRPr>
            </a:lvl1pPr>
            <a:lvl2pPr algn="l">
              <a:defRPr sz="1125" b="1">
                <a:solidFill>
                  <a:srgbClr val="102A2A"/>
                </a:solidFill>
              </a:defRPr>
            </a:lvl2pPr>
            <a:lvl3pPr algn="l">
              <a:defRPr sz="1125" b="1">
                <a:solidFill>
                  <a:srgbClr val="102A2A"/>
                </a:solidFill>
              </a:defRPr>
            </a:lvl3pPr>
            <a:lvl4pPr algn="l">
              <a:defRPr sz="1125" b="1">
                <a:solidFill>
                  <a:srgbClr val="102A2A"/>
                </a:solidFill>
              </a:defRPr>
            </a:lvl4pPr>
            <a:lvl5pPr algn="l">
              <a:defRPr sz="1125" b="1">
                <a:solidFill>
                  <a:srgbClr val="102A2A"/>
                </a:solidFill>
              </a:defRPr>
            </a:lvl5pPr>
            <a:lvl6pPr algn="l">
              <a:defRPr sz="1125" b="1">
                <a:solidFill>
                  <a:srgbClr val="102A2A"/>
                </a:solidFill>
              </a:defRPr>
            </a:lvl6pPr>
            <a:lvl7pPr algn="l">
              <a:defRPr sz="1125" b="1">
                <a:solidFill>
                  <a:srgbClr val="102A2A"/>
                </a:solidFill>
              </a:defRPr>
            </a:lvl7pPr>
            <a:lvl8pPr algn="l">
              <a:defRPr sz="1125" b="1">
                <a:solidFill>
                  <a:srgbClr val="102A2A"/>
                </a:solidFill>
              </a:defRPr>
            </a:lvl8pPr>
            <a:lvl9pPr algn="l">
              <a:defRPr sz="11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02A2A"/>
                </a:solidFill>
              </a:defRPr>
            </a:pPr>
            <a:r>
              <a:rPr sz="1125" b="1">
                <a:solidFill>
                  <a:srgbClr val="102A2A"/>
                </a:solidFill>
              </a:rPr>
              <a:t>Sen1Floods11 + CHIRPS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180551-A191-4732-9503-A40CCD4C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724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102A2A"/>
                </a:solidFill>
              </a:defRPr>
            </a:defPPr>
            <a:lvl1pPr algn="l">
              <a:defRPr sz="1050" b="0">
                <a:solidFill>
                  <a:srgbClr val="102A2A"/>
                </a:solidFill>
              </a:defRPr>
            </a:lvl1pPr>
            <a:lvl2pPr algn="l">
              <a:defRPr sz="1050" b="0">
                <a:solidFill>
                  <a:srgbClr val="102A2A"/>
                </a:solidFill>
              </a:defRPr>
            </a:lvl2pPr>
            <a:lvl3pPr algn="l">
              <a:defRPr sz="1050" b="0">
                <a:solidFill>
                  <a:srgbClr val="102A2A"/>
                </a:solidFill>
              </a:defRPr>
            </a:lvl3pPr>
            <a:lvl4pPr algn="l">
              <a:defRPr sz="1050" b="0">
                <a:solidFill>
                  <a:srgbClr val="102A2A"/>
                </a:solidFill>
              </a:defRPr>
            </a:lvl4pPr>
            <a:lvl5pPr algn="l">
              <a:defRPr sz="1050" b="0">
                <a:solidFill>
                  <a:srgbClr val="102A2A"/>
                </a:solidFill>
              </a:defRPr>
            </a:lvl5pPr>
            <a:lvl6pPr algn="l">
              <a:defRPr sz="1050" b="0">
                <a:solidFill>
                  <a:srgbClr val="102A2A"/>
                </a:solidFill>
              </a:defRPr>
            </a:lvl6pPr>
            <a:lvl7pPr algn="l">
              <a:defRPr sz="1050" b="0">
                <a:solidFill>
                  <a:srgbClr val="102A2A"/>
                </a:solidFill>
              </a:defRPr>
            </a:lvl7pPr>
            <a:lvl8pPr algn="l">
              <a:defRPr sz="1050" b="0">
                <a:solidFill>
                  <a:srgbClr val="102A2A"/>
                </a:solidFill>
              </a:defRPr>
            </a:lvl8pPr>
            <a:lvl9pPr algn="l">
              <a:defRPr sz="1050" b="0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102A2A"/>
                </a:solidFill>
              </a:defRPr>
            </a:pPr>
            <a:r>
              <a:rPr sz="1050" b="0">
                <a:solidFill>
                  <a:srgbClr val="102A2A"/>
                </a:solidFill>
              </a:rPr>
              <a:t>Historical labels, SAR, and rainfall research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D4DBD6-BDD3-4C7E-939D-589CFF98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24400"/>
            <a:ext cx="5467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Research only; labels may include permanent water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395D4E-4054-43B1-BF7D-94B14814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531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E86F51"/>
                </a:solidFill>
              </a:defRPr>
            </a:defPPr>
            <a:lvl1pPr algn="ctr">
              <a:defRPr sz="1200" b="1">
                <a:solidFill>
                  <a:srgbClr val="E86F51"/>
                </a:solidFill>
              </a:defRPr>
            </a:lvl1pPr>
            <a:lvl2pPr algn="ctr">
              <a:defRPr sz="1200" b="1">
                <a:solidFill>
                  <a:srgbClr val="E86F51"/>
                </a:solidFill>
              </a:defRPr>
            </a:lvl2pPr>
            <a:lvl3pPr algn="ctr">
              <a:defRPr sz="1200" b="1">
                <a:solidFill>
                  <a:srgbClr val="E86F51"/>
                </a:solidFill>
              </a:defRPr>
            </a:lvl3pPr>
            <a:lvl4pPr algn="ctr">
              <a:defRPr sz="1200" b="1">
                <a:solidFill>
                  <a:srgbClr val="E86F51"/>
                </a:solidFill>
              </a:defRPr>
            </a:lvl4pPr>
            <a:lvl5pPr algn="ctr">
              <a:defRPr sz="1200" b="1">
                <a:solidFill>
                  <a:srgbClr val="E86F51"/>
                </a:solidFill>
              </a:defRPr>
            </a:lvl5pPr>
            <a:lvl6pPr algn="ctr">
              <a:defRPr sz="1200" b="1">
                <a:solidFill>
                  <a:srgbClr val="E86F51"/>
                </a:solidFill>
              </a:defRPr>
            </a:lvl6pPr>
            <a:lvl7pPr algn="ctr">
              <a:defRPr sz="1200" b="1">
                <a:solidFill>
                  <a:srgbClr val="E86F51"/>
                </a:solidFill>
              </a:defRPr>
            </a:lvl7pPr>
            <a:lvl8pPr algn="ctr">
              <a:defRPr sz="1200" b="1">
                <a:solidFill>
                  <a:srgbClr val="E86F51"/>
                </a:solidFill>
              </a:defRPr>
            </a:lvl8pPr>
            <a:lvl9pPr algn="ctr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Current local demo coverage: Asia HydroSHEDS imports and Chennai-area FABDEM tiles.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3D58CB-75D5-4C63-A02B-8BB88168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5A1418-142A-4F41-B013-A5EEEFD2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2830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12EE76-46FA-4DE0-A484-4686776D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F2937-9F1D-45A0-B771-520C37B8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7C9B3-2A75-4551-B7D9-770276EF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resident app and historical-event lab share one local web service while keeping calculations separate.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4080D-F9D5-49D0-AC26-7FA3959B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34498-1308-4D38-A2EA-DB9FEE7F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23096-B9F2-4686-8658-1123EA34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F0350-204D-4971-9566-A94DCBDC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React + Leaflet</a:t>
            </a:r>
          </a:p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Resident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930F3-3270-4C89-BBE9-0C8DE3D4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6AE59-5889-413D-9CF7-73BE1B54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2BEAC-02D2-4E27-AD48-D9E4696E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FastAPI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F0983-3AC8-4AB9-9371-C46D2549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Validation, UUID jobs, polling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5338D-DE64-48F9-9154-7970A1F7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2BE92-5490-41C2-AF6B-8DE9BD54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1E117-D1CD-4FC2-9AA0-D5E0BAB3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PostGIS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2F004-3F68-4944-A9FD-25DEB1CB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Jobs, results, basin and river geometry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0E8861-B213-447D-9464-A36580F3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6DF0AE-8E1D-40F5-B050-99FED1F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40A8BB-85B5-422D-96B9-943C5E6F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Worker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E9A5A0-4FF3-4B24-A150-24950D7F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Claims jobs and calculates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F2AFC-3F32-46B2-A61C-C61165C1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3365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850" b="1">
                <a:solidFill>
                  <a:srgbClr val="0D6B5E"/>
                </a:solidFill>
              </a:defRPr>
            </a:defPPr>
            <a:lvl1pPr algn="ctr">
              <a:defRPr sz="2850" b="1">
                <a:solidFill>
                  <a:srgbClr val="0D6B5E"/>
                </a:solidFill>
              </a:defRPr>
            </a:lvl1pPr>
            <a:lvl2pPr algn="ctr">
              <a:defRPr sz="2850" b="1">
                <a:solidFill>
                  <a:srgbClr val="0D6B5E"/>
                </a:solidFill>
              </a:defRPr>
            </a:lvl2pPr>
            <a:lvl3pPr algn="ctr">
              <a:defRPr sz="2850" b="1">
                <a:solidFill>
                  <a:srgbClr val="0D6B5E"/>
                </a:solidFill>
              </a:defRPr>
            </a:lvl3pPr>
            <a:lvl4pPr algn="ctr">
              <a:defRPr sz="2850" b="1">
                <a:solidFill>
                  <a:srgbClr val="0D6B5E"/>
                </a:solidFill>
              </a:defRPr>
            </a:lvl4pPr>
            <a:lvl5pPr algn="ctr">
              <a:defRPr sz="2850" b="1">
                <a:solidFill>
                  <a:srgbClr val="0D6B5E"/>
                </a:solidFill>
              </a:defRPr>
            </a:lvl5pPr>
            <a:lvl6pPr algn="ctr">
              <a:defRPr sz="2850" b="1">
                <a:solidFill>
                  <a:srgbClr val="0D6B5E"/>
                </a:solidFill>
              </a:defRPr>
            </a:lvl6pPr>
            <a:lvl7pPr algn="ctr">
              <a:defRPr sz="2850" b="1">
                <a:solidFill>
                  <a:srgbClr val="0D6B5E"/>
                </a:solidFill>
              </a:defRPr>
            </a:lvl7pPr>
            <a:lvl8pPr algn="ctr">
              <a:defRPr sz="2850" b="1">
                <a:solidFill>
                  <a:srgbClr val="0D6B5E"/>
                </a:solidFill>
              </a:defRPr>
            </a:lvl8pPr>
            <a:lvl9pPr algn="ctr">
              <a:defRPr sz="28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0D6B5E"/>
                </a:solidFill>
              </a:defRPr>
            </a:pPr>
            <a:r>
              <a:rPr sz="2850" b="1">
                <a:solidFill>
                  <a:srgbClr val="0D6B5E"/>
                </a:solidFill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068C42-F3C4-4CD6-B092-FAB36832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00250"/>
            <a:ext cx="1771650" cy="16573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40B508-C8FB-46B1-9C45-5F8CDCDF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717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Data providers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8369C-DA24-4BBB-88D8-35711595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0985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0">
                <a:solidFill>
                  <a:srgbClr val="526262"/>
                </a:solidFill>
              </a:defRPr>
            </a:defPPr>
            <a:lvl1pPr algn="ctr">
              <a:defRPr sz="1050" b="0">
                <a:solidFill>
                  <a:srgbClr val="526262"/>
                </a:solidFill>
              </a:defRPr>
            </a:lvl1pPr>
            <a:lvl2pPr algn="ctr">
              <a:defRPr sz="1050" b="0">
                <a:solidFill>
                  <a:srgbClr val="526262"/>
                </a:solidFill>
              </a:defRPr>
            </a:lvl2pPr>
            <a:lvl3pPr algn="ctr">
              <a:defRPr sz="1050" b="0">
                <a:solidFill>
                  <a:srgbClr val="526262"/>
                </a:solidFill>
              </a:defRPr>
            </a:lvl3pPr>
            <a:lvl4pPr algn="ctr">
              <a:defRPr sz="1050" b="0">
                <a:solidFill>
                  <a:srgbClr val="526262"/>
                </a:solidFill>
              </a:defRPr>
            </a:lvl4pPr>
            <a:lvl5pPr algn="ctr">
              <a:defRPr sz="1050" b="0">
                <a:solidFill>
                  <a:srgbClr val="526262"/>
                </a:solidFill>
              </a:defRPr>
            </a:lvl5pPr>
            <a:lvl6pPr algn="ctr">
              <a:defRPr sz="1050" b="0">
                <a:solidFill>
                  <a:srgbClr val="526262"/>
                </a:solidFill>
              </a:defRPr>
            </a:lvl6pPr>
            <a:lvl7pPr algn="ctr">
              <a:defRPr sz="1050" b="0">
                <a:solidFill>
                  <a:srgbClr val="526262"/>
                </a:solidFill>
              </a:defRPr>
            </a:lvl7pPr>
            <a:lvl8pPr algn="ctr">
              <a:defRPr sz="1050" b="0">
                <a:solidFill>
                  <a:srgbClr val="526262"/>
                </a:solidFill>
              </a:defRPr>
            </a:lvl8pPr>
            <a:lvl9pPr algn="ctr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FABDEM</a:t>
            </a:r>
          </a:p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Open-Meteo</a:t>
            </a:r>
          </a:p>
          <a:p xmlns:a="http://schemas.openxmlformats.org/drawingml/2006/main">
            <a:pPr algn="ctr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HydroSHEDS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A0CA4F-7E15-45F3-A26A-177CB848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29100"/>
            <a:ext cx="63817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E0F483-8E1D-431E-AC3E-78F713D1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005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Docker exposes the app on localhost. PostgreSQL stays private. The worker claims jobs transactionally.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904C00-013B-4E70-91D3-58ADD717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89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E86F51"/>
                </a:solidFill>
              </a:defRPr>
            </a:defPPr>
            <a:lvl1pPr algn="ctr">
              <a:defRPr sz="1350" b="1">
                <a:solidFill>
                  <a:srgbClr val="E86F51"/>
                </a:solidFill>
              </a:defRPr>
            </a:lvl1pPr>
            <a:lvl2pPr algn="ctr">
              <a:defRPr sz="1350" b="1">
                <a:solidFill>
                  <a:srgbClr val="E86F51"/>
                </a:solidFill>
              </a:defRPr>
            </a:lvl2pPr>
            <a:lvl3pPr algn="ctr">
              <a:defRPr sz="1350" b="1">
                <a:solidFill>
                  <a:srgbClr val="E86F51"/>
                </a:solidFill>
              </a:defRPr>
            </a:lvl3pPr>
            <a:lvl4pPr algn="ctr">
              <a:defRPr sz="1350" b="1">
                <a:solidFill>
                  <a:srgbClr val="E86F51"/>
                </a:solidFill>
              </a:defRPr>
            </a:lvl4pPr>
            <a:lvl5pPr algn="ctr">
              <a:defRPr sz="1350" b="1">
                <a:solidFill>
                  <a:srgbClr val="E86F51"/>
                </a:solidFill>
              </a:defRPr>
            </a:lvl5pPr>
            <a:lvl6pPr algn="ctr">
              <a:defRPr sz="1350" b="1">
                <a:solidFill>
                  <a:srgbClr val="E86F51"/>
                </a:solidFill>
              </a:defRPr>
            </a:lvl6pPr>
            <a:lvl7pPr algn="ctr">
              <a:defRPr sz="1350" b="1">
                <a:solidFill>
                  <a:srgbClr val="E86F51"/>
                </a:solidFill>
              </a:defRPr>
            </a:lvl7pPr>
            <a:lvl8pPr algn="ctr">
              <a:defRPr sz="1350" b="1">
                <a:solidFill>
                  <a:srgbClr val="E86F51"/>
                </a:solidFill>
              </a:defRPr>
            </a:lvl8pPr>
            <a:lvl9pPr algn="ctr">
              <a:defRPr sz="13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E86F51"/>
                </a:solidFill>
              </a:defRPr>
            </a:pPr>
            <a:r>
              <a:rPr sz="1350" b="1">
                <a:solidFill>
                  <a:srgbClr val="E86F51"/>
                </a:solidFill>
              </a:rPr>
              <a:t>Offline research never writes a flood probability into the resident assessment.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0E85F5-5A97-487D-BF7F-7CC83F48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54F667-E61F-4784-BC90-86CD345A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884680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6B4EE3-ED62-44FD-A5E7-345E8FD4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6ED05-3505-4012-B11E-FB121E2C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From map click to neighbourhood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D7F15-1655-413B-8695-19A374D8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099B1-3F80-4B10-BCFA-9BB6FFB6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3495C-FE85-401F-A106-79C7E827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84FEF-FA2C-44CD-9E65-6590935F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2BD41-E867-4985-99FF-A5C3EBFA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192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Select location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3272C-38B0-4D1C-8CC1-3F2EAABC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621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Click the map, choose a city, or enter coordinates.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2CF1A-57FE-4E17-9E7F-400491B7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1E53F-EF04-4EAA-BAD9-A01356BB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95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04B1A-CBF3-43C3-9EE9-377E231D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695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C51FC-58EB-4B8D-9A75-C9CE3DFB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6192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Choose area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18624-B628-468A-9F1D-2FE1F7B0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9621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Select a 1 km, 2 km, or 5 km circle.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B82283-8CB5-4959-BF62-04D747C4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240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30099-CDF6-4174-82D6-ED924B14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114FB6-A76A-4623-B09A-5ED2D2B2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95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7A122-2605-4E1F-A492-E46AA2AE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192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Create job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5A8FD-74CB-473C-96BA-934BB4F5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621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FastAPI validates input and stores a UUID job.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865178-E6D0-46F5-935B-67A9557B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623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7C1A05-633C-48D8-9563-B9563E0D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A9B883-1D8B-48B4-9EF5-5790C75D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297F76-D1BA-4CF7-B539-E596DF09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Collect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F36C0A-116F-466C-9B29-925785C3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Worker samples terrain, rain, and river-basin data.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E251BE-3DE6-4F51-BD61-F2C4ABF0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623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C8F0D6-BAD4-46E4-9A88-7F5B81A5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33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0C2AFD-4252-4CED-9C41-64E20FF5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513D0B-F3B6-4195-B4F8-E2E47D00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257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Persist result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2DC4A0-8940-4119-9B4F-E50BD6B5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6004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PostGIS stores factors, provenance, and status.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38805B-8F7C-44A6-957B-0423CE3B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97CF58-4248-4E4B-83E5-AAEC8F08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D54F68-ACEA-4266-AA8C-5951B198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F222E8-76EF-4274-8160-8BC2B72F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Explain result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C68022-4390-4F71-8A86-00CD0A52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Frontend shows result cards or an unavailable state.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B5AD88-94F7-4DE2-A6FD-75A2DB89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525D63-EDCC-4570-A083-A321CF37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0D6B5E"/>
                </a:solidFill>
              </a:defRPr>
            </a:defPPr>
            <a:lvl1pPr algn="ctr">
              <a:defRPr sz="1425" b="1">
                <a:solidFill>
                  <a:srgbClr val="0D6B5E"/>
                </a:solidFill>
              </a:defRPr>
            </a:lvl1pPr>
            <a:lvl2pPr algn="ctr">
              <a:defRPr sz="1425" b="1">
                <a:solidFill>
                  <a:srgbClr val="0D6B5E"/>
                </a:solidFill>
              </a:defRPr>
            </a:lvl2pPr>
            <a:lvl3pPr algn="ctr">
              <a:defRPr sz="1425" b="1">
                <a:solidFill>
                  <a:srgbClr val="0D6B5E"/>
                </a:solidFill>
              </a:defRPr>
            </a:lvl3pPr>
            <a:lvl4pPr algn="ctr">
              <a:defRPr sz="1425" b="1">
                <a:solidFill>
                  <a:srgbClr val="0D6B5E"/>
                </a:solidFill>
              </a:defRPr>
            </a:lvl4pPr>
            <a:lvl5pPr algn="ctr">
              <a:defRPr sz="1425" b="1">
                <a:solidFill>
                  <a:srgbClr val="0D6B5E"/>
                </a:solidFill>
              </a:defRPr>
            </a:lvl5pPr>
            <a:lvl6pPr algn="ctr">
              <a:defRPr sz="1425" b="1">
                <a:solidFill>
                  <a:srgbClr val="0D6B5E"/>
                </a:solidFill>
              </a:defRPr>
            </a:lvl6pPr>
            <a:lvl7pPr algn="ctr">
              <a:defRPr sz="1425" b="1">
                <a:solidFill>
                  <a:srgbClr val="0D6B5E"/>
                </a:solidFill>
              </a:defRPr>
            </a:lvl7pPr>
            <a:lvl8pPr algn="ctr">
              <a:defRPr sz="1425" b="1">
                <a:solidFill>
                  <a:srgbClr val="0D6B5E"/>
                </a:solidFill>
              </a:defRPr>
            </a:lvl8pPr>
            <a:lvl9pPr algn="ctr">
              <a:defRPr sz="14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0D6B5E"/>
                </a:solidFill>
              </a:defRPr>
            </a:pPr>
            <a:r>
              <a:rPr sz="1425" b="1">
                <a:solidFill>
                  <a:srgbClr val="0D6B5E"/>
                </a:solidFill>
              </a:rPr>
              <a:t>queued  ›  running  ›  complete     or     waiting_for_data / outside_coverage / failed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55E529-4C17-42FD-BF8B-637DF17C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4B9C9F-BC82-4526-B4B8-C3D93351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957544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92784-1B4B-47E8-9B5B-80741FC1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98C24-8EC3-4532-B72B-1AEF0F7E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Terrain score: deterministic, local, and explainable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EFDF4-9F85-4CD0-8EC1-E4022262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3ECFB-9700-4731-BBD0-018C9330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048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C788D-9F13-4604-A480-B10B4216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2A"/>
                </a:solidFill>
              </a:defRPr>
            </a:defPPr>
            <a:lvl1pPr algn="l">
              <a:defRPr sz="1650" b="1">
                <a:solidFill>
                  <a:srgbClr val="102A2A"/>
                </a:solidFill>
              </a:defRPr>
            </a:lvl1pPr>
            <a:lvl2pPr algn="l">
              <a:defRPr sz="1650" b="1">
                <a:solidFill>
                  <a:srgbClr val="102A2A"/>
                </a:solidFill>
              </a:defRPr>
            </a:lvl2pPr>
            <a:lvl3pPr algn="l">
              <a:defRPr sz="1650" b="1">
                <a:solidFill>
                  <a:srgbClr val="102A2A"/>
                </a:solidFill>
              </a:defRPr>
            </a:lvl3pPr>
            <a:lvl4pPr algn="l">
              <a:defRPr sz="1650" b="1">
                <a:solidFill>
                  <a:srgbClr val="102A2A"/>
                </a:solidFill>
              </a:defRPr>
            </a:lvl4pPr>
            <a:lvl5pPr algn="l">
              <a:defRPr sz="1650" b="1">
                <a:solidFill>
                  <a:srgbClr val="102A2A"/>
                </a:solidFill>
              </a:defRPr>
            </a:lvl5pPr>
            <a:lvl6pPr algn="l">
              <a:defRPr sz="1650" b="1">
                <a:solidFill>
                  <a:srgbClr val="102A2A"/>
                </a:solidFill>
              </a:defRPr>
            </a:lvl6pPr>
            <a:lvl7pPr algn="l">
              <a:defRPr sz="1650" b="1">
                <a:solidFill>
                  <a:srgbClr val="102A2A"/>
                </a:solidFill>
              </a:defRPr>
            </a:lvl7pPr>
            <a:lvl8pPr algn="l">
              <a:defRPr sz="1650" b="1">
                <a:solidFill>
                  <a:srgbClr val="102A2A"/>
                </a:solidFill>
              </a:defRPr>
            </a:lvl8pPr>
            <a:lvl9pPr algn="l">
              <a:defRPr sz="16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02A2A"/>
                </a:solidFill>
              </a:defRPr>
            </a:pPr>
            <a:r>
              <a:rPr sz="1650" b="1">
                <a:solidFill>
                  <a:srgbClr val="102A2A"/>
                </a:solidFill>
              </a:rPr>
              <a:t>Relative terrain susceptibility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EDC986-0476-4E00-A626-D453678E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55%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86FCF-6B7D-43FB-A996-601E5F60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low relative elevation 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2B914-D0AA-4211-A0AC-1067F7F5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050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407BC1"/>
                </a:solidFill>
              </a:defRPr>
            </a:defPPr>
            <a:lvl1pPr algn="l">
              <a:defRPr sz="2625" b="1">
                <a:solidFill>
                  <a:srgbClr val="407BC1"/>
                </a:solidFill>
              </a:defRPr>
            </a:lvl1pPr>
            <a:lvl2pPr algn="l">
              <a:defRPr sz="2625" b="1">
                <a:solidFill>
                  <a:srgbClr val="407BC1"/>
                </a:solidFill>
              </a:defRPr>
            </a:lvl2pPr>
            <a:lvl3pPr algn="l">
              <a:defRPr sz="2625" b="1">
                <a:solidFill>
                  <a:srgbClr val="407BC1"/>
                </a:solidFill>
              </a:defRPr>
            </a:lvl3pPr>
            <a:lvl4pPr algn="l">
              <a:defRPr sz="2625" b="1">
                <a:solidFill>
                  <a:srgbClr val="407BC1"/>
                </a:solidFill>
              </a:defRPr>
            </a:lvl4pPr>
            <a:lvl5pPr algn="l">
              <a:defRPr sz="2625" b="1">
                <a:solidFill>
                  <a:srgbClr val="407BC1"/>
                </a:solidFill>
              </a:defRPr>
            </a:lvl5pPr>
            <a:lvl6pPr algn="l">
              <a:defRPr sz="2625" b="1">
                <a:solidFill>
                  <a:srgbClr val="407BC1"/>
                </a:solidFill>
              </a:defRPr>
            </a:lvl6pPr>
            <a:lvl7pPr algn="l">
              <a:defRPr sz="2625" b="1">
                <a:solidFill>
                  <a:srgbClr val="407BC1"/>
                </a:solidFill>
              </a:defRPr>
            </a:lvl7pPr>
            <a:lvl8pPr algn="l">
              <a:defRPr sz="2625" b="1">
                <a:solidFill>
                  <a:srgbClr val="407BC1"/>
                </a:solidFill>
              </a:defRPr>
            </a:lvl8pPr>
            <a:lvl9pPr algn="l">
              <a:defRPr sz="2625" b="1">
                <a:solidFill>
                  <a:srgbClr val="407BC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407BC1"/>
                </a:solidFill>
              </a:defRPr>
            </a:pPr>
            <a:r>
              <a:rPr sz="2625" b="1">
                <a:solidFill>
                  <a:srgbClr val="407BC1"/>
                </a:solidFill>
              </a:rPr>
              <a:t>25%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34A52-8B84-4DAC-95EF-7BEAC76A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43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flatness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12B04-72D6-49DE-9710-C9EE3E41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20%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737A8-C022-4B19-9707-77F72310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low local relief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61561-76E9-4A34-B86E-963E6B63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26262"/>
                </a:solidFill>
              </a:defRPr>
            </a:defPPr>
            <a:lvl1pPr algn="l">
              <a:defRPr sz="1125" b="1">
                <a:solidFill>
                  <a:srgbClr val="526262"/>
                </a:solidFill>
              </a:defRPr>
            </a:lvl1pPr>
            <a:lvl2pPr algn="l">
              <a:defRPr sz="1125" b="1">
                <a:solidFill>
                  <a:srgbClr val="526262"/>
                </a:solidFill>
              </a:defRPr>
            </a:lvl2pPr>
            <a:lvl3pPr algn="l">
              <a:defRPr sz="1125" b="1">
                <a:solidFill>
                  <a:srgbClr val="526262"/>
                </a:solidFill>
              </a:defRPr>
            </a:lvl3pPr>
            <a:lvl4pPr algn="l">
              <a:defRPr sz="1125" b="1">
                <a:solidFill>
                  <a:srgbClr val="526262"/>
                </a:solidFill>
              </a:defRPr>
            </a:lvl4pPr>
            <a:lvl5pPr algn="l">
              <a:defRPr sz="1125" b="1">
                <a:solidFill>
                  <a:srgbClr val="526262"/>
                </a:solidFill>
              </a:defRPr>
            </a:lvl5pPr>
            <a:lvl6pPr algn="l">
              <a:defRPr sz="1125" b="1">
                <a:solidFill>
                  <a:srgbClr val="526262"/>
                </a:solidFill>
              </a:defRPr>
            </a:lvl6pPr>
            <a:lvl7pPr algn="l">
              <a:defRPr sz="1125" b="1">
                <a:solidFill>
                  <a:srgbClr val="526262"/>
                </a:solidFill>
              </a:defRPr>
            </a:lvl7pPr>
            <a:lvl8pPr algn="l">
              <a:defRPr sz="1125" b="1">
                <a:solidFill>
                  <a:srgbClr val="526262"/>
                </a:solidFill>
              </a:defRPr>
            </a:lvl8pPr>
            <a:lvl9pPr algn="l">
              <a:defRPr sz="11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526262"/>
                </a:solidFill>
              </a:defRPr>
            </a:pPr>
            <a:r>
              <a:rPr sz="1125" b="1">
                <a:solidFill>
                  <a:srgbClr val="526262"/>
                </a:solidFill>
              </a:rPr>
              <a:t>0–33 lower   •   34–66 moderate   •   67–100 higher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804A1-5A11-4951-A755-55D45EA5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0"/>
            <a:ext cx="5429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74B2C-24C5-4D57-B193-C024F729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FFFFFF"/>
                </a:solidFill>
              </a:defRPr>
            </a:defPPr>
            <a:lvl1pPr algn="l">
              <a:defRPr sz="1725" b="1">
                <a:solidFill>
                  <a:srgbClr val="FFFFFF"/>
                </a:solidFill>
              </a:defRPr>
            </a:lvl1pPr>
            <a:lvl2pPr algn="l">
              <a:defRPr sz="1725" b="1">
                <a:solidFill>
                  <a:srgbClr val="FFFFFF"/>
                </a:solidFill>
              </a:defRPr>
            </a:lvl2pPr>
            <a:lvl3pPr algn="l">
              <a:defRPr sz="1725" b="1">
                <a:solidFill>
                  <a:srgbClr val="FFFFFF"/>
                </a:solidFill>
              </a:defRPr>
            </a:lvl3pPr>
            <a:lvl4pPr algn="l">
              <a:defRPr sz="1725" b="1">
                <a:solidFill>
                  <a:srgbClr val="FFFFFF"/>
                </a:solidFill>
              </a:defRPr>
            </a:lvl4pPr>
            <a:lvl5pPr algn="l">
              <a:defRPr sz="1725" b="1">
                <a:solidFill>
                  <a:srgbClr val="FFFFFF"/>
                </a:solidFill>
              </a:defRPr>
            </a:lvl5pPr>
            <a:lvl6pPr algn="l">
              <a:defRPr sz="1725" b="1">
                <a:solidFill>
                  <a:srgbClr val="FFFFFF"/>
                </a:solidFill>
              </a:defRPr>
            </a:lvl6pPr>
            <a:lvl7pPr algn="l">
              <a:defRPr sz="1725" b="1">
                <a:solidFill>
                  <a:srgbClr val="FFFFFF"/>
                </a:solidFill>
              </a:defRPr>
            </a:lvl7pPr>
            <a:lvl8pPr algn="l">
              <a:defRPr sz="1725" b="1">
                <a:solidFill>
                  <a:srgbClr val="FFFFFF"/>
                </a:solidFill>
              </a:defRPr>
            </a:lvl8pPr>
            <a:lvl9pPr algn="l">
              <a:defRPr sz="17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What 65/100 means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1D4BF-4052-4D65-A685-B5BF68BA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9800"/>
            <a:ext cx="4476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D8E5E2"/>
                </a:solidFill>
              </a:defRPr>
            </a:defPPr>
            <a:lvl1pPr algn="l">
              <a:defRPr sz="1725" b="0">
                <a:solidFill>
                  <a:srgbClr val="D8E5E2"/>
                </a:solidFill>
              </a:defRPr>
            </a:lvl1pPr>
            <a:lvl2pPr algn="l">
              <a:defRPr sz="1725" b="0">
                <a:solidFill>
                  <a:srgbClr val="D8E5E2"/>
                </a:solidFill>
              </a:defRPr>
            </a:lvl2pPr>
            <a:lvl3pPr algn="l">
              <a:defRPr sz="1725" b="0">
                <a:solidFill>
                  <a:srgbClr val="D8E5E2"/>
                </a:solidFill>
              </a:defRPr>
            </a:lvl3pPr>
            <a:lvl4pPr algn="l">
              <a:defRPr sz="1725" b="0">
                <a:solidFill>
                  <a:srgbClr val="D8E5E2"/>
                </a:solidFill>
              </a:defRPr>
            </a:lvl4pPr>
            <a:lvl5pPr algn="l">
              <a:defRPr sz="1725" b="0">
                <a:solidFill>
                  <a:srgbClr val="D8E5E2"/>
                </a:solidFill>
              </a:defRPr>
            </a:lvl5pPr>
            <a:lvl6pPr algn="l">
              <a:defRPr sz="1725" b="0">
                <a:solidFill>
                  <a:srgbClr val="D8E5E2"/>
                </a:solidFill>
              </a:defRPr>
            </a:lvl6pPr>
            <a:lvl7pPr algn="l">
              <a:defRPr sz="1725" b="0">
                <a:solidFill>
                  <a:srgbClr val="D8E5E2"/>
                </a:solidFill>
              </a:defRPr>
            </a:lvl7pPr>
            <a:lvl8pPr algn="l">
              <a:defRPr sz="1725" b="0">
                <a:solidFill>
                  <a:srgbClr val="D8E5E2"/>
                </a:solidFill>
              </a:defRPr>
            </a:lvl8pPr>
            <a:lvl9pPr algn="l">
              <a:defRPr sz="1725" b="0">
                <a:solidFill>
                  <a:srgbClr val="D8E5E2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D8E5E2"/>
                </a:solidFill>
              </a:defRPr>
            </a:pPr>
            <a:r>
              <a:rPr sz="1725" b="0">
                <a:solidFill>
                  <a:srgbClr val="D8E5E2"/>
                </a:solidFill>
              </a:rPr>
              <a:t>Moderate relative terrain susceptibility within the sampled circle.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0871E-325F-4A2F-8E86-FB1ABDD6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</a:defRPr>
            </a:defPPr>
            <a:lvl1pPr algn="l">
              <a:defRPr sz="1350" b="1">
                <a:solidFill>
                  <a:srgbClr val="FFFFFF"/>
                </a:solidFill>
              </a:defRPr>
            </a:lvl1pPr>
            <a:lvl2pPr algn="l">
              <a:defRPr sz="1350" b="1">
                <a:solidFill>
                  <a:srgbClr val="FFFFFF"/>
                </a:solidFill>
              </a:defRPr>
            </a:lvl2pPr>
            <a:lvl3pPr algn="l">
              <a:defRPr sz="1350" b="1">
                <a:solidFill>
                  <a:srgbClr val="FFFFFF"/>
                </a:solidFill>
              </a:defRPr>
            </a:lvl3pPr>
            <a:lvl4pPr algn="l">
              <a:defRPr sz="1350" b="1">
                <a:solidFill>
                  <a:srgbClr val="FFFFFF"/>
                </a:solidFill>
              </a:defRPr>
            </a:lvl4pPr>
            <a:lvl5pPr algn="l">
              <a:defRPr sz="1350" b="1">
                <a:solidFill>
                  <a:srgbClr val="FFFFFF"/>
                </a:solidFill>
              </a:defRPr>
            </a:lvl5pPr>
            <a:lvl6pPr algn="l">
              <a:defRPr sz="1350" b="1">
                <a:solidFill>
                  <a:srgbClr val="FFFFFF"/>
                </a:solidFill>
              </a:defRPr>
            </a:lvl6pPr>
            <a:lvl7pPr algn="l">
              <a:defRPr sz="1350" b="1">
                <a:solidFill>
                  <a:srgbClr val="FFFFFF"/>
                </a:solidFill>
              </a:defRPr>
            </a:lvl7pPr>
            <a:lvl8pPr algn="l">
              <a:defRPr sz="1350" b="1">
                <a:solidFill>
                  <a:srgbClr val="FFFFFF"/>
                </a:solidFill>
              </a:defRPr>
            </a:lvl8pPr>
            <a:lvl9pPr algn="l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It does not mean a 65% chance of flooding and it does not estimate water depth.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D840D2-6517-4E4B-8AAC-76D9842A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Terrain quality also reports valid-cell coverage and missing-data flags.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A1CDB-1632-43A0-9277-AE40D1A1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F8E16D-66D7-4B46-81B0-2A197997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16397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D5160F-1C60-42D6-8F52-941BD360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2410C-AD49-42F9-AF25-7AB31B7A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Resident demo: a guided three-step interface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020A4-67D0-4A8C-9F6D-D8C92C54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redesign clarifies the location, circle size, and result order before exposing technical details.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97C91-EEEB-4F97-8EDE-D4D5AC1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9C4F9-2E34-489B-9929-0CCAF45008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2f96df2a04d33"/>
          <a:stretch xmlns:a="http://schemas.openxmlformats.org/drawingml/2006/main"/>
        </p:blipFill>
        <p:spPr>
          <a:xfrm xmlns:a="http://schemas.openxmlformats.org/drawingml/2006/main">
            <a:off x="1793984" y="1285875"/>
            <a:ext cx="3612931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7873E-C8D0-45B7-833D-6204622E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09700"/>
            <a:ext cx="461010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94DF8-D890-47FC-A87C-9F3BD45A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09700"/>
            <a:ext cx="76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321C1-7383-487E-8A39-8A1F7E44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54305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1. Location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B7A88-D7B1-4919-B441-8D7919CF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9431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City shortcut, map click, or exact coordinates.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B17BE-E72D-41FB-8EF2-8E116FD9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46101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97655-988E-4927-A13D-1C73AD43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607FE-B85F-4F42-A409-E61C6A85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051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2. Assessment area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F75E5-85A2-4815-BD5D-75686BA8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051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Large 1 km, 2 km, and 5 km choices explain the local circle.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873B0-58CC-425C-9B40-9B97608E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461010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3C9BB1-AA8A-4A25-BEB0-B0694AD4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671A7-A593-46C2-BFF4-616DFC21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624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3. 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F7B666-3F0B-4B7F-9061-7BD2AED6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62450"/>
            <a:ext cx="4210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Land, forecast-rain, and river-context cards appear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17FB56-48B2-46D4-AF4B-F76E6C11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19700"/>
            <a:ext cx="432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26262"/>
                </a:solidFill>
              </a:defRPr>
            </a:defPPr>
            <a:lvl1pPr algn="l">
              <a:defRPr sz="1200" b="0">
                <a:solidFill>
                  <a:srgbClr val="526262"/>
                </a:solidFill>
              </a:defRPr>
            </a:lvl1pPr>
            <a:lvl2pPr algn="l">
              <a:defRPr sz="1200" b="0">
                <a:solidFill>
                  <a:srgbClr val="526262"/>
                </a:solidFill>
              </a:defRPr>
            </a:lvl2pPr>
            <a:lvl3pPr algn="l">
              <a:defRPr sz="1200" b="0">
                <a:solidFill>
                  <a:srgbClr val="526262"/>
                </a:solidFill>
              </a:defRPr>
            </a:lvl3pPr>
            <a:lvl4pPr algn="l">
              <a:defRPr sz="1200" b="0">
                <a:solidFill>
                  <a:srgbClr val="526262"/>
                </a:solidFill>
              </a:defRPr>
            </a:lvl4pPr>
            <a:lvl5pPr algn="l">
              <a:defRPr sz="1200" b="0">
                <a:solidFill>
                  <a:srgbClr val="526262"/>
                </a:solidFill>
              </a:defRPr>
            </a:lvl5pPr>
            <a:lvl6pPr algn="l">
              <a:defRPr sz="1200" b="0">
                <a:solidFill>
                  <a:srgbClr val="526262"/>
                </a:solidFill>
              </a:defRPr>
            </a:lvl6pPr>
            <a:lvl7pPr algn="l">
              <a:defRPr sz="1200" b="0">
                <a:solidFill>
                  <a:srgbClr val="526262"/>
                </a:solidFill>
              </a:defRPr>
            </a:lvl7pPr>
            <a:lvl8pPr algn="l">
              <a:defRPr sz="1200" b="0">
                <a:solidFill>
                  <a:srgbClr val="526262"/>
                </a:solidFill>
              </a:defRPr>
            </a:lvl8pPr>
            <a:lvl9pPr algn="l">
              <a:defRPr sz="120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26262"/>
                </a:solidFill>
              </a:defRPr>
            </a:pPr>
            <a:r>
              <a:rPr sz="1200" b="0">
                <a:solidFill>
                  <a:srgbClr val="526262"/>
                </a:solidFill>
              </a:rPr>
              <a:t>Technical evidence, source details, comparisons, and print output remain available in disclosures.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7F42C-5D43-4A61-9765-2FC70607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6D64BB-3191-4230-BB18-FECE4DA0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609170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ED3165-6114-4611-92B8-04739289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0681D-0AAA-4CCC-BFF5-6942B736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Verified live Chennai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417E3-764F-40D3-8E29-A3972A1E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 complete 2 km run used mounted terrain tiles, imported HydroSHEDS data, and live Open-Meteo rainfall.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E1B28-DA8D-4B4C-9F56-D8282891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09C5B-DE11-400C-ACB4-919F7471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65 /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D7904-B8E9-474C-96BD-3691A440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relative terrain susceptibility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EBB07-6AA6-46B5-9C0E-32FB4B4F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407BC1"/>
                </a:solidFill>
              </a:defRPr>
            </a:defPPr>
            <a:lvl1pPr algn="l">
              <a:defRPr sz="2625" b="1">
                <a:solidFill>
                  <a:srgbClr val="407BC1"/>
                </a:solidFill>
              </a:defRPr>
            </a:lvl1pPr>
            <a:lvl2pPr algn="l">
              <a:defRPr sz="2625" b="1">
                <a:solidFill>
                  <a:srgbClr val="407BC1"/>
                </a:solidFill>
              </a:defRPr>
            </a:lvl2pPr>
            <a:lvl3pPr algn="l">
              <a:defRPr sz="2625" b="1">
                <a:solidFill>
                  <a:srgbClr val="407BC1"/>
                </a:solidFill>
              </a:defRPr>
            </a:lvl3pPr>
            <a:lvl4pPr algn="l">
              <a:defRPr sz="2625" b="1">
                <a:solidFill>
                  <a:srgbClr val="407BC1"/>
                </a:solidFill>
              </a:defRPr>
            </a:lvl4pPr>
            <a:lvl5pPr algn="l">
              <a:defRPr sz="2625" b="1">
                <a:solidFill>
                  <a:srgbClr val="407BC1"/>
                </a:solidFill>
              </a:defRPr>
            </a:lvl5pPr>
            <a:lvl6pPr algn="l">
              <a:defRPr sz="2625" b="1">
                <a:solidFill>
                  <a:srgbClr val="407BC1"/>
                </a:solidFill>
              </a:defRPr>
            </a:lvl6pPr>
            <a:lvl7pPr algn="l">
              <a:defRPr sz="2625" b="1">
                <a:solidFill>
                  <a:srgbClr val="407BC1"/>
                </a:solidFill>
              </a:defRPr>
            </a:lvl7pPr>
            <a:lvl8pPr algn="l">
              <a:defRPr sz="2625" b="1">
                <a:solidFill>
                  <a:srgbClr val="407BC1"/>
                </a:solidFill>
              </a:defRPr>
            </a:lvl8pPr>
            <a:lvl9pPr algn="l">
              <a:defRPr sz="2625" b="1">
                <a:solidFill>
                  <a:srgbClr val="407BC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407BC1"/>
                </a:solidFill>
              </a:defRPr>
            </a:pPr>
            <a:r>
              <a:rPr sz="2625" b="1">
                <a:solidFill>
                  <a:srgbClr val="407BC1"/>
                </a:solidFill>
              </a:rPr>
              <a:t>0.97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769F4-E0AC-498B-93A0-B839505B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valid terrain-cell ratio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E64B4-DF3A-418F-9842-411109A7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18.6 mm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19238-9618-49FE-8C26-EFC0C2E0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48-hour rainfall total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80852-6754-46D3-8E9E-272818F2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562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0.26 km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2CA37-0DF2-478F-9F2D-68AD20B4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002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nearest mapped river segment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DC52B-629D-4E53-A8B9-55F3CA0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89660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607E6-C0CA-4171-95F8-14438565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1000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102A2A"/>
                </a:solidFill>
              </a:defRPr>
            </a:defPPr>
            <a:lvl1pPr algn="l">
              <a:defRPr sz="1725" b="1">
                <a:solidFill>
                  <a:srgbClr val="102A2A"/>
                </a:solidFill>
              </a:defRPr>
            </a:lvl1pPr>
            <a:lvl2pPr algn="l">
              <a:defRPr sz="1725" b="1">
                <a:solidFill>
                  <a:srgbClr val="102A2A"/>
                </a:solidFill>
              </a:defRPr>
            </a:lvl2pPr>
            <a:lvl3pPr algn="l">
              <a:defRPr sz="1725" b="1">
                <a:solidFill>
                  <a:srgbClr val="102A2A"/>
                </a:solidFill>
              </a:defRPr>
            </a:lvl3pPr>
            <a:lvl4pPr algn="l">
              <a:defRPr sz="1725" b="1">
                <a:solidFill>
                  <a:srgbClr val="102A2A"/>
                </a:solidFill>
              </a:defRPr>
            </a:lvl4pPr>
            <a:lvl5pPr algn="l">
              <a:defRPr sz="1725" b="1">
                <a:solidFill>
                  <a:srgbClr val="102A2A"/>
                </a:solidFill>
              </a:defRPr>
            </a:lvl5pPr>
            <a:lvl6pPr algn="l">
              <a:defRPr sz="1725" b="1">
                <a:solidFill>
                  <a:srgbClr val="102A2A"/>
                </a:solidFill>
              </a:defRPr>
            </a:lvl6pPr>
            <a:lvl7pPr algn="l">
              <a:defRPr sz="1725" b="1">
                <a:solidFill>
                  <a:srgbClr val="102A2A"/>
                </a:solidFill>
              </a:defRPr>
            </a:lvl7pPr>
            <a:lvl8pPr algn="l">
              <a:defRPr sz="1725" b="1">
                <a:solidFill>
                  <a:srgbClr val="102A2A"/>
                </a:solidFill>
              </a:defRPr>
            </a:lvl8pPr>
            <a:lvl9pPr algn="l">
              <a:defRPr sz="17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02A2A"/>
                </a:solidFill>
              </a:defRPr>
            </a:pPr>
            <a:r>
              <a:rPr sz="1725" b="1">
                <a:solidFill>
                  <a:srgbClr val="102A2A"/>
                </a:solidFill>
              </a:rPr>
              <a:t>Terrain, rainfall, containing basin, upstream context, and nearby river context all reached a complete result for the selected Chennai point.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B7909-7D45-485F-8306-4C30CB42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E7156-6DB0-456D-B715-4CED5A9C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0D6B5E"/>
                </a:solidFill>
              </a:defRPr>
            </a:defPPr>
            <a:lvl1pPr algn="ctr">
              <a:defRPr sz="975" b="1">
                <a:solidFill>
                  <a:srgbClr val="0D6B5E"/>
                </a:solidFill>
              </a:defRPr>
            </a:lvl1pPr>
            <a:lvl2pPr algn="ctr">
              <a:defRPr sz="975" b="1">
                <a:solidFill>
                  <a:srgbClr val="0D6B5E"/>
                </a:solidFill>
              </a:defRPr>
            </a:lvl2pPr>
            <a:lvl3pPr algn="ctr">
              <a:defRPr sz="975" b="1">
                <a:solidFill>
                  <a:srgbClr val="0D6B5E"/>
                </a:solidFill>
              </a:defRPr>
            </a:lvl3pPr>
            <a:lvl4pPr algn="ctr">
              <a:defRPr sz="975" b="1">
                <a:solidFill>
                  <a:srgbClr val="0D6B5E"/>
                </a:solidFill>
              </a:defRPr>
            </a:lvl4pPr>
            <a:lvl5pPr algn="ctr">
              <a:defRPr sz="975" b="1">
                <a:solidFill>
                  <a:srgbClr val="0D6B5E"/>
                </a:solidFill>
              </a:defRPr>
            </a:lvl5pPr>
            <a:lvl6pPr algn="ctr">
              <a:defRPr sz="975" b="1">
                <a:solidFill>
                  <a:srgbClr val="0D6B5E"/>
                </a:solidFill>
              </a:defRPr>
            </a:lvl6pPr>
            <a:lvl7pPr algn="ctr">
              <a:defRPr sz="975" b="1">
                <a:solidFill>
                  <a:srgbClr val="0D6B5E"/>
                </a:solidFill>
              </a:defRPr>
            </a:lvl7pPr>
            <a:lvl8pPr algn="ctr">
              <a:defRPr sz="975" b="1">
                <a:solidFill>
                  <a:srgbClr val="0D6B5E"/>
                </a:solidFill>
              </a:defRPr>
            </a:lvl8pPr>
            <a:lvl9pPr algn="ctr">
              <a:defRPr sz="9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D6B5E"/>
                </a:solidFill>
              </a:defRPr>
            </a:pPr>
            <a:r>
              <a:rPr sz="975" b="1">
                <a:solidFill>
                  <a:srgbClr val="0D6B5E"/>
                </a:solidFill>
              </a:rPr>
              <a:t>28,907 basin polygons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538745-5DFA-4918-B8CD-89432D16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19700"/>
            <a:ext cx="2647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E4EE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D4745-933E-4326-8BD6-12F652AB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2197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407BC1"/>
                </a:solidFill>
              </a:defRPr>
            </a:defPPr>
            <a:lvl1pPr algn="ctr">
              <a:defRPr sz="975" b="1">
                <a:solidFill>
                  <a:srgbClr val="407BC1"/>
                </a:solidFill>
              </a:defRPr>
            </a:lvl1pPr>
            <a:lvl2pPr algn="ctr">
              <a:defRPr sz="975" b="1">
                <a:solidFill>
                  <a:srgbClr val="407BC1"/>
                </a:solidFill>
              </a:defRPr>
            </a:lvl2pPr>
            <a:lvl3pPr algn="ctr">
              <a:defRPr sz="975" b="1">
                <a:solidFill>
                  <a:srgbClr val="407BC1"/>
                </a:solidFill>
              </a:defRPr>
            </a:lvl3pPr>
            <a:lvl4pPr algn="ctr">
              <a:defRPr sz="975" b="1">
                <a:solidFill>
                  <a:srgbClr val="407BC1"/>
                </a:solidFill>
              </a:defRPr>
            </a:lvl4pPr>
            <a:lvl5pPr algn="ctr">
              <a:defRPr sz="975" b="1">
                <a:solidFill>
                  <a:srgbClr val="407BC1"/>
                </a:solidFill>
              </a:defRPr>
            </a:lvl5pPr>
            <a:lvl6pPr algn="ctr">
              <a:defRPr sz="975" b="1">
                <a:solidFill>
                  <a:srgbClr val="407BC1"/>
                </a:solidFill>
              </a:defRPr>
            </a:lvl6pPr>
            <a:lvl7pPr algn="ctr">
              <a:defRPr sz="975" b="1">
                <a:solidFill>
                  <a:srgbClr val="407BC1"/>
                </a:solidFill>
              </a:defRPr>
            </a:lvl7pPr>
            <a:lvl8pPr algn="ctr">
              <a:defRPr sz="975" b="1">
                <a:solidFill>
                  <a:srgbClr val="407BC1"/>
                </a:solidFill>
              </a:defRPr>
            </a:lvl8pPr>
            <a:lvl9pPr algn="ctr">
              <a:defRPr sz="975" b="1">
                <a:solidFill>
                  <a:srgbClr val="407BC1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407BC1"/>
                </a:solidFill>
              </a:defRPr>
            </a:pPr>
            <a:r>
              <a:rPr sz="975" b="1">
                <a:solidFill>
                  <a:srgbClr val="407BC1"/>
                </a:solidFill>
              </a:rPr>
              <a:t>1,428,959 river features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886E54-BD91-4645-8FE7-96D6E34D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9700"/>
            <a:ext cx="2647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5F8"/>
          </a:solidFill>
          <a:ln xmlns:a="http://schemas.openxmlformats.org/drawingml/2006/main" w="9525">
            <a:solidFill>
              <a:srgbClr val="E6F5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037BA6-3430-4921-BF91-35D2DC25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19700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26B6CF"/>
                </a:solidFill>
              </a:defRPr>
            </a:defPPr>
            <a:lvl1pPr algn="ctr">
              <a:defRPr sz="975" b="1">
                <a:solidFill>
                  <a:srgbClr val="26B6CF"/>
                </a:solidFill>
              </a:defRPr>
            </a:lvl1pPr>
            <a:lvl2pPr algn="ctr">
              <a:defRPr sz="975" b="1">
                <a:solidFill>
                  <a:srgbClr val="26B6CF"/>
                </a:solidFill>
              </a:defRPr>
            </a:lvl2pPr>
            <a:lvl3pPr algn="ctr">
              <a:defRPr sz="975" b="1">
                <a:solidFill>
                  <a:srgbClr val="26B6CF"/>
                </a:solidFill>
              </a:defRPr>
            </a:lvl3pPr>
            <a:lvl4pPr algn="ctr">
              <a:defRPr sz="975" b="1">
                <a:solidFill>
                  <a:srgbClr val="26B6CF"/>
                </a:solidFill>
              </a:defRPr>
            </a:lvl4pPr>
            <a:lvl5pPr algn="ctr">
              <a:defRPr sz="975" b="1">
                <a:solidFill>
                  <a:srgbClr val="26B6CF"/>
                </a:solidFill>
              </a:defRPr>
            </a:lvl5pPr>
            <a:lvl6pPr algn="ctr">
              <a:defRPr sz="975" b="1">
                <a:solidFill>
                  <a:srgbClr val="26B6CF"/>
                </a:solidFill>
              </a:defRPr>
            </a:lvl6pPr>
            <a:lvl7pPr algn="ctr">
              <a:defRPr sz="975" b="1">
                <a:solidFill>
                  <a:srgbClr val="26B6CF"/>
                </a:solidFill>
              </a:defRPr>
            </a:lvl7pPr>
            <a:lvl8pPr algn="ctr">
              <a:defRPr sz="975" b="1">
                <a:solidFill>
                  <a:srgbClr val="26B6CF"/>
                </a:solidFill>
              </a:defRPr>
            </a:lvl8pPr>
            <a:lvl9pPr algn="ctr">
              <a:defRPr sz="9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26B6CF"/>
                </a:solidFill>
              </a:defRPr>
            </a:pPr>
            <a:r>
              <a:rPr sz="975" b="1">
                <a:solidFill>
                  <a:srgbClr val="26B6CF"/>
                </a:solidFill>
              </a:rPr>
              <a:t>Docker app + DB + worker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E032E2-51F7-4E7B-8401-9F978ACE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1970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E5"/>
          </a:solidFill>
          <a:ln xmlns:a="http://schemas.openxmlformats.org/drawingml/2006/main" w="9525">
            <a:solidFill>
              <a:srgbClr val="FB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0D56AB-9B20-4696-9B41-32EAA60C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197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E86F51"/>
                </a:solidFill>
              </a:defRPr>
            </a:defPPr>
            <a:lvl1pPr algn="ctr">
              <a:defRPr sz="975" b="1">
                <a:solidFill>
                  <a:srgbClr val="E86F51"/>
                </a:solidFill>
              </a:defRPr>
            </a:lvl1pPr>
            <a:lvl2pPr algn="ctr">
              <a:defRPr sz="975" b="1">
                <a:solidFill>
                  <a:srgbClr val="E86F51"/>
                </a:solidFill>
              </a:defRPr>
            </a:lvl2pPr>
            <a:lvl3pPr algn="ctr">
              <a:defRPr sz="975" b="1">
                <a:solidFill>
                  <a:srgbClr val="E86F51"/>
                </a:solidFill>
              </a:defRPr>
            </a:lvl3pPr>
            <a:lvl4pPr algn="ctr">
              <a:defRPr sz="975" b="1">
                <a:solidFill>
                  <a:srgbClr val="E86F51"/>
                </a:solidFill>
              </a:defRPr>
            </a:lvl4pPr>
            <a:lvl5pPr algn="ctr">
              <a:defRPr sz="975" b="1">
                <a:solidFill>
                  <a:srgbClr val="E86F51"/>
                </a:solidFill>
              </a:defRPr>
            </a:lvl5pPr>
            <a:lvl6pPr algn="ctr">
              <a:defRPr sz="975" b="1">
                <a:solidFill>
                  <a:srgbClr val="E86F51"/>
                </a:solidFill>
              </a:defRPr>
            </a:lvl6pPr>
            <a:lvl7pPr algn="ctr">
              <a:defRPr sz="975" b="1">
                <a:solidFill>
                  <a:srgbClr val="E86F51"/>
                </a:solidFill>
              </a:defRPr>
            </a:lvl7pPr>
            <a:lvl8pPr algn="ctr">
              <a:defRPr sz="975" b="1">
                <a:solidFill>
                  <a:srgbClr val="E86F51"/>
                </a:solidFill>
              </a:defRPr>
            </a:lvl8pPr>
            <a:lvl9pPr algn="ctr">
              <a:defRPr sz="97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E86F51"/>
                </a:solidFill>
              </a:defRPr>
            </a:pPr>
            <a:r>
              <a:rPr sz="975" b="1">
                <a:solidFill>
                  <a:srgbClr val="E86F51"/>
                </a:solidFill>
              </a:rPr>
              <a:t>Explicit partial coverage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FD0C6D-3459-42C9-A4E2-843261A6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4C1974-6368-4F6D-8B5D-F143FD3C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74571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FA1A9-2591-44AC-A632-4ACBA204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442FC-B6F7-423B-9098-F874D6F6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Research lab: two related ML tasks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81045-B720-4435-B99E-8481C43FA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models study historical observed water. They do not produce the resident terrain score.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05A80-F4E9-494C-A4D8-77A34760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56EBA-9121-4725-8160-78047357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50673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288CD-27F3-45EA-A758-910067FA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14D6E-F147-46B5-8D07-E2A97BFA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Whole-chip classification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222A5-4632-4634-BB20-35CF7774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46672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Does this 512 × 512 chip contain at least 5% labelled observed water?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Models: spatial gradient baseline and rainfall LSTM.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Output: one probability and a thresholded class.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97DDA-8407-429B-83E4-98864303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5067300" cy="295275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608C1-2F9E-4849-8E3F-3B98768C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859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14EBF-EDDC-48B6-84EF-F5551F1C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192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Pixel water segmentation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00625-0B8B-424E-AD2A-4DB06112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19300"/>
            <a:ext cx="46672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Which pixels match the verified observed-water label?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Models: Extra Trees and a three-scale two-band U-Net.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Output: a water mask plus error overlay.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97136-8BCF-439A-B460-F99DEB364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10896600" cy="666750"/>
          </a:xfrm>
          <a:prstGeom xmlns:a="http://schemas.openxmlformats.org/drawingml/2006/main" prst="roundRect">
            <a:avLst>
              <a:gd name="adj" fmla="val 25714"/>
            </a:avLst>
          </a:prstGeom>
          <a:solidFill xmlns:a="http://schemas.openxmlformats.org/drawingml/2006/main">
            <a:srgbClr val="071C1D"/>
          </a:solidFill>
          <a:ln xmlns:a="http://schemas.openxmlformats.org/drawingml/2006/main" w="9525">
            <a:solidFill>
              <a:srgbClr val="071C1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80E15-55F2-43B9-8DF7-300BB13B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768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Training and evaluation stay in research/. The resident API never treats these predictions as warnings or property risk.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54419-CE0E-4782-AEA2-48087947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CBB54-F075-4A34-9857-5EC0F096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74735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85480-A493-4437-A542-341CA1E3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FD894-9890-4ED2-A64C-A5B4FC5C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Evaluation prevents same-event leakage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80B37-469E-49FF-8E0B-32D72C84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Validation selects checkpoints and thresholds; the test events remain unseen.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CCD45-E027-4D6F-B3F1-BF73872F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DE5B5-376F-4CC2-B759-92E935F8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342900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01AB3-449C-42C7-8D5B-37974EEE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D6B5E"/>
                </a:solidFill>
              </a:defRPr>
            </a:defPPr>
            <a:lvl1pPr algn="l">
              <a:defRPr sz="1125" b="1">
                <a:solidFill>
                  <a:srgbClr val="0D6B5E"/>
                </a:solidFill>
              </a:defRPr>
            </a:lvl1pPr>
            <a:lvl2pPr algn="l">
              <a:defRPr sz="1125" b="1">
                <a:solidFill>
                  <a:srgbClr val="0D6B5E"/>
                </a:solidFill>
              </a:defRPr>
            </a:lvl2pPr>
            <a:lvl3pPr algn="l">
              <a:defRPr sz="1125" b="1">
                <a:solidFill>
                  <a:srgbClr val="0D6B5E"/>
                </a:solidFill>
              </a:defRPr>
            </a:lvl3pPr>
            <a:lvl4pPr algn="l">
              <a:defRPr sz="1125" b="1">
                <a:solidFill>
                  <a:srgbClr val="0D6B5E"/>
                </a:solidFill>
              </a:defRPr>
            </a:lvl4pPr>
            <a:lvl5pPr algn="l">
              <a:defRPr sz="1125" b="1">
                <a:solidFill>
                  <a:srgbClr val="0D6B5E"/>
                </a:solidFill>
              </a:defRPr>
            </a:lvl5pPr>
            <a:lvl6pPr algn="l">
              <a:defRPr sz="1125" b="1">
                <a:solidFill>
                  <a:srgbClr val="0D6B5E"/>
                </a:solidFill>
              </a:defRPr>
            </a:lvl6pPr>
            <a:lvl7pPr algn="l">
              <a:defRPr sz="1125" b="1">
                <a:solidFill>
                  <a:srgbClr val="0D6B5E"/>
                </a:solidFill>
              </a:defRPr>
            </a:lvl7pPr>
            <a:lvl8pPr algn="l">
              <a:defRPr sz="1125" b="1">
                <a:solidFill>
                  <a:srgbClr val="0D6B5E"/>
                </a:solidFill>
              </a:defRPr>
            </a:lvl8pPr>
            <a:lvl9pPr algn="l">
              <a:defRPr sz="11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D6B5E"/>
                </a:solidFill>
              </a:defRPr>
            </a:pPr>
            <a:r>
              <a:rPr sz="1125" b="1">
                <a:solidFill>
                  <a:srgbClr val="0D6B5E"/>
                </a:solidFill>
              </a:rPr>
              <a:t>TRAIN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A4408-6177-4D95-9D08-1FD64C66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A2A"/>
                </a:solidFill>
              </a:defRPr>
            </a:defPPr>
            <a:lvl1pPr algn="l">
              <a:defRPr sz="2550" b="1">
                <a:solidFill>
                  <a:srgbClr val="102A2A"/>
                </a:solidFill>
              </a:defRPr>
            </a:lvl1pPr>
            <a:lvl2pPr algn="l">
              <a:defRPr sz="2550" b="1">
                <a:solidFill>
                  <a:srgbClr val="102A2A"/>
                </a:solidFill>
              </a:defRPr>
            </a:lvl2pPr>
            <a:lvl3pPr algn="l">
              <a:defRPr sz="2550" b="1">
                <a:solidFill>
                  <a:srgbClr val="102A2A"/>
                </a:solidFill>
              </a:defRPr>
            </a:lvl3pPr>
            <a:lvl4pPr algn="l">
              <a:defRPr sz="2550" b="1">
                <a:solidFill>
                  <a:srgbClr val="102A2A"/>
                </a:solidFill>
              </a:defRPr>
            </a:lvl4pPr>
            <a:lvl5pPr algn="l">
              <a:defRPr sz="2550" b="1">
                <a:solidFill>
                  <a:srgbClr val="102A2A"/>
                </a:solidFill>
              </a:defRPr>
            </a:lvl5pPr>
            <a:lvl6pPr algn="l">
              <a:defRPr sz="2550" b="1">
                <a:solidFill>
                  <a:srgbClr val="102A2A"/>
                </a:solidFill>
              </a:defRPr>
            </a:lvl6pPr>
            <a:lvl7pPr algn="l">
              <a:defRPr sz="2550" b="1">
                <a:solidFill>
                  <a:srgbClr val="102A2A"/>
                </a:solidFill>
              </a:defRPr>
            </a:lvl7pPr>
            <a:lvl8pPr algn="l">
              <a:defRPr sz="2550" b="1">
                <a:solidFill>
                  <a:srgbClr val="102A2A"/>
                </a:solidFill>
              </a:defRPr>
            </a:lvl8pPr>
            <a:lvl9pPr algn="l">
              <a:defRPr sz="25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2A"/>
                </a:solidFill>
              </a:defRPr>
            </a:pPr>
            <a:r>
              <a:rPr sz="2550" b="1">
                <a:solidFill>
                  <a:srgbClr val="102A2A"/>
                </a:solidFill>
              </a:rPr>
              <a:t>242 chips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8AF951-E591-494D-A0EC-AE77526E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262"/>
                </a:solidFill>
              </a:defRPr>
            </a:defPPr>
            <a:lvl1pPr algn="l">
              <a:defRPr sz="1275" b="0">
                <a:solidFill>
                  <a:srgbClr val="526262"/>
                </a:solidFill>
              </a:defRPr>
            </a:lvl1pPr>
            <a:lvl2pPr algn="l">
              <a:defRPr sz="1275" b="0">
                <a:solidFill>
                  <a:srgbClr val="526262"/>
                </a:solidFill>
              </a:defRPr>
            </a:lvl2pPr>
            <a:lvl3pPr algn="l">
              <a:defRPr sz="1275" b="0">
                <a:solidFill>
                  <a:srgbClr val="526262"/>
                </a:solidFill>
              </a:defRPr>
            </a:lvl3pPr>
            <a:lvl4pPr algn="l">
              <a:defRPr sz="1275" b="0">
                <a:solidFill>
                  <a:srgbClr val="526262"/>
                </a:solidFill>
              </a:defRPr>
            </a:lvl4pPr>
            <a:lvl5pPr algn="l">
              <a:defRPr sz="1275" b="0">
                <a:solidFill>
                  <a:srgbClr val="526262"/>
                </a:solidFill>
              </a:defRPr>
            </a:lvl5pPr>
            <a:lvl6pPr algn="l">
              <a:defRPr sz="1275" b="0">
                <a:solidFill>
                  <a:srgbClr val="526262"/>
                </a:solidFill>
              </a:defRPr>
            </a:lvl6pPr>
            <a:lvl7pPr algn="l">
              <a:defRPr sz="1275" b="0">
                <a:solidFill>
                  <a:srgbClr val="526262"/>
                </a:solidFill>
              </a:defRPr>
            </a:lvl7pPr>
            <a:lvl8pPr algn="l">
              <a:defRPr sz="1275" b="0">
                <a:solidFill>
                  <a:srgbClr val="526262"/>
                </a:solidFill>
              </a:defRPr>
            </a:lvl8pPr>
            <a:lvl9pPr algn="l">
              <a:defRPr sz="12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262"/>
                </a:solidFill>
              </a:defRPr>
            </a:pPr>
            <a:r>
              <a:rPr sz="1275" b="0">
                <a:solidFill>
                  <a:srgbClr val="526262"/>
                </a:solidFill>
              </a:rPr>
              <a:t>Six complete-rainfall events fit model weights.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363E34-ADE6-4851-A027-B6788B7F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E4EEF9"/>
          </a:solidFill>
          <a:ln xmlns:a="http://schemas.openxmlformats.org/drawingml/2006/main" w="9525">
            <a:solidFill>
              <a:srgbClr val="E4EEF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AA479-9A91-4938-A93D-38D398A4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D6B5E"/>
                </a:solidFill>
              </a:defRPr>
            </a:defPPr>
            <a:lvl1pPr algn="l">
              <a:defRPr sz="1125" b="1">
                <a:solidFill>
                  <a:srgbClr val="0D6B5E"/>
                </a:solidFill>
              </a:defRPr>
            </a:lvl1pPr>
            <a:lvl2pPr algn="l">
              <a:defRPr sz="1125" b="1">
                <a:solidFill>
                  <a:srgbClr val="0D6B5E"/>
                </a:solidFill>
              </a:defRPr>
            </a:lvl2pPr>
            <a:lvl3pPr algn="l">
              <a:defRPr sz="1125" b="1">
                <a:solidFill>
                  <a:srgbClr val="0D6B5E"/>
                </a:solidFill>
              </a:defRPr>
            </a:lvl3pPr>
            <a:lvl4pPr algn="l">
              <a:defRPr sz="1125" b="1">
                <a:solidFill>
                  <a:srgbClr val="0D6B5E"/>
                </a:solidFill>
              </a:defRPr>
            </a:lvl4pPr>
            <a:lvl5pPr algn="l">
              <a:defRPr sz="1125" b="1">
                <a:solidFill>
                  <a:srgbClr val="0D6B5E"/>
                </a:solidFill>
              </a:defRPr>
            </a:lvl5pPr>
            <a:lvl6pPr algn="l">
              <a:defRPr sz="1125" b="1">
                <a:solidFill>
                  <a:srgbClr val="0D6B5E"/>
                </a:solidFill>
              </a:defRPr>
            </a:lvl6pPr>
            <a:lvl7pPr algn="l">
              <a:defRPr sz="1125" b="1">
                <a:solidFill>
                  <a:srgbClr val="0D6B5E"/>
                </a:solidFill>
              </a:defRPr>
            </a:lvl7pPr>
            <a:lvl8pPr algn="l">
              <a:defRPr sz="1125" b="1">
                <a:solidFill>
                  <a:srgbClr val="0D6B5E"/>
                </a:solidFill>
              </a:defRPr>
            </a:lvl8pPr>
            <a:lvl9pPr algn="l">
              <a:defRPr sz="11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D6B5E"/>
                </a:solidFill>
              </a:defRPr>
            </a:pPr>
            <a:r>
              <a:rPr sz="1125" b="1">
                <a:solidFill>
                  <a:srgbClr val="0D6B5E"/>
                </a:solidFill>
              </a:rPr>
              <a:t>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CD614-A0F6-4317-8FEC-BFF8F218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812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A2A"/>
                </a:solidFill>
              </a:defRPr>
            </a:defPPr>
            <a:lvl1pPr algn="l">
              <a:defRPr sz="2550" b="1">
                <a:solidFill>
                  <a:srgbClr val="102A2A"/>
                </a:solidFill>
              </a:defRPr>
            </a:lvl1pPr>
            <a:lvl2pPr algn="l">
              <a:defRPr sz="2550" b="1">
                <a:solidFill>
                  <a:srgbClr val="102A2A"/>
                </a:solidFill>
              </a:defRPr>
            </a:lvl2pPr>
            <a:lvl3pPr algn="l">
              <a:defRPr sz="2550" b="1">
                <a:solidFill>
                  <a:srgbClr val="102A2A"/>
                </a:solidFill>
              </a:defRPr>
            </a:lvl3pPr>
            <a:lvl4pPr algn="l">
              <a:defRPr sz="2550" b="1">
                <a:solidFill>
                  <a:srgbClr val="102A2A"/>
                </a:solidFill>
              </a:defRPr>
            </a:lvl4pPr>
            <a:lvl5pPr algn="l">
              <a:defRPr sz="2550" b="1">
                <a:solidFill>
                  <a:srgbClr val="102A2A"/>
                </a:solidFill>
              </a:defRPr>
            </a:lvl5pPr>
            <a:lvl6pPr algn="l">
              <a:defRPr sz="2550" b="1">
                <a:solidFill>
                  <a:srgbClr val="102A2A"/>
                </a:solidFill>
              </a:defRPr>
            </a:lvl6pPr>
            <a:lvl7pPr algn="l">
              <a:defRPr sz="2550" b="1">
                <a:solidFill>
                  <a:srgbClr val="102A2A"/>
                </a:solidFill>
              </a:defRPr>
            </a:lvl7pPr>
            <a:lvl8pPr algn="l">
              <a:defRPr sz="2550" b="1">
                <a:solidFill>
                  <a:srgbClr val="102A2A"/>
                </a:solidFill>
              </a:defRPr>
            </a:lvl8pPr>
            <a:lvl9pPr algn="l">
              <a:defRPr sz="25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2A"/>
                </a:solidFill>
              </a:defRPr>
            </a:pPr>
            <a:r>
              <a:rPr sz="2550" b="1">
                <a:solidFill>
                  <a:srgbClr val="102A2A"/>
                </a:solidFill>
              </a:rPr>
              <a:t>87 chips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2E206-E4EC-4598-BA30-91D29909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05150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262"/>
                </a:solidFill>
              </a:defRPr>
            </a:defPPr>
            <a:lvl1pPr algn="l">
              <a:defRPr sz="1275" b="0">
                <a:solidFill>
                  <a:srgbClr val="526262"/>
                </a:solidFill>
              </a:defRPr>
            </a:lvl1pPr>
            <a:lvl2pPr algn="l">
              <a:defRPr sz="1275" b="0">
                <a:solidFill>
                  <a:srgbClr val="526262"/>
                </a:solidFill>
              </a:defRPr>
            </a:lvl2pPr>
            <a:lvl3pPr algn="l">
              <a:defRPr sz="1275" b="0">
                <a:solidFill>
                  <a:srgbClr val="526262"/>
                </a:solidFill>
              </a:defRPr>
            </a:lvl3pPr>
            <a:lvl4pPr algn="l">
              <a:defRPr sz="1275" b="0">
                <a:solidFill>
                  <a:srgbClr val="526262"/>
                </a:solidFill>
              </a:defRPr>
            </a:lvl4pPr>
            <a:lvl5pPr algn="l">
              <a:defRPr sz="1275" b="0">
                <a:solidFill>
                  <a:srgbClr val="526262"/>
                </a:solidFill>
              </a:defRPr>
            </a:lvl5pPr>
            <a:lvl6pPr algn="l">
              <a:defRPr sz="1275" b="0">
                <a:solidFill>
                  <a:srgbClr val="526262"/>
                </a:solidFill>
              </a:defRPr>
            </a:lvl6pPr>
            <a:lvl7pPr algn="l">
              <a:defRPr sz="1275" b="0">
                <a:solidFill>
                  <a:srgbClr val="526262"/>
                </a:solidFill>
              </a:defRPr>
            </a:lvl7pPr>
            <a:lvl8pPr algn="l">
              <a:defRPr sz="1275" b="0">
                <a:solidFill>
                  <a:srgbClr val="526262"/>
                </a:solidFill>
              </a:defRPr>
            </a:lvl8pPr>
            <a:lvl9pPr algn="l">
              <a:defRPr sz="12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262"/>
                </a:solidFill>
              </a:defRPr>
            </a:pPr>
            <a:r>
              <a:rPr sz="1275" b="0">
                <a:solidFill>
                  <a:srgbClr val="526262"/>
                </a:solidFill>
              </a:rPr>
              <a:t>USA and Sri Lanka select checkpoint and threshold.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E13C6-0B7D-4F75-97E7-F40F6C21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3429000" cy="2533650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FBEAE5"/>
          </a:solidFill>
          <a:ln xmlns:a="http://schemas.openxmlformats.org/drawingml/2006/main" w="9525">
            <a:solidFill>
              <a:srgbClr val="FB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684FC-C468-4F37-A7F6-ABF1C98E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431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0D6B5E"/>
                </a:solidFill>
              </a:defRPr>
            </a:defPPr>
            <a:lvl1pPr algn="l">
              <a:defRPr sz="1125" b="1">
                <a:solidFill>
                  <a:srgbClr val="0D6B5E"/>
                </a:solidFill>
              </a:defRPr>
            </a:lvl1pPr>
            <a:lvl2pPr algn="l">
              <a:defRPr sz="1125" b="1">
                <a:solidFill>
                  <a:srgbClr val="0D6B5E"/>
                </a:solidFill>
              </a:defRPr>
            </a:lvl2pPr>
            <a:lvl3pPr algn="l">
              <a:defRPr sz="1125" b="1">
                <a:solidFill>
                  <a:srgbClr val="0D6B5E"/>
                </a:solidFill>
              </a:defRPr>
            </a:lvl3pPr>
            <a:lvl4pPr algn="l">
              <a:defRPr sz="1125" b="1">
                <a:solidFill>
                  <a:srgbClr val="0D6B5E"/>
                </a:solidFill>
              </a:defRPr>
            </a:lvl4pPr>
            <a:lvl5pPr algn="l">
              <a:defRPr sz="1125" b="1">
                <a:solidFill>
                  <a:srgbClr val="0D6B5E"/>
                </a:solidFill>
              </a:defRPr>
            </a:lvl5pPr>
            <a:lvl6pPr algn="l">
              <a:defRPr sz="1125" b="1">
                <a:solidFill>
                  <a:srgbClr val="0D6B5E"/>
                </a:solidFill>
              </a:defRPr>
            </a:lvl6pPr>
            <a:lvl7pPr algn="l">
              <a:defRPr sz="1125" b="1">
                <a:solidFill>
                  <a:srgbClr val="0D6B5E"/>
                </a:solidFill>
              </a:defRPr>
            </a:lvl7pPr>
            <a:lvl8pPr algn="l">
              <a:defRPr sz="1125" b="1">
                <a:solidFill>
                  <a:srgbClr val="0D6B5E"/>
                </a:solidFill>
              </a:defRPr>
            </a:lvl8pPr>
            <a:lvl9pPr algn="l">
              <a:defRPr sz="11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0D6B5E"/>
                </a:solidFill>
              </a:defRPr>
            </a:pPr>
            <a:r>
              <a:rPr sz="1125" b="1">
                <a:solidFill>
                  <a:srgbClr val="0D6B5E"/>
                </a:solidFill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66560E-CA23-48AA-8611-EB823532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2971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02A2A"/>
                </a:solidFill>
              </a:defRPr>
            </a:defPPr>
            <a:lvl1pPr algn="l">
              <a:defRPr sz="2550" b="1">
                <a:solidFill>
                  <a:srgbClr val="102A2A"/>
                </a:solidFill>
              </a:defRPr>
            </a:lvl1pPr>
            <a:lvl2pPr algn="l">
              <a:defRPr sz="2550" b="1">
                <a:solidFill>
                  <a:srgbClr val="102A2A"/>
                </a:solidFill>
              </a:defRPr>
            </a:lvl2pPr>
            <a:lvl3pPr algn="l">
              <a:defRPr sz="2550" b="1">
                <a:solidFill>
                  <a:srgbClr val="102A2A"/>
                </a:solidFill>
              </a:defRPr>
            </a:lvl3pPr>
            <a:lvl4pPr algn="l">
              <a:defRPr sz="2550" b="1">
                <a:solidFill>
                  <a:srgbClr val="102A2A"/>
                </a:solidFill>
              </a:defRPr>
            </a:lvl4pPr>
            <a:lvl5pPr algn="l">
              <a:defRPr sz="2550" b="1">
                <a:solidFill>
                  <a:srgbClr val="102A2A"/>
                </a:solidFill>
              </a:defRPr>
            </a:lvl5pPr>
            <a:lvl6pPr algn="l">
              <a:defRPr sz="2550" b="1">
                <a:solidFill>
                  <a:srgbClr val="102A2A"/>
                </a:solidFill>
              </a:defRPr>
            </a:lvl6pPr>
            <a:lvl7pPr algn="l">
              <a:defRPr sz="2550" b="1">
                <a:solidFill>
                  <a:srgbClr val="102A2A"/>
                </a:solidFill>
              </a:defRPr>
            </a:lvl7pPr>
            <a:lvl8pPr algn="l">
              <a:defRPr sz="2550" b="1">
                <a:solidFill>
                  <a:srgbClr val="102A2A"/>
                </a:solidFill>
              </a:defRPr>
            </a:lvl8pPr>
            <a:lvl9pPr algn="l">
              <a:defRPr sz="25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2A2A"/>
                </a:solidFill>
              </a:defRPr>
            </a:pPr>
            <a:r>
              <a:rPr sz="2550" b="1">
                <a:solidFill>
                  <a:srgbClr val="102A2A"/>
                </a:solidFill>
              </a:rPr>
              <a:t>81 chips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23397-2F76-47A2-BC16-2A974F1B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05150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26262"/>
                </a:solidFill>
              </a:defRPr>
            </a:defPPr>
            <a:lvl1pPr algn="l">
              <a:defRPr sz="1275" b="0">
                <a:solidFill>
                  <a:srgbClr val="526262"/>
                </a:solidFill>
              </a:defRPr>
            </a:lvl1pPr>
            <a:lvl2pPr algn="l">
              <a:defRPr sz="1275" b="0">
                <a:solidFill>
                  <a:srgbClr val="526262"/>
                </a:solidFill>
              </a:defRPr>
            </a:lvl2pPr>
            <a:lvl3pPr algn="l">
              <a:defRPr sz="1275" b="0">
                <a:solidFill>
                  <a:srgbClr val="526262"/>
                </a:solidFill>
              </a:defRPr>
            </a:lvl3pPr>
            <a:lvl4pPr algn="l">
              <a:defRPr sz="1275" b="0">
                <a:solidFill>
                  <a:srgbClr val="526262"/>
                </a:solidFill>
              </a:defRPr>
            </a:lvl4pPr>
            <a:lvl5pPr algn="l">
              <a:defRPr sz="1275" b="0">
                <a:solidFill>
                  <a:srgbClr val="526262"/>
                </a:solidFill>
              </a:defRPr>
            </a:lvl5pPr>
            <a:lvl6pPr algn="l">
              <a:defRPr sz="1275" b="0">
                <a:solidFill>
                  <a:srgbClr val="526262"/>
                </a:solidFill>
              </a:defRPr>
            </a:lvl6pPr>
            <a:lvl7pPr algn="l">
              <a:defRPr sz="1275" b="0">
                <a:solidFill>
                  <a:srgbClr val="526262"/>
                </a:solidFill>
              </a:defRPr>
            </a:lvl7pPr>
            <a:lvl8pPr algn="l">
              <a:defRPr sz="1275" b="0">
                <a:solidFill>
                  <a:srgbClr val="526262"/>
                </a:solidFill>
              </a:defRPr>
            </a:lvl8pPr>
            <a:lvl9pPr algn="l">
              <a:defRPr sz="12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26262"/>
                </a:solidFill>
              </a:defRPr>
            </a:pPr>
            <a:r>
              <a:rPr sz="1275" b="0">
                <a:solidFill>
                  <a:srgbClr val="526262"/>
                </a:solidFill>
              </a:rPr>
              <a:t>Bolivia and Paraguay form the held-out evaluation.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0B9B4-467E-4B94-80EC-65FA7D1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089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E86F51"/>
                </a:solidFill>
              </a:defRPr>
            </a:defPPr>
            <a:lvl1pPr algn="ctr">
              <a:defRPr sz="1350" b="1">
                <a:solidFill>
                  <a:srgbClr val="E86F51"/>
                </a:solidFill>
              </a:defRPr>
            </a:lvl1pPr>
            <a:lvl2pPr algn="ctr">
              <a:defRPr sz="1350" b="1">
                <a:solidFill>
                  <a:srgbClr val="E86F51"/>
                </a:solidFill>
              </a:defRPr>
            </a:lvl2pPr>
            <a:lvl3pPr algn="ctr">
              <a:defRPr sz="1350" b="1">
                <a:solidFill>
                  <a:srgbClr val="E86F51"/>
                </a:solidFill>
              </a:defRPr>
            </a:lvl3pPr>
            <a:lvl4pPr algn="ctr">
              <a:defRPr sz="1350" b="1">
                <a:solidFill>
                  <a:srgbClr val="E86F51"/>
                </a:solidFill>
              </a:defRPr>
            </a:lvl4pPr>
            <a:lvl5pPr algn="ctr">
              <a:defRPr sz="1350" b="1">
                <a:solidFill>
                  <a:srgbClr val="E86F51"/>
                </a:solidFill>
              </a:defRPr>
            </a:lvl5pPr>
            <a:lvl6pPr algn="ctr">
              <a:defRPr sz="1350" b="1">
                <a:solidFill>
                  <a:srgbClr val="E86F51"/>
                </a:solidFill>
              </a:defRPr>
            </a:lvl6pPr>
            <a:lvl7pPr algn="ctr">
              <a:defRPr sz="1350" b="1">
                <a:solidFill>
                  <a:srgbClr val="E86F51"/>
                </a:solidFill>
              </a:defRPr>
            </a:lvl7pPr>
            <a:lvl8pPr algn="ctr">
              <a:defRPr sz="1350" b="1">
                <a:solidFill>
                  <a:srgbClr val="E86F51"/>
                </a:solidFill>
              </a:defRPr>
            </a:lvl8pPr>
            <a:lvl9pPr algn="ctr">
              <a:defRPr sz="13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E86F51"/>
                </a:solidFill>
              </a:defRPr>
            </a:pPr>
            <a:r>
              <a:rPr sz="1350" b="1">
                <a:solidFill>
                  <a:srgbClr val="E86F51"/>
                </a:solidFill>
              </a:rPr>
              <a:t>Spain is excluded because its historical rainfall sequence is incomplete. Missing values are not imputed.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F698FF-BC5A-41F2-B61A-A90312DA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02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D6B5E"/>
                </a:solidFill>
              </a:defRPr>
            </a:defPPr>
            <a:lvl1pPr algn="ctr">
              <a:defRPr sz="1650" b="1">
                <a:solidFill>
                  <a:srgbClr val="0D6B5E"/>
                </a:solidFill>
              </a:defRPr>
            </a:lvl1pPr>
            <a:lvl2pPr algn="ctr">
              <a:defRPr sz="1650" b="1">
                <a:solidFill>
                  <a:srgbClr val="0D6B5E"/>
                </a:solidFill>
              </a:defRPr>
            </a:lvl2pPr>
            <a:lvl3pPr algn="ctr">
              <a:defRPr sz="1650" b="1">
                <a:solidFill>
                  <a:srgbClr val="0D6B5E"/>
                </a:solidFill>
              </a:defRPr>
            </a:lvl3pPr>
            <a:lvl4pPr algn="ctr">
              <a:defRPr sz="1650" b="1">
                <a:solidFill>
                  <a:srgbClr val="0D6B5E"/>
                </a:solidFill>
              </a:defRPr>
            </a:lvl4pPr>
            <a:lvl5pPr algn="ctr">
              <a:defRPr sz="1650" b="1">
                <a:solidFill>
                  <a:srgbClr val="0D6B5E"/>
                </a:solidFill>
              </a:defRPr>
            </a:lvl5pPr>
            <a:lvl6pPr algn="ctr">
              <a:defRPr sz="1650" b="1">
                <a:solidFill>
                  <a:srgbClr val="0D6B5E"/>
                </a:solidFill>
              </a:defRPr>
            </a:lvl6pPr>
            <a:lvl7pPr algn="ctr">
              <a:defRPr sz="1650" b="1">
                <a:solidFill>
                  <a:srgbClr val="0D6B5E"/>
                </a:solidFill>
              </a:defRPr>
            </a:lvl7pPr>
            <a:lvl8pPr algn="ctr">
              <a:defRPr sz="1650" b="1">
                <a:solidFill>
                  <a:srgbClr val="0D6B5E"/>
                </a:solidFill>
              </a:defRPr>
            </a:lvl8pPr>
            <a:lvl9pPr algn="ctr">
              <a:defRPr sz="16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D6B5E"/>
                </a:solidFill>
              </a:defRPr>
            </a:pPr>
            <a:r>
              <a:rPr sz="1650" b="1">
                <a:solidFill>
                  <a:srgbClr val="0D6B5E"/>
                </a:solidFill>
              </a:rPr>
              <a:t>Event-held-out evaluation is harder and more honest than a random chip split.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49D10-FDE7-44CD-9D3F-39B9C063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0EABF-2D9F-4705-9A80-20B7C7B6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543662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95A1C4-E25A-4C58-A2A8-07D28B6B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4873A-2D85-48A4-A07A-885E8C81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How the models work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BF3F1-7039-41B1-9078-1A9474E6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FAF80-3F09-4AB1-B813-5E49EFB5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BF587-07B0-4569-85B4-B7AEEA9A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C7368-D334-4612-BE1E-4377EC1B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49C2A4-3FC7-4041-AC9E-CAA0C366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764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Historical 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07509-E5AC-4F26-A050-C947AD52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193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Sentinel-1 VV/VH radar and 60 days of CHIRPS rain.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6C5B0-C6D1-44B8-A94F-5D659B6E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8115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27485-5646-4BCB-8713-25EC8355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52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801050-5A51-4E40-9405-1A2BC7B9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7FBCA-73BA-4B44-A751-7CD4D518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6764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Classification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B108E3-D475-4C6A-95A1-B6442D48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0193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Spatial summaries or an LSTM estimate chip-level water.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9836D-BD6A-47B3-BED5-15A1666E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81150"/>
            <a:ext cx="33337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5E475-95B6-48C0-9E48-9B9698DB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96FEA-7B67-4163-A3EA-7A138080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3B8DD-F3F1-40D0-BAE1-E0A98AE9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02A2A"/>
                </a:solidFill>
              </a:defRPr>
            </a:defPPr>
            <a:lvl1pPr algn="l">
              <a:defRPr sz="1425" b="1">
                <a:solidFill>
                  <a:srgbClr val="102A2A"/>
                </a:solidFill>
              </a:defRPr>
            </a:lvl1pPr>
            <a:lvl2pPr algn="l">
              <a:defRPr sz="1425" b="1">
                <a:solidFill>
                  <a:srgbClr val="102A2A"/>
                </a:solidFill>
              </a:defRPr>
            </a:lvl2pPr>
            <a:lvl3pPr algn="l">
              <a:defRPr sz="1425" b="1">
                <a:solidFill>
                  <a:srgbClr val="102A2A"/>
                </a:solidFill>
              </a:defRPr>
            </a:lvl3pPr>
            <a:lvl4pPr algn="l">
              <a:defRPr sz="1425" b="1">
                <a:solidFill>
                  <a:srgbClr val="102A2A"/>
                </a:solidFill>
              </a:defRPr>
            </a:lvl4pPr>
            <a:lvl5pPr algn="l">
              <a:defRPr sz="1425" b="1">
                <a:solidFill>
                  <a:srgbClr val="102A2A"/>
                </a:solidFill>
              </a:defRPr>
            </a:lvl5pPr>
            <a:lvl6pPr algn="l">
              <a:defRPr sz="1425" b="1">
                <a:solidFill>
                  <a:srgbClr val="102A2A"/>
                </a:solidFill>
              </a:defRPr>
            </a:lvl6pPr>
            <a:lvl7pPr algn="l">
              <a:defRPr sz="1425" b="1">
                <a:solidFill>
                  <a:srgbClr val="102A2A"/>
                </a:solidFill>
              </a:defRPr>
            </a:lvl7pPr>
            <a:lvl8pPr algn="l">
              <a:defRPr sz="1425" b="1">
                <a:solidFill>
                  <a:srgbClr val="102A2A"/>
                </a:solidFill>
              </a:defRPr>
            </a:lvl8pPr>
            <a:lvl9pPr algn="l">
              <a:defRPr sz="142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02A2A"/>
                </a:solidFill>
              </a:defRPr>
            </a:pPr>
            <a:r>
              <a:rPr sz="1425" b="1">
                <a:solidFill>
                  <a:srgbClr val="102A2A"/>
                </a:solidFill>
              </a:rPr>
              <a:t>Segmentation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69C759-23AB-4DDD-9BED-54BE79B7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19300"/>
            <a:ext cx="2457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Extra Trees and U-Net label each valid pixel.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73C1E5-B5CE-4DD0-89DC-4B52836B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476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833177-0AE9-4AB5-85DD-12851D44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C41BF1-E696-4BB9-8F11-1B0388B2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2350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Spatial gradient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B30683-DA4B-4CB1-BC1D-3A4A82D4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62400"/>
            <a:ext cx="407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VV/VH percentiles, distribution spread, cross-polarisation summaries, texture gradients, and transformed rainfall.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A4316E-71F0-474B-A7AA-8099EBA2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4767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36C78-7A85-4D7C-B1D5-FC8D16EB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BF3C95-3848-49ED-B64C-18C488B1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62350"/>
            <a:ext cx="407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Three-scale U-Net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21B130-6694-4617-A4FB-7A57909E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62400"/>
            <a:ext cx="4076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Two radar bands, augmented 128 × 128 crops, masked BCE plus Dice loss, and overlapping tiled inference.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83485A-3AF8-41AB-BA75-29B6B166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02A2A"/>
                </a:solidFill>
              </a:defRPr>
            </a:defPPr>
            <a:lvl1pPr algn="ctr">
              <a:defRPr sz="1350" b="1">
                <a:solidFill>
                  <a:srgbClr val="102A2A"/>
                </a:solidFill>
              </a:defRPr>
            </a:lvl1pPr>
            <a:lvl2pPr algn="ctr">
              <a:defRPr sz="1350" b="1">
                <a:solidFill>
                  <a:srgbClr val="102A2A"/>
                </a:solidFill>
              </a:defRPr>
            </a:lvl2pPr>
            <a:lvl3pPr algn="ctr">
              <a:defRPr sz="1350" b="1">
                <a:solidFill>
                  <a:srgbClr val="102A2A"/>
                </a:solidFill>
              </a:defRPr>
            </a:lvl3pPr>
            <a:lvl4pPr algn="ctr">
              <a:defRPr sz="1350" b="1">
                <a:solidFill>
                  <a:srgbClr val="102A2A"/>
                </a:solidFill>
              </a:defRPr>
            </a:lvl4pPr>
            <a:lvl5pPr algn="ctr">
              <a:defRPr sz="1350" b="1">
                <a:solidFill>
                  <a:srgbClr val="102A2A"/>
                </a:solidFill>
              </a:defRPr>
            </a:lvl5pPr>
            <a:lvl6pPr algn="ctr">
              <a:defRPr sz="1350" b="1">
                <a:solidFill>
                  <a:srgbClr val="102A2A"/>
                </a:solidFill>
              </a:defRPr>
            </a:lvl6pPr>
            <a:lvl7pPr algn="ctr">
              <a:defRPr sz="1350" b="1">
                <a:solidFill>
                  <a:srgbClr val="102A2A"/>
                </a:solidFill>
              </a:defRPr>
            </a:lvl7pPr>
            <a:lvl8pPr algn="ctr">
              <a:defRPr sz="1350" b="1">
                <a:solidFill>
                  <a:srgbClr val="102A2A"/>
                </a:solidFill>
              </a:defRPr>
            </a:lvl8pPr>
            <a:lvl9pPr algn="ctr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The lab places both tasks beside the same held-out event so users can inspect agreement and failure.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400335-B061-4813-886E-B60E507F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77B25D-3693-4015-985A-1F4D0E00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817840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F4C73-541E-446B-A9BB-5E09DE66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44772-7424-4A93-94E0-8ED3CBEB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Held-out results on Bolivia and Paraguay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1C19B-BC61-479F-993E-EE12D2A9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Scores come from 81 chips across two unseen events and remain exploratory.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A1B97-9F05-4EDA-8EAD-F1EF71FF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86A92D1-850A-4FDE-90B6-42EBFB3E5750}"/>
              </a:ext>
            </a:extLst>
          </p:cNvPr>
          <p:cNvGraphicFramePr/>
          <p:nvPr/>
        </p:nvGraphicFramePr>
        <p:xfrm>
          <a:off xmlns:a="http://schemas.openxmlformats.org/drawingml/2006/main" x="647700" y="1504950"/>
          <a:ext xmlns:a="http://schemas.openxmlformats.org/drawingml/2006/main" cx="5334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ee07e70ad14b5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E5124-24B1-46EC-A05F-213564F7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04950"/>
            <a:ext cx="5124450" cy="3714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39672-A571-4045-9E4E-93182377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90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0.725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BC824-636E-4F86-9913-4B64E76B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28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U-Net segmentation 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59CC6-BA54-4AEB-AB79-7BC3156A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907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0.569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9F00E-5542-4988-8A55-D0500520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28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U-Net intersection-over-union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DE650-885F-4741-A054-32E31373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0.667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0918D-85BD-4FC3-A019-8E95ED6E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48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spatial baseline classification F1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3E6E5-A303-497F-98FC-842423F3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099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0.864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E2BD6-BD01-41C0-9354-B3753787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48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spatial baseline precision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4EE668-E8C0-41C2-9B5F-6E22BFAA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481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E86F51"/>
                </a:solidFill>
              </a:defRPr>
            </a:defPPr>
            <a:lvl1pPr algn="l">
              <a:defRPr sz="1200" b="1">
                <a:solidFill>
                  <a:srgbClr val="E86F51"/>
                </a:solidFill>
              </a:defRPr>
            </a:lvl1pPr>
            <a:lvl2pPr algn="l">
              <a:defRPr sz="1200" b="1">
                <a:solidFill>
                  <a:srgbClr val="E86F51"/>
                </a:solidFill>
              </a:defRPr>
            </a:lvl2pPr>
            <a:lvl3pPr algn="l">
              <a:defRPr sz="1200" b="1">
                <a:solidFill>
                  <a:srgbClr val="E86F51"/>
                </a:solidFill>
              </a:defRPr>
            </a:lvl3pPr>
            <a:lvl4pPr algn="l">
              <a:defRPr sz="1200" b="1">
                <a:solidFill>
                  <a:srgbClr val="E86F51"/>
                </a:solidFill>
              </a:defRPr>
            </a:lvl4pPr>
            <a:lvl5pPr algn="l">
              <a:defRPr sz="1200" b="1">
                <a:solidFill>
                  <a:srgbClr val="E86F51"/>
                </a:solidFill>
              </a:defRPr>
            </a:lvl5pPr>
            <a:lvl6pPr algn="l">
              <a:defRPr sz="1200" b="1">
                <a:solidFill>
                  <a:srgbClr val="E86F51"/>
                </a:solidFill>
              </a:defRPr>
            </a:lvl6pPr>
            <a:lvl7pPr algn="l">
              <a:defRPr sz="1200" b="1">
                <a:solidFill>
                  <a:srgbClr val="E86F51"/>
                </a:solidFill>
              </a:defRPr>
            </a:lvl7pPr>
            <a:lvl8pPr algn="l">
              <a:defRPr sz="1200" b="1">
                <a:solidFill>
                  <a:srgbClr val="E86F51"/>
                </a:solidFill>
              </a:defRPr>
            </a:lvl8pPr>
            <a:lvl9pPr algn="l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The LSTM reached PR-AUC 0.762, but threshold transfer reduced F1 to 0.293.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FD6F9-399A-4FF7-AFEC-7D26C6E3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81650"/>
            <a:ext cx="1089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526262"/>
                </a:solidFill>
              </a:defRPr>
            </a:defPPr>
            <a:lvl1pPr algn="ctr">
              <a:defRPr sz="1200" b="1">
                <a:solidFill>
                  <a:srgbClr val="526262"/>
                </a:solidFill>
              </a:defRPr>
            </a:lvl1pPr>
            <a:lvl2pPr algn="ctr">
              <a:defRPr sz="1200" b="1">
                <a:solidFill>
                  <a:srgbClr val="526262"/>
                </a:solidFill>
              </a:defRPr>
            </a:lvl2pPr>
            <a:lvl3pPr algn="ctr">
              <a:defRPr sz="1200" b="1">
                <a:solidFill>
                  <a:srgbClr val="526262"/>
                </a:solidFill>
              </a:defRPr>
            </a:lvl3pPr>
            <a:lvl4pPr algn="ctr">
              <a:defRPr sz="1200" b="1">
                <a:solidFill>
                  <a:srgbClr val="526262"/>
                </a:solidFill>
              </a:defRPr>
            </a:lvl4pPr>
            <a:lvl5pPr algn="ctr">
              <a:defRPr sz="1200" b="1">
                <a:solidFill>
                  <a:srgbClr val="526262"/>
                </a:solidFill>
              </a:defRPr>
            </a:lvl5pPr>
            <a:lvl6pPr algn="ctr">
              <a:defRPr sz="1200" b="1">
                <a:solidFill>
                  <a:srgbClr val="526262"/>
                </a:solidFill>
              </a:defRPr>
            </a:lvl6pPr>
            <a:lvl7pPr algn="ctr">
              <a:defRPr sz="1200" b="1">
                <a:solidFill>
                  <a:srgbClr val="526262"/>
                </a:solidFill>
              </a:defRPr>
            </a:lvl7pPr>
            <a:lvl8pPr algn="ctr">
              <a:defRPr sz="1200" b="1">
                <a:solidFill>
                  <a:srgbClr val="526262"/>
                </a:solidFill>
              </a:defRPr>
            </a:lvl8pPr>
            <a:lvl9pPr algn="ctr">
              <a:defRPr sz="120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526262"/>
                </a:solidFill>
              </a:defRPr>
            </a:pPr>
            <a:r>
              <a:rPr sz="1200" b="1">
                <a:solidFill>
                  <a:srgbClr val="526262"/>
                </a:solidFill>
              </a:rPr>
              <a:t>Classification and segmentation scores describe different tasks.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9C72D-3150-4267-9479-459D9579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EA5266-B26D-4CB9-B8EC-B4DD873D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437514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C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BB5BB4-BB3C-49BE-91D1-D364488B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6B6CF"/>
                </a:solidFill>
              </a:defRPr>
            </a:defPPr>
            <a:lvl1pPr algn="l">
              <a:defRPr sz="1050" b="1">
                <a:solidFill>
                  <a:srgbClr val="26B6CF"/>
                </a:solidFill>
              </a:defRPr>
            </a:lvl1pPr>
            <a:lvl2pPr algn="l">
              <a:defRPr sz="1050" b="1">
                <a:solidFill>
                  <a:srgbClr val="26B6CF"/>
                </a:solidFill>
              </a:defRPr>
            </a:lvl2pPr>
            <a:lvl3pPr algn="l">
              <a:defRPr sz="1050" b="1">
                <a:solidFill>
                  <a:srgbClr val="26B6CF"/>
                </a:solidFill>
              </a:defRPr>
            </a:lvl3pPr>
            <a:lvl4pPr algn="l">
              <a:defRPr sz="1050" b="1">
                <a:solidFill>
                  <a:srgbClr val="26B6CF"/>
                </a:solidFill>
              </a:defRPr>
            </a:lvl4pPr>
            <a:lvl5pPr algn="l">
              <a:defRPr sz="1050" b="1">
                <a:solidFill>
                  <a:srgbClr val="26B6CF"/>
                </a:solidFill>
              </a:defRPr>
            </a:lvl5pPr>
            <a:lvl6pPr algn="l">
              <a:defRPr sz="1050" b="1">
                <a:solidFill>
                  <a:srgbClr val="26B6CF"/>
                </a:solidFill>
              </a:defRPr>
            </a:lvl6pPr>
            <a:lvl7pPr algn="l">
              <a:defRPr sz="1050" b="1">
                <a:solidFill>
                  <a:srgbClr val="26B6CF"/>
                </a:solidFill>
              </a:defRPr>
            </a:lvl7pPr>
            <a:lvl8pPr algn="l">
              <a:defRPr sz="1050" b="1">
                <a:solidFill>
                  <a:srgbClr val="26B6CF"/>
                </a:solidFill>
              </a:defRPr>
            </a:lvl8pPr>
            <a:lvl9pPr algn="l">
              <a:defRPr sz="10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6B6CF"/>
                </a:solidFill>
              </a:defRPr>
            </a:pPr>
            <a:r>
              <a:rPr sz="1050" b="1">
                <a:solidFill>
                  <a:srgbClr val="26B6CF"/>
                </a:solidFill>
              </a:rPr>
              <a:t>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A761D-4C2F-45F8-8650-2CFEDA1A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Historical Event Lab: comparison in the browser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0F913-26D2-4B73-B642-2C0CF6C7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B9CBC8"/>
                </a:solidFill>
              </a:defRPr>
            </a:defPPr>
            <a:lvl1pPr algn="l">
              <a:defRPr sz="1125" b="0">
                <a:solidFill>
                  <a:srgbClr val="B9CBC8"/>
                </a:solidFill>
              </a:defRPr>
            </a:lvl1pPr>
            <a:lvl2pPr algn="l">
              <a:defRPr sz="1125" b="0">
                <a:solidFill>
                  <a:srgbClr val="B9CBC8"/>
                </a:solidFill>
              </a:defRPr>
            </a:lvl2pPr>
            <a:lvl3pPr algn="l">
              <a:defRPr sz="1125" b="0">
                <a:solidFill>
                  <a:srgbClr val="B9CBC8"/>
                </a:solidFill>
              </a:defRPr>
            </a:lvl3pPr>
            <a:lvl4pPr algn="l">
              <a:defRPr sz="1125" b="0">
                <a:solidFill>
                  <a:srgbClr val="B9CBC8"/>
                </a:solidFill>
              </a:defRPr>
            </a:lvl4pPr>
            <a:lvl5pPr algn="l">
              <a:defRPr sz="1125" b="0">
                <a:solidFill>
                  <a:srgbClr val="B9CBC8"/>
                </a:solidFill>
              </a:defRPr>
            </a:lvl5pPr>
            <a:lvl6pPr algn="l">
              <a:defRPr sz="1125" b="0">
                <a:solidFill>
                  <a:srgbClr val="B9CBC8"/>
                </a:solidFill>
              </a:defRPr>
            </a:lvl6pPr>
            <a:lvl7pPr algn="l">
              <a:defRPr sz="1125" b="0">
                <a:solidFill>
                  <a:srgbClr val="B9CBC8"/>
                </a:solidFill>
              </a:defRPr>
            </a:lvl7pPr>
            <a:lvl8pPr algn="l">
              <a:defRPr sz="1125" b="0">
                <a:solidFill>
                  <a:srgbClr val="B9CBC8"/>
                </a:solidFill>
              </a:defRPr>
            </a:lvl8pPr>
            <a:lvl9pPr algn="l">
              <a:defRPr sz="1125" b="0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9CBC8"/>
                </a:solidFill>
              </a:defRPr>
            </a:pPr>
            <a:r>
              <a:rPr sz="1125" b="0">
                <a:solidFill>
                  <a:srgbClr val="B9CBC8"/>
                </a:solidFill>
              </a:rPr>
              <a:t>Select an event and chip, change model, adjust opacity, and inspect run details.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23696-A6C6-4151-8FE5-0A3A82B2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10E9A-865D-4B2B-80AF-AB70ED8552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9e93a7f4e482d"/>
          <a:stretch xmlns:a="http://schemas.openxmlformats.org/drawingml/2006/main"/>
        </p:blipFill>
        <p:spPr>
          <a:xfrm xmlns:a="http://schemas.openxmlformats.org/drawingml/2006/main">
            <a:off x="1785614" y="1257300"/>
            <a:ext cx="3629672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CABEA-DF0C-4A45-8805-B2116869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66850"/>
            <a:ext cx="46101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95FF3-6365-4E94-8FB0-5B56DE3A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668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F7F6C-4534-4A58-87F0-34FC8CA9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002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Held-out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7573F-8E90-47B8-A70F-6DA277BF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0250"/>
            <a:ext cx="4210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Extra Trees and U-Net IoU/F1 appear beside chip-level classification.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FBCA8-2699-4564-AB4C-01A9413D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46101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E1AFF6-369A-4E3F-9F90-AEBE9908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5750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1"/>
          </a:solidFill>
          <a:ln xmlns:a="http://schemas.openxmlformats.org/drawingml/2006/main" w="0">
            <a:solidFill>
              <a:srgbClr val="E86F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771CA-CE21-46DD-8D3F-F98C240B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9085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Visible threshold transfer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1B17C-58C6-4B5F-8AF4-F8065ECE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90900"/>
            <a:ext cx="4210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The original LSTM remains visible because weak transfer is useful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DFE98-B2F1-4911-B2A8-E4F2EA6B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48150"/>
            <a:ext cx="4610100" cy="1181100"/>
          </a:xfrm>
          <a:prstGeom xmlns:a="http://schemas.openxmlformats.org/drawingml/2006/main" prst="roundRect">
            <a:avLst>
              <a:gd name="adj" fmla="val 1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1314E5-FAAA-42E5-A5A7-32DA0555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48150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838BD-3958-44F5-BCBE-E661F876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8150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Reproducible selection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C98813-2408-42A1-943E-6D0D6B88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81550"/>
            <a:ext cx="4210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The export points to the accepted baseline artifact and frozen segmentation run.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CF3DB-8345-455D-A768-88742EAD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8AA3A0"/>
                </a:solidFill>
              </a:defRPr>
            </a:defPPr>
            <a:lvl1pPr algn="l">
              <a:defRPr sz="825" b="0">
                <a:solidFill>
                  <a:srgbClr val="8AA3A0"/>
                </a:solidFill>
              </a:defRPr>
            </a:lvl1pPr>
            <a:lvl2pPr algn="l">
              <a:defRPr sz="825" b="0">
                <a:solidFill>
                  <a:srgbClr val="8AA3A0"/>
                </a:solidFill>
              </a:defRPr>
            </a:lvl2pPr>
            <a:lvl3pPr algn="l">
              <a:defRPr sz="825" b="0">
                <a:solidFill>
                  <a:srgbClr val="8AA3A0"/>
                </a:solidFill>
              </a:defRPr>
            </a:lvl3pPr>
            <a:lvl4pPr algn="l">
              <a:defRPr sz="825" b="0">
                <a:solidFill>
                  <a:srgbClr val="8AA3A0"/>
                </a:solidFill>
              </a:defRPr>
            </a:lvl4pPr>
            <a:lvl5pPr algn="l">
              <a:defRPr sz="825" b="0">
                <a:solidFill>
                  <a:srgbClr val="8AA3A0"/>
                </a:solidFill>
              </a:defRPr>
            </a:lvl5pPr>
            <a:lvl6pPr algn="l">
              <a:defRPr sz="825" b="0">
                <a:solidFill>
                  <a:srgbClr val="8AA3A0"/>
                </a:solidFill>
              </a:defRPr>
            </a:lvl6pPr>
            <a:lvl7pPr algn="l">
              <a:defRPr sz="825" b="0">
                <a:solidFill>
                  <a:srgbClr val="8AA3A0"/>
                </a:solidFill>
              </a:defRPr>
            </a:lvl7pPr>
            <a:lvl8pPr algn="l">
              <a:defRPr sz="825" b="0">
                <a:solidFill>
                  <a:srgbClr val="8AA3A0"/>
                </a:solidFill>
              </a:defRPr>
            </a:lvl8pPr>
            <a:lvl9pPr algn="l">
              <a:defRPr sz="825" b="0">
                <a:solidFill>
                  <a:srgbClr val="8AA3A0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8AA3A0"/>
                </a:solidFill>
              </a:defRPr>
            </a:pPr>
            <a:r>
              <a:rPr sz="825" b="0">
                <a:solidFill>
                  <a:srgbClr val="8AA3A0"/>
                </a:solidFill>
              </a:rPr>
              <a:t>FloodLens final project 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F6DB6-35DD-4CA6-B0B4-B8773A18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8AA3A0"/>
                </a:solidFill>
              </a:defRPr>
            </a:defPPr>
            <a:lvl1pPr algn="r">
              <a:defRPr sz="825" b="1">
                <a:solidFill>
                  <a:srgbClr val="8AA3A0"/>
                </a:solidFill>
              </a:defRPr>
            </a:lvl1pPr>
            <a:lvl2pPr algn="r">
              <a:defRPr sz="825" b="1">
                <a:solidFill>
                  <a:srgbClr val="8AA3A0"/>
                </a:solidFill>
              </a:defRPr>
            </a:lvl2pPr>
            <a:lvl3pPr algn="r">
              <a:defRPr sz="825" b="1">
                <a:solidFill>
                  <a:srgbClr val="8AA3A0"/>
                </a:solidFill>
              </a:defRPr>
            </a:lvl3pPr>
            <a:lvl4pPr algn="r">
              <a:defRPr sz="825" b="1">
                <a:solidFill>
                  <a:srgbClr val="8AA3A0"/>
                </a:solidFill>
              </a:defRPr>
            </a:lvl4pPr>
            <a:lvl5pPr algn="r">
              <a:defRPr sz="825" b="1">
                <a:solidFill>
                  <a:srgbClr val="8AA3A0"/>
                </a:solidFill>
              </a:defRPr>
            </a:lvl5pPr>
            <a:lvl6pPr algn="r">
              <a:defRPr sz="825" b="1">
                <a:solidFill>
                  <a:srgbClr val="8AA3A0"/>
                </a:solidFill>
              </a:defRPr>
            </a:lvl6pPr>
            <a:lvl7pPr algn="r">
              <a:defRPr sz="825" b="1">
                <a:solidFill>
                  <a:srgbClr val="8AA3A0"/>
                </a:solidFill>
              </a:defRPr>
            </a:lvl7pPr>
            <a:lvl8pPr algn="r">
              <a:defRPr sz="825" b="1">
                <a:solidFill>
                  <a:srgbClr val="8AA3A0"/>
                </a:solidFill>
              </a:defRPr>
            </a:lvl8pPr>
            <a:lvl9pPr algn="r">
              <a:defRPr sz="825" b="1">
                <a:solidFill>
                  <a:srgbClr val="8AA3A0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8AA3A0"/>
                </a:solidFill>
              </a:defRPr>
            </a:pPr>
            <a:r>
              <a:rPr sz="825" b="1">
                <a:solidFill>
                  <a:srgbClr val="8AA3A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548230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6001BD-076B-4182-A4EC-7EAD8598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CF061-449F-4F31-9A7D-064469C2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Failure analysis on a held-out satellite chip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631DF-E35A-485F-BF60-BEC70BD3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Bolivia_103757 shows the source radar, verified water, U-Net mask, and the exact spatial errors.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E46AA-3045-40BA-AA23-DAA98C41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70C10-4019-46FE-B359-314AD967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D6B5E"/>
                </a:solidFill>
              </a:defRPr>
            </a:defPPr>
            <a:lvl1pPr algn="ctr">
              <a:defRPr sz="1200" b="1">
                <a:solidFill>
                  <a:srgbClr val="0D6B5E"/>
                </a:solidFill>
              </a:defRPr>
            </a:lvl1pPr>
            <a:lvl2pPr algn="ctr">
              <a:defRPr sz="1200" b="1">
                <a:solidFill>
                  <a:srgbClr val="0D6B5E"/>
                </a:solidFill>
              </a:defRPr>
            </a:lvl2pPr>
            <a:lvl3pPr algn="ctr">
              <a:defRPr sz="1200" b="1">
                <a:solidFill>
                  <a:srgbClr val="0D6B5E"/>
                </a:solidFill>
              </a:defRPr>
            </a:lvl3pPr>
            <a:lvl4pPr algn="ctr">
              <a:defRPr sz="1200" b="1">
                <a:solidFill>
                  <a:srgbClr val="0D6B5E"/>
                </a:solidFill>
              </a:defRPr>
            </a:lvl4pPr>
            <a:lvl5pPr algn="ctr">
              <a:defRPr sz="1200" b="1">
                <a:solidFill>
                  <a:srgbClr val="0D6B5E"/>
                </a:solidFill>
              </a:defRPr>
            </a:lvl5pPr>
            <a:lvl6pPr algn="ctr">
              <a:defRPr sz="1200" b="1">
                <a:solidFill>
                  <a:srgbClr val="0D6B5E"/>
                </a:solidFill>
              </a:defRPr>
            </a:lvl6pPr>
            <a:lvl7pPr algn="ctr">
              <a:defRPr sz="1200" b="1">
                <a:solidFill>
                  <a:srgbClr val="0D6B5E"/>
                </a:solidFill>
              </a:defRPr>
            </a:lvl7pPr>
            <a:lvl8pPr algn="ctr">
              <a:defRPr sz="1200" b="1">
                <a:solidFill>
                  <a:srgbClr val="0D6B5E"/>
                </a:solidFill>
              </a:defRPr>
            </a:lvl8pPr>
            <a:lvl9pPr algn="ctr">
              <a:defRPr sz="12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D6B5E"/>
                </a:solidFill>
              </a:defRPr>
            </a:pPr>
            <a:r>
              <a:rPr sz="1200" b="1">
                <a:solidFill>
                  <a:srgbClr val="0D6B5E"/>
                </a:solidFill>
              </a:rPr>
              <a:t>Radar input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ADA4F-BAC2-4B0D-9223-F0F1F69798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5917b58c74a27"/>
          <a:stretch xmlns:a="http://schemas.openxmlformats.org/drawingml/2006/main"/>
        </p:blipFill>
        <p:spPr>
          <a:xfrm xmlns:a="http://schemas.openxmlformats.org/drawingml/2006/main">
            <a:off x="838200" y="16764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EA6B0-87F6-433B-B391-31848A9C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D6B5E"/>
                </a:solidFill>
              </a:defRPr>
            </a:defPPr>
            <a:lvl1pPr algn="ctr">
              <a:defRPr sz="1200" b="1">
                <a:solidFill>
                  <a:srgbClr val="0D6B5E"/>
                </a:solidFill>
              </a:defRPr>
            </a:lvl1pPr>
            <a:lvl2pPr algn="ctr">
              <a:defRPr sz="1200" b="1">
                <a:solidFill>
                  <a:srgbClr val="0D6B5E"/>
                </a:solidFill>
              </a:defRPr>
            </a:lvl2pPr>
            <a:lvl3pPr algn="ctr">
              <a:defRPr sz="1200" b="1">
                <a:solidFill>
                  <a:srgbClr val="0D6B5E"/>
                </a:solidFill>
              </a:defRPr>
            </a:lvl3pPr>
            <a:lvl4pPr algn="ctr">
              <a:defRPr sz="1200" b="1">
                <a:solidFill>
                  <a:srgbClr val="0D6B5E"/>
                </a:solidFill>
              </a:defRPr>
            </a:lvl4pPr>
            <a:lvl5pPr algn="ctr">
              <a:defRPr sz="1200" b="1">
                <a:solidFill>
                  <a:srgbClr val="0D6B5E"/>
                </a:solidFill>
              </a:defRPr>
            </a:lvl5pPr>
            <a:lvl6pPr algn="ctr">
              <a:defRPr sz="1200" b="1">
                <a:solidFill>
                  <a:srgbClr val="0D6B5E"/>
                </a:solidFill>
              </a:defRPr>
            </a:lvl6pPr>
            <a:lvl7pPr algn="ctr">
              <a:defRPr sz="1200" b="1">
                <a:solidFill>
                  <a:srgbClr val="0D6B5E"/>
                </a:solidFill>
              </a:defRPr>
            </a:lvl7pPr>
            <a:lvl8pPr algn="ctr">
              <a:defRPr sz="1200" b="1">
                <a:solidFill>
                  <a:srgbClr val="0D6B5E"/>
                </a:solidFill>
              </a:defRPr>
            </a:lvl8pPr>
            <a:lvl9pPr algn="ctr">
              <a:defRPr sz="12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D6B5E"/>
                </a:solidFill>
              </a:defRPr>
            </a:pPr>
            <a:r>
              <a:rPr sz="1200" b="1">
                <a:solidFill>
                  <a:srgbClr val="0D6B5E"/>
                </a:solidFill>
              </a:rPr>
              <a:t>Verified label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A6107-5201-4077-BD30-D87A7FBF68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d8ffc3a690464a"/>
          <a:stretch xmlns:a="http://schemas.openxmlformats.org/drawingml/2006/main"/>
        </p:blipFill>
        <p:spPr>
          <a:xfrm xmlns:a="http://schemas.openxmlformats.org/drawingml/2006/main">
            <a:off x="3562350" y="16764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E91F3-8DB4-4011-B50A-23DEB39D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0D6B5E"/>
                </a:solidFill>
              </a:defRPr>
            </a:defPPr>
            <a:lvl1pPr algn="ctr">
              <a:defRPr sz="1200" b="1">
                <a:solidFill>
                  <a:srgbClr val="0D6B5E"/>
                </a:solidFill>
              </a:defRPr>
            </a:lvl1pPr>
            <a:lvl2pPr algn="ctr">
              <a:defRPr sz="1200" b="1">
                <a:solidFill>
                  <a:srgbClr val="0D6B5E"/>
                </a:solidFill>
              </a:defRPr>
            </a:lvl2pPr>
            <a:lvl3pPr algn="ctr">
              <a:defRPr sz="1200" b="1">
                <a:solidFill>
                  <a:srgbClr val="0D6B5E"/>
                </a:solidFill>
              </a:defRPr>
            </a:lvl3pPr>
            <a:lvl4pPr algn="ctr">
              <a:defRPr sz="1200" b="1">
                <a:solidFill>
                  <a:srgbClr val="0D6B5E"/>
                </a:solidFill>
              </a:defRPr>
            </a:lvl4pPr>
            <a:lvl5pPr algn="ctr">
              <a:defRPr sz="1200" b="1">
                <a:solidFill>
                  <a:srgbClr val="0D6B5E"/>
                </a:solidFill>
              </a:defRPr>
            </a:lvl5pPr>
            <a:lvl6pPr algn="ctr">
              <a:defRPr sz="1200" b="1">
                <a:solidFill>
                  <a:srgbClr val="0D6B5E"/>
                </a:solidFill>
              </a:defRPr>
            </a:lvl6pPr>
            <a:lvl7pPr algn="ctr">
              <a:defRPr sz="1200" b="1">
                <a:solidFill>
                  <a:srgbClr val="0D6B5E"/>
                </a:solidFill>
              </a:defRPr>
            </a:lvl7pPr>
            <a:lvl8pPr algn="ctr">
              <a:defRPr sz="1200" b="1">
                <a:solidFill>
                  <a:srgbClr val="0D6B5E"/>
                </a:solidFill>
              </a:defRPr>
            </a:lvl8pPr>
            <a:lvl9pPr algn="ctr">
              <a:defRPr sz="12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0D6B5E"/>
                </a:solidFill>
              </a:defRPr>
            </a:pPr>
            <a:r>
              <a:rPr sz="1200" b="1">
                <a:solidFill>
                  <a:srgbClr val="0D6B5E"/>
                </a:solidFill>
              </a:rPr>
              <a:t>U-Net prediction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8FBF1-1C41-427D-AD6F-9C3AE35905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8ce5e19674e31"/>
          <a:stretch xmlns:a="http://schemas.openxmlformats.org/drawingml/2006/main"/>
        </p:blipFill>
        <p:spPr>
          <a:xfrm xmlns:a="http://schemas.openxmlformats.org/drawingml/2006/main">
            <a:off x="6286500" y="16764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171D9-B061-4EE1-9664-EB79FD61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E86F51"/>
                </a:solidFill>
              </a:defRPr>
            </a:defPPr>
            <a:lvl1pPr algn="ctr">
              <a:defRPr sz="1200" b="1">
                <a:solidFill>
                  <a:srgbClr val="E86F51"/>
                </a:solidFill>
              </a:defRPr>
            </a:lvl1pPr>
            <a:lvl2pPr algn="ctr">
              <a:defRPr sz="1200" b="1">
                <a:solidFill>
                  <a:srgbClr val="E86F51"/>
                </a:solidFill>
              </a:defRPr>
            </a:lvl2pPr>
            <a:lvl3pPr algn="ctr">
              <a:defRPr sz="1200" b="1">
                <a:solidFill>
                  <a:srgbClr val="E86F51"/>
                </a:solidFill>
              </a:defRPr>
            </a:lvl3pPr>
            <a:lvl4pPr algn="ctr">
              <a:defRPr sz="1200" b="1">
                <a:solidFill>
                  <a:srgbClr val="E86F51"/>
                </a:solidFill>
              </a:defRPr>
            </a:lvl4pPr>
            <a:lvl5pPr algn="ctr">
              <a:defRPr sz="1200" b="1">
                <a:solidFill>
                  <a:srgbClr val="E86F51"/>
                </a:solidFill>
              </a:defRPr>
            </a:lvl5pPr>
            <a:lvl6pPr algn="ctr">
              <a:defRPr sz="1200" b="1">
                <a:solidFill>
                  <a:srgbClr val="E86F51"/>
                </a:solidFill>
              </a:defRPr>
            </a:lvl6pPr>
            <a:lvl7pPr algn="ctr">
              <a:defRPr sz="1200" b="1">
                <a:solidFill>
                  <a:srgbClr val="E86F51"/>
                </a:solidFill>
              </a:defRPr>
            </a:lvl7pPr>
            <a:lvl8pPr algn="ctr">
              <a:defRPr sz="1200" b="1">
                <a:solidFill>
                  <a:srgbClr val="E86F51"/>
                </a:solidFill>
              </a:defRPr>
            </a:lvl8pPr>
            <a:lvl9pPr algn="ctr">
              <a:defRPr sz="120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E86F51"/>
                </a:solidFill>
              </a:defRPr>
            </a:pPr>
            <a:r>
              <a:rPr sz="1200" b="1">
                <a:solidFill>
                  <a:srgbClr val="E86F51"/>
                </a:solidFill>
              </a:rPr>
              <a:t>Error overlay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CD242-F826-4E12-A9C3-D5855EA5F3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55031522e49d5"/>
          <a:stretch xmlns:a="http://schemas.openxmlformats.org/drawingml/2006/main"/>
        </p:blipFill>
        <p:spPr>
          <a:xfrm xmlns:a="http://schemas.openxmlformats.org/drawingml/2006/main">
            <a:off x="9010650" y="167640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6CECD-3944-44C6-9DA9-84A47641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10896600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9AFAC8-AB10-4D2B-BB94-63F13020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How to read this chip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618A3-2A34-4EA4-892A-08787ED6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A33D9-3F1F-4E8D-BB88-01553A77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Observed water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21D816-03CD-422D-8488-8994F2DE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29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757"/>
          </a:solidFill>
          <a:ln xmlns:a="http://schemas.openxmlformats.org/drawingml/2006/main" w="0">
            <a:solidFill>
              <a:srgbClr val="D9575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17F55-CD5D-4104-9283-E836713B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False water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6AE15-6D8A-49A7-B497-9A2671F5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3A"/>
          </a:solidFill>
          <a:ln xmlns:a="http://schemas.openxmlformats.org/drawingml/2006/main" w="0">
            <a:solidFill>
              <a:srgbClr val="F2A2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86FE96-AFDC-4B0C-B1A0-5EA79319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Missed water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ED6EF4-4ED8-4AB8-A30E-3C042EAC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991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6B6B"/>
          </a:solidFill>
          <a:ln xmlns:a="http://schemas.openxmlformats.org/drawingml/2006/main" w="0">
            <a:solidFill>
              <a:srgbClr val="6B6B6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B933C0-1E47-4F76-9DC2-39896227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9339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No label / outside valid footprint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0DF2B4-C98B-4745-B1E2-D8EC1E5B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719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Chip U-Net IoU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91ED3A-0403-4CD5-882C-C25C2905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767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26B6CF"/>
                </a:solidFill>
              </a:defRPr>
            </a:defPPr>
            <a:lvl1pPr algn="l">
              <a:defRPr sz="2400" b="1">
                <a:solidFill>
                  <a:srgbClr val="26B6CF"/>
                </a:solidFill>
              </a:defRPr>
            </a:lvl1pPr>
            <a:lvl2pPr algn="l">
              <a:defRPr sz="2400" b="1">
                <a:solidFill>
                  <a:srgbClr val="26B6CF"/>
                </a:solidFill>
              </a:defRPr>
            </a:lvl2pPr>
            <a:lvl3pPr algn="l">
              <a:defRPr sz="2400" b="1">
                <a:solidFill>
                  <a:srgbClr val="26B6CF"/>
                </a:solidFill>
              </a:defRPr>
            </a:lvl3pPr>
            <a:lvl4pPr algn="l">
              <a:defRPr sz="2400" b="1">
                <a:solidFill>
                  <a:srgbClr val="26B6CF"/>
                </a:solidFill>
              </a:defRPr>
            </a:lvl4pPr>
            <a:lvl5pPr algn="l">
              <a:defRPr sz="2400" b="1">
                <a:solidFill>
                  <a:srgbClr val="26B6CF"/>
                </a:solidFill>
              </a:defRPr>
            </a:lvl5pPr>
            <a:lvl6pPr algn="l">
              <a:defRPr sz="2400" b="1">
                <a:solidFill>
                  <a:srgbClr val="26B6CF"/>
                </a:solidFill>
              </a:defRPr>
            </a:lvl6pPr>
            <a:lvl7pPr algn="l">
              <a:defRPr sz="2400" b="1">
                <a:solidFill>
                  <a:srgbClr val="26B6CF"/>
                </a:solidFill>
              </a:defRPr>
            </a:lvl7pPr>
            <a:lvl8pPr algn="l">
              <a:defRPr sz="2400" b="1">
                <a:solidFill>
                  <a:srgbClr val="26B6CF"/>
                </a:solidFill>
              </a:defRPr>
            </a:lvl8pPr>
            <a:lvl9pPr algn="l">
              <a:defRPr sz="240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6B6CF"/>
                </a:solidFill>
              </a:defRPr>
            </a:pPr>
            <a:r>
              <a:rPr sz="2400" b="1">
                <a:solidFill>
                  <a:srgbClr val="26B6CF"/>
                </a:solidFill>
              </a:rPr>
              <a:t>0.659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9B3F56-96A2-4504-9FD0-0330B30B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526262"/>
                </a:solidFill>
              </a:defRPr>
            </a:defPPr>
            <a:lvl1pPr algn="l">
              <a:defRPr sz="1050" b="1">
                <a:solidFill>
                  <a:srgbClr val="526262"/>
                </a:solidFill>
              </a:defRPr>
            </a:lvl1pPr>
            <a:lvl2pPr algn="l">
              <a:defRPr sz="1050" b="1">
                <a:solidFill>
                  <a:srgbClr val="526262"/>
                </a:solidFill>
              </a:defRPr>
            </a:lvl2pPr>
            <a:lvl3pPr algn="l">
              <a:defRPr sz="1050" b="1">
                <a:solidFill>
                  <a:srgbClr val="526262"/>
                </a:solidFill>
              </a:defRPr>
            </a:lvl3pPr>
            <a:lvl4pPr algn="l">
              <a:defRPr sz="1050" b="1">
                <a:solidFill>
                  <a:srgbClr val="526262"/>
                </a:solidFill>
              </a:defRPr>
            </a:lvl4pPr>
            <a:lvl5pPr algn="l">
              <a:defRPr sz="1050" b="1">
                <a:solidFill>
                  <a:srgbClr val="526262"/>
                </a:solidFill>
              </a:defRPr>
            </a:lvl5pPr>
            <a:lvl6pPr algn="l">
              <a:defRPr sz="1050" b="1">
                <a:solidFill>
                  <a:srgbClr val="526262"/>
                </a:solidFill>
              </a:defRPr>
            </a:lvl6pPr>
            <a:lvl7pPr algn="l">
              <a:defRPr sz="1050" b="1">
                <a:solidFill>
                  <a:srgbClr val="526262"/>
                </a:solidFill>
              </a:defRPr>
            </a:lvl7pPr>
            <a:lvl8pPr algn="l">
              <a:defRPr sz="1050" b="1">
                <a:solidFill>
                  <a:srgbClr val="526262"/>
                </a:solidFill>
              </a:defRPr>
            </a:lvl8pPr>
            <a:lvl9pPr algn="l">
              <a:defRPr sz="1050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526262"/>
                </a:solidFill>
              </a:defRPr>
            </a:pPr>
            <a:r>
              <a:rPr sz="1050" b="1">
                <a:solidFill>
                  <a:srgbClr val="526262"/>
                </a:solidFill>
              </a:rPr>
              <a:t>Bolivia event IoU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9EF771-8B8C-49E8-B230-E68DAAFB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D6B5E"/>
                </a:solidFill>
              </a:defRPr>
            </a:defPPr>
            <a:lvl1pPr algn="l">
              <a:defRPr sz="2400" b="1">
                <a:solidFill>
                  <a:srgbClr val="0D6B5E"/>
                </a:solidFill>
              </a:defRPr>
            </a:lvl1pPr>
            <a:lvl2pPr algn="l">
              <a:defRPr sz="2400" b="1">
                <a:solidFill>
                  <a:srgbClr val="0D6B5E"/>
                </a:solidFill>
              </a:defRPr>
            </a:lvl2pPr>
            <a:lvl3pPr algn="l">
              <a:defRPr sz="2400" b="1">
                <a:solidFill>
                  <a:srgbClr val="0D6B5E"/>
                </a:solidFill>
              </a:defRPr>
            </a:lvl3pPr>
            <a:lvl4pPr algn="l">
              <a:defRPr sz="2400" b="1">
                <a:solidFill>
                  <a:srgbClr val="0D6B5E"/>
                </a:solidFill>
              </a:defRPr>
            </a:lvl4pPr>
            <a:lvl5pPr algn="l">
              <a:defRPr sz="2400" b="1">
                <a:solidFill>
                  <a:srgbClr val="0D6B5E"/>
                </a:solidFill>
              </a:defRPr>
            </a:lvl5pPr>
            <a:lvl6pPr algn="l">
              <a:defRPr sz="2400" b="1">
                <a:solidFill>
                  <a:srgbClr val="0D6B5E"/>
                </a:solidFill>
              </a:defRPr>
            </a:lvl6pPr>
            <a:lvl7pPr algn="l">
              <a:defRPr sz="2400" b="1">
                <a:solidFill>
                  <a:srgbClr val="0D6B5E"/>
                </a:solidFill>
              </a:defRPr>
            </a:lvl7pPr>
            <a:lvl8pPr algn="l">
              <a:defRPr sz="2400" b="1">
                <a:solidFill>
                  <a:srgbClr val="0D6B5E"/>
                </a:solidFill>
              </a:defRPr>
            </a:lvl8pPr>
            <a:lvl9pPr algn="l">
              <a:defRPr sz="240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D6B5E"/>
                </a:solidFill>
              </a:defRPr>
            </a:pPr>
            <a:r>
              <a:rPr sz="2400" b="1">
                <a:solidFill>
                  <a:srgbClr val="0D6B5E"/>
                </a:solidFill>
              </a:rPr>
              <a:t>0.580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5CBA77-4A94-44CD-9010-59461056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10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E86F51"/>
                </a:solidFill>
              </a:defRPr>
            </a:defPPr>
            <a:lvl1pPr algn="l">
              <a:defRPr sz="1050" b="1">
                <a:solidFill>
                  <a:srgbClr val="E86F51"/>
                </a:solidFill>
              </a:defRPr>
            </a:lvl1pPr>
            <a:lvl2pPr algn="l">
              <a:defRPr sz="1050" b="1">
                <a:solidFill>
                  <a:srgbClr val="E86F51"/>
                </a:solidFill>
              </a:defRPr>
            </a:lvl2pPr>
            <a:lvl3pPr algn="l">
              <a:defRPr sz="1050" b="1">
                <a:solidFill>
                  <a:srgbClr val="E86F51"/>
                </a:solidFill>
              </a:defRPr>
            </a:lvl3pPr>
            <a:lvl4pPr algn="l">
              <a:defRPr sz="1050" b="1">
                <a:solidFill>
                  <a:srgbClr val="E86F51"/>
                </a:solidFill>
              </a:defRPr>
            </a:lvl4pPr>
            <a:lvl5pPr algn="l">
              <a:defRPr sz="1050" b="1">
                <a:solidFill>
                  <a:srgbClr val="E86F51"/>
                </a:solidFill>
              </a:defRPr>
            </a:lvl5pPr>
            <a:lvl6pPr algn="l">
              <a:defRPr sz="1050" b="1">
                <a:solidFill>
                  <a:srgbClr val="E86F51"/>
                </a:solidFill>
              </a:defRPr>
            </a:lvl6pPr>
            <a:lvl7pPr algn="l">
              <a:defRPr sz="1050" b="1">
                <a:solidFill>
                  <a:srgbClr val="E86F51"/>
                </a:solidFill>
              </a:defRPr>
            </a:lvl7pPr>
            <a:lvl8pPr algn="l">
              <a:defRPr sz="1050" b="1">
                <a:solidFill>
                  <a:srgbClr val="E86F51"/>
                </a:solidFill>
              </a:defRPr>
            </a:lvl8pPr>
            <a:lvl9pPr algn="l">
              <a:defRPr sz="10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E86F51"/>
                </a:solidFill>
              </a:defRPr>
            </a:pPr>
            <a:r>
              <a:rPr sz="1050" b="1">
                <a:solidFill>
                  <a:srgbClr val="E86F51"/>
                </a:solidFill>
              </a:rPr>
              <a:t>Interpretation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CC0C3F-040E-4AAC-9F5F-6B2A4084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33950"/>
            <a:ext cx="3086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0">
                <a:solidFill>
                  <a:srgbClr val="526262"/>
                </a:solidFill>
              </a:defRPr>
            </a:defPPr>
            <a:lvl1pPr algn="l">
              <a:defRPr sz="975" b="0">
                <a:solidFill>
                  <a:srgbClr val="526262"/>
                </a:solidFill>
              </a:defRPr>
            </a:lvl1pPr>
            <a:lvl2pPr algn="l">
              <a:defRPr sz="975" b="0">
                <a:solidFill>
                  <a:srgbClr val="526262"/>
                </a:solidFill>
              </a:defRPr>
            </a:lvl2pPr>
            <a:lvl3pPr algn="l">
              <a:defRPr sz="975" b="0">
                <a:solidFill>
                  <a:srgbClr val="526262"/>
                </a:solidFill>
              </a:defRPr>
            </a:lvl3pPr>
            <a:lvl4pPr algn="l">
              <a:defRPr sz="975" b="0">
                <a:solidFill>
                  <a:srgbClr val="526262"/>
                </a:solidFill>
              </a:defRPr>
            </a:lvl4pPr>
            <a:lvl5pPr algn="l">
              <a:defRPr sz="975" b="0">
                <a:solidFill>
                  <a:srgbClr val="526262"/>
                </a:solidFill>
              </a:defRPr>
            </a:lvl5pPr>
            <a:lvl6pPr algn="l">
              <a:defRPr sz="975" b="0">
                <a:solidFill>
                  <a:srgbClr val="526262"/>
                </a:solidFill>
              </a:defRPr>
            </a:lvl6pPr>
            <a:lvl7pPr algn="l">
              <a:defRPr sz="975" b="0">
                <a:solidFill>
                  <a:srgbClr val="526262"/>
                </a:solidFill>
              </a:defRPr>
            </a:lvl7pPr>
            <a:lvl8pPr algn="l">
              <a:defRPr sz="975" b="0">
                <a:solidFill>
                  <a:srgbClr val="526262"/>
                </a:solidFill>
              </a:defRPr>
            </a:lvl8pPr>
            <a:lvl9pPr algn="l">
              <a:defRPr sz="97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26262"/>
                </a:solidFill>
              </a:defRPr>
            </a:pPr>
            <a:r>
              <a:rPr sz="975" b="0">
                <a:solidFill>
                  <a:srgbClr val="526262"/>
                </a:solidFill>
              </a:rPr>
              <a:t>The model captures the main water body but misses narrow labelled edges and adds false water along several boundaries. The gray region is excluded from scoring.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8DA16C-5E81-4BA5-ACB8-C00F2082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864864-9D52-49D8-B08F-62B8AF8B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3221018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E0F1A4-A348-45E3-B9E0-FB80A893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E780C-957A-4E45-921F-AC2937ED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A higher F1 can still hide a bad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40584-1063-40E6-8ABF-DEEF3F35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event-balanced LSTM v2 reached F1 0.603 by predicting every held-out chip as positive.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03307-A78D-4067-86B1-54C46633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B88E4-81E1-4C1F-91A8-4D2D0CCC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51435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BEAE5"/>
          </a:solidFill>
          <a:ln xmlns:a="http://schemas.openxmlformats.org/drawingml/2006/main" w="9525">
            <a:solidFill>
              <a:srgbClr val="F3C4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92EDC-A6BE-4684-B1BA-96EA741D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E86F51"/>
                </a:solidFill>
              </a:defRPr>
            </a:defPPr>
            <a:lvl1pPr algn="l">
              <a:defRPr sz="1650" b="1">
                <a:solidFill>
                  <a:srgbClr val="E86F51"/>
                </a:solidFill>
              </a:defRPr>
            </a:lvl1pPr>
            <a:lvl2pPr algn="l">
              <a:defRPr sz="1650" b="1">
                <a:solidFill>
                  <a:srgbClr val="E86F51"/>
                </a:solidFill>
              </a:defRPr>
            </a:lvl2pPr>
            <a:lvl3pPr algn="l">
              <a:defRPr sz="1650" b="1">
                <a:solidFill>
                  <a:srgbClr val="E86F51"/>
                </a:solidFill>
              </a:defRPr>
            </a:lvl3pPr>
            <a:lvl4pPr algn="l">
              <a:defRPr sz="1650" b="1">
                <a:solidFill>
                  <a:srgbClr val="E86F51"/>
                </a:solidFill>
              </a:defRPr>
            </a:lvl4pPr>
            <a:lvl5pPr algn="l">
              <a:defRPr sz="1650" b="1">
                <a:solidFill>
                  <a:srgbClr val="E86F51"/>
                </a:solidFill>
              </a:defRPr>
            </a:lvl5pPr>
            <a:lvl6pPr algn="l">
              <a:defRPr sz="1650" b="1">
                <a:solidFill>
                  <a:srgbClr val="E86F51"/>
                </a:solidFill>
              </a:defRPr>
            </a:lvl6pPr>
            <a:lvl7pPr algn="l">
              <a:defRPr sz="1650" b="1">
                <a:solidFill>
                  <a:srgbClr val="E86F51"/>
                </a:solidFill>
              </a:defRPr>
            </a:lvl7pPr>
            <a:lvl8pPr algn="l">
              <a:defRPr sz="1650" b="1">
                <a:solidFill>
                  <a:srgbClr val="E86F51"/>
                </a:solidFill>
              </a:defRPr>
            </a:lvl8pPr>
            <a:lvl9pPr algn="l">
              <a:defRPr sz="1650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86F51"/>
                </a:solidFill>
              </a:defRPr>
            </a:pPr>
            <a:r>
              <a:rPr sz="1650" b="1">
                <a:solidFill>
                  <a:srgbClr val="E86F51"/>
                </a:solidFill>
              </a:rPr>
              <a:t>Rejected LSTM v2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7C9CE-ECBA-49FC-B1A5-B8F47096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81 / 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6C971-7858-4009-AD92-B9A7BD81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chips predicted positive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CA532-05ED-4A28-9795-86D535E8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241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5CEBE-97CB-44F4-9C11-D8714AFD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true negatives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33EE6E-CD1F-4BB2-8DA2-0D339E5E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2A"/>
                </a:solidFill>
              </a:defRPr>
            </a:defPPr>
            <a:lvl1pPr algn="l">
              <a:defRPr sz="1500" b="1">
                <a:solidFill>
                  <a:srgbClr val="102A2A"/>
                </a:solidFill>
              </a:defRPr>
            </a:lvl1pPr>
            <a:lvl2pPr algn="l">
              <a:defRPr sz="1500" b="1">
                <a:solidFill>
                  <a:srgbClr val="102A2A"/>
                </a:solidFill>
              </a:defRPr>
            </a:lvl2pPr>
            <a:lvl3pPr algn="l">
              <a:defRPr sz="1500" b="1">
                <a:solidFill>
                  <a:srgbClr val="102A2A"/>
                </a:solidFill>
              </a:defRPr>
            </a:lvl3pPr>
            <a:lvl4pPr algn="l">
              <a:defRPr sz="1500" b="1">
                <a:solidFill>
                  <a:srgbClr val="102A2A"/>
                </a:solidFill>
              </a:defRPr>
            </a:lvl4pPr>
            <a:lvl5pPr algn="l">
              <a:defRPr sz="1500" b="1">
                <a:solidFill>
                  <a:srgbClr val="102A2A"/>
                </a:solidFill>
              </a:defRPr>
            </a:lvl5pPr>
            <a:lvl6pPr algn="l">
              <a:defRPr sz="1500" b="1">
                <a:solidFill>
                  <a:srgbClr val="102A2A"/>
                </a:solidFill>
              </a:defRPr>
            </a:lvl6pPr>
            <a:lvl7pPr algn="l">
              <a:defRPr sz="1500" b="1">
                <a:solidFill>
                  <a:srgbClr val="102A2A"/>
                </a:solidFill>
              </a:defRPr>
            </a:lvl7pPr>
            <a:lvl8pPr algn="l">
              <a:defRPr sz="1500" b="1">
                <a:solidFill>
                  <a:srgbClr val="102A2A"/>
                </a:solidFill>
              </a:defRPr>
            </a:lvl8pPr>
            <a:lvl9pPr algn="l">
              <a:defRPr sz="150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The apparent F1 improvement did not represent a useful decision rule.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CCF8C-8DBA-4A88-A6F6-65B0BA5B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04950"/>
            <a:ext cx="52959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9525">
            <a:solidFill>
              <a:srgbClr val="DFF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B315E-CE03-4765-88F4-802CEF0F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526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0D6B5E"/>
                </a:solidFill>
              </a:defRPr>
            </a:defPPr>
            <a:lvl1pPr algn="l">
              <a:defRPr sz="1650" b="1">
                <a:solidFill>
                  <a:srgbClr val="0D6B5E"/>
                </a:solidFill>
              </a:defRPr>
            </a:lvl1pPr>
            <a:lvl2pPr algn="l">
              <a:defRPr sz="1650" b="1">
                <a:solidFill>
                  <a:srgbClr val="0D6B5E"/>
                </a:solidFill>
              </a:defRPr>
            </a:lvl2pPr>
            <a:lvl3pPr algn="l">
              <a:defRPr sz="1650" b="1">
                <a:solidFill>
                  <a:srgbClr val="0D6B5E"/>
                </a:solidFill>
              </a:defRPr>
            </a:lvl3pPr>
            <a:lvl4pPr algn="l">
              <a:defRPr sz="1650" b="1">
                <a:solidFill>
                  <a:srgbClr val="0D6B5E"/>
                </a:solidFill>
              </a:defRPr>
            </a:lvl4pPr>
            <a:lvl5pPr algn="l">
              <a:defRPr sz="1650" b="1">
                <a:solidFill>
                  <a:srgbClr val="0D6B5E"/>
                </a:solidFill>
              </a:defRPr>
            </a:lvl5pPr>
            <a:lvl6pPr algn="l">
              <a:defRPr sz="1650" b="1">
                <a:solidFill>
                  <a:srgbClr val="0D6B5E"/>
                </a:solidFill>
              </a:defRPr>
            </a:lvl6pPr>
            <a:lvl7pPr algn="l">
              <a:defRPr sz="1650" b="1">
                <a:solidFill>
                  <a:srgbClr val="0D6B5E"/>
                </a:solidFill>
              </a:defRPr>
            </a:lvl7pPr>
            <a:lvl8pPr algn="l">
              <a:defRPr sz="1650" b="1">
                <a:solidFill>
                  <a:srgbClr val="0D6B5E"/>
                </a:solidFill>
              </a:defRPr>
            </a:lvl8pPr>
            <a:lvl9pPr algn="l">
              <a:defRPr sz="16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D6B5E"/>
                </a:solidFill>
              </a:defRPr>
            </a:pPr>
            <a:r>
              <a:rPr sz="1650" b="1">
                <a:solidFill>
                  <a:srgbClr val="0D6B5E"/>
                </a:solidFill>
              </a:rPr>
              <a:t>Accepted spatial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A91B8-0C49-4A46-8CDA-FFDCF4E8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0.667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725D2-9CE2-479D-A7CA-60745920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622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held-out F1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FAD50-5FA2-4DCA-BE73-774738EF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241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0D6B5E"/>
                </a:solidFill>
              </a:defRPr>
            </a:defPPr>
            <a:lvl1pPr algn="l">
              <a:defRPr sz="2625" b="1">
                <a:solidFill>
                  <a:srgbClr val="0D6B5E"/>
                </a:solidFill>
              </a:defRPr>
            </a:lvl1pPr>
            <a:lvl2pPr algn="l">
              <a:defRPr sz="2625" b="1">
                <a:solidFill>
                  <a:srgbClr val="0D6B5E"/>
                </a:solidFill>
              </a:defRPr>
            </a:lvl2pPr>
            <a:lvl3pPr algn="l">
              <a:defRPr sz="2625" b="1">
                <a:solidFill>
                  <a:srgbClr val="0D6B5E"/>
                </a:solidFill>
              </a:defRPr>
            </a:lvl3pPr>
            <a:lvl4pPr algn="l">
              <a:defRPr sz="2625" b="1">
                <a:solidFill>
                  <a:srgbClr val="0D6B5E"/>
                </a:solidFill>
              </a:defRPr>
            </a:lvl4pPr>
            <a:lvl5pPr algn="l">
              <a:defRPr sz="2625" b="1">
                <a:solidFill>
                  <a:srgbClr val="0D6B5E"/>
                </a:solidFill>
              </a:defRPr>
            </a:lvl5pPr>
            <a:lvl6pPr algn="l">
              <a:defRPr sz="2625" b="1">
                <a:solidFill>
                  <a:srgbClr val="0D6B5E"/>
                </a:solidFill>
              </a:defRPr>
            </a:lvl6pPr>
            <a:lvl7pPr algn="l">
              <a:defRPr sz="2625" b="1">
                <a:solidFill>
                  <a:srgbClr val="0D6B5E"/>
                </a:solidFill>
              </a:defRPr>
            </a:lvl7pPr>
            <a:lvl8pPr algn="l">
              <a:defRPr sz="2625" b="1">
                <a:solidFill>
                  <a:srgbClr val="0D6B5E"/>
                </a:solidFill>
              </a:defRPr>
            </a:lvl8pPr>
            <a:lvl9pPr algn="l">
              <a:defRPr sz="262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0D6B5E"/>
                </a:solidFill>
              </a:defRPr>
            </a:pPr>
            <a:r>
              <a:rPr sz="2625" b="1">
                <a:solidFill>
                  <a:srgbClr val="0D6B5E"/>
                </a:solidFill>
              </a:rPr>
              <a:t>0.864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911702-AB2A-488F-9CD4-2BA89E04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precision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E57E8-C8D2-4E45-8EBA-B66EF5DB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2A"/>
                </a:solidFill>
              </a:defRPr>
            </a:defPPr>
            <a:lvl1pPr algn="l">
              <a:defRPr sz="1500" b="1">
                <a:solidFill>
                  <a:srgbClr val="102A2A"/>
                </a:solidFill>
              </a:defRPr>
            </a:lvl1pPr>
            <a:lvl2pPr algn="l">
              <a:defRPr sz="1500" b="1">
                <a:solidFill>
                  <a:srgbClr val="102A2A"/>
                </a:solidFill>
              </a:defRPr>
            </a:lvl2pPr>
            <a:lvl3pPr algn="l">
              <a:defRPr sz="1500" b="1">
                <a:solidFill>
                  <a:srgbClr val="102A2A"/>
                </a:solidFill>
              </a:defRPr>
            </a:lvl3pPr>
            <a:lvl4pPr algn="l">
              <a:defRPr sz="1500" b="1">
                <a:solidFill>
                  <a:srgbClr val="102A2A"/>
                </a:solidFill>
              </a:defRPr>
            </a:lvl4pPr>
            <a:lvl5pPr algn="l">
              <a:defRPr sz="1500" b="1">
                <a:solidFill>
                  <a:srgbClr val="102A2A"/>
                </a:solidFill>
              </a:defRPr>
            </a:lvl5pPr>
            <a:lvl6pPr algn="l">
              <a:defRPr sz="1500" b="1">
                <a:solidFill>
                  <a:srgbClr val="102A2A"/>
                </a:solidFill>
              </a:defRPr>
            </a:lvl6pPr>
            <a:lvl7pPr algn="l">
              <a:defRPr sz="1500" b="1">
                <a:solidFill>
                  <a:srgbClr val="102A2A"/>
                </a:solidFill>
              </a:defRPr>
            </a:lvl7pPr>
            <a:lvl8pPr algn="l">
              <a:defRPr sz="1500" b="1">
                <a:solidFill>
                  <a:srgbClr val="102A2A"/>
                </a:solidFill>
              </a:defRPr>
            </a:lvl8pPr>
            <a:lvl9pPr algn="l">
              <a:defRPr sz="150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02A2A"/>
                </a:solidFill>
              </a:defRPr>
            </a:pPr>
            <a:r>
              <a:rPr sz="1500" b="1">
                <a:solidFill>
                  <a:srgbClr val="102A2A"/>
                </a:solidFill>
              </a:rPr>
              <a:t>It preserves positive and negative decisions, with PR-AUC 0.871 and ROC-AUC 0.909.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2BEF6A-9221-4D72-8D47-9B60E407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0D6B5E"/>
                </a:solidFill>
              </a:defRPr>
            </a:defPPr>
            <a:lvl1pPr algn="ctr">
              <a:defRPr sz="1575" b="1">
                <a:solidFill>
                  <a:srgbClr val="0D6B5E"/>
                </a:solidFill>
              </a:defRPr>
            </a:lvl1pPr>
            <a:lvl2pPr algn="ctr">
              <a:defRPr sz="1575" b="1">
                <a:solidFill>
                  <a:srgbClr val="0D6B5E"/>
                </a:solidFill>
              </a:defRPr>
            </a:lvl2pPr>
            <a:lvl3pPr algn="ctr">
              <a:defRPr sz="1575" b="1">
                <a:solidFill>
                  <a:srgbClr val="0D6B5E"/>
                </a:solidFill>
              </a:defRPr>
            </a:lvl3pPr>
            <a:lvl4pPr algn="ctr">
              <a:defRPr sz="1575" b="1">
                <a:solidFill>
                  <a:srgbClr val="0D6B5E"/>
                </a:solidFill>
              </a:defRPr>
            </a:lvl4pPr>
            <a:lvl5pPr algn="ctr">
              <a:defRPr sz="1575" b="1">
                <a:solidFill>
                  <a:srgbClr val="0D6B5E"/>
                </a:solidFill>
              </a:defRPr>
            </a:lvl5pPr>
            <a:lvl6pPr algn="ctr">
              <a:defRPr sz="1575" b="1">
                <a:solidFill>
                  <a:srgbClr val="0D6B5E"/>
                </a:solidFill>
              </a:defRPr>
            </a:lvl6pPr>
            <a:lvl7pPr algn="ctr">
              <a:defRPr sz="1575" b="1">
                <a:solidFill>
                  <a:srgbClr val="0D6B5E"/>
                </a:solidFill>
              </a:defRPr>
            </a:lvl7pPr>
            <a:lvl8pPr algn="ctr">
              <a:defRPr sz="1575" b="1">
                <a:solidFill>
                  <a:srgbClr val="0D6B5E"/>
                </a:solidFill>
              </a:defRPr>
            </a:lvl8pPr>
            <a:lvl9pPr algn="ctr">
              <a:defRPr sz="1575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D6B5E"/>
                </a:solidFill>
              </a:defRPr>
            </a:pPr>
            <a:r>
              <a:rPr sz="1575" b="1">
                <a:solidFill>
                  <a:srgbClr val="0D6B5E"/>
                </a:solidFill>
              </a:rPr>
              <a:t>Model selection uses the confusion pattern and threshold-independent metrics, not F1 alone.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3AB163-09F5-4AE3-B792-4FF0A5D7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390818-FC65-4115-AF82-A69E3F56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549880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051762-66F6-4073-93B7-CDE85C2B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9C975-A6FD-4669-8A9A-5A41A62C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Final deliverables produced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A686B-B129-4DFA-B656-772F5A66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The project now includes a resident application, a research laboratory, verified local data, trained models, and reproducible documentation.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62797-37A7-47A7-9873-C5B4E157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76D91-E16B-4804-A68E-C069263F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34290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0CC5F-7B95-424C-8E1C-59210076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762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C337E-DE45-46FE-880E-24C3630C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Resident web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7EA50-BAC3-4ED5-9DC1-2354B950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028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Guided map workflow, 1/2/5 km assessment circles, asynchronous job progress, factor cards, source disclosures, comparison snapshots, and print output.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E2B960-E151-458D-9CB6-BBBBAC6A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4290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84DDD-9BF6-40CC-9A46-F8C1F5DC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762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84F18-1177-472A-93E8-39B0EB3C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5621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Historical Event Lab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932AF-FAB7-40C0-9D81-E11EEEA2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62150"/>
            <a:ext cx="3028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Held-out event and chip selection, synchronized radar/label/prediction panels, model switching, zoom, opacity, failure sorting, run provenance, and experiment history.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814EE4-EF9C-437E-8FB9-0F779E40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28750"/>
            <a:ext cx="34290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556DC-6872-481A-8FD8-899F1437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28750"/>
            <a:ext cx="762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BC1"/>
          </a:solidFill>
          <a:ln xmlns:a="http://schemas.openxmlformats.org/drawingml/2006/main" w="0">
            <a:solidFill>
              <a:srgbClr val="407BC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89C0F-7953-4618-BEDC-423E6F0E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6210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Model and data artifacts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BE072-B47F-4595-9B88-03FD7DA9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62150"/>
            <a:ext cx="3028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Accepted classification and segmentation runs, frozen thresholds, predictions, metrics, event split, local dataset registry, and provenance-aware imports.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3290B6-9E95-40A5-8BBF-0E8CA3EF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3429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939962-C098-492F-AC52-22AF5237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50B62-B41D-4D1A-A082-5693F2D2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Deployment package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377252-27E5-44F3-A9D0-C9322C5C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Docker Compose runs the app, worker, and PostGIS database. The same app serves the resident site and /research/ viewer.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3CA317-9943-4A88-A8F9-CEAC7F8A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3429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D0AF6B-3E3A-4DFF-91DC-102C9D05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B6CF"/>
          </a:solidFill>
          <a:ln xmlns:a="http://schemas.openxmlformats.org/drawingml/2006/main" w="0">
            <a:solidFill>
              <a:srgbClr val="26B6C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B09D29-EAEF-4B71-9CEB-703329A9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338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Project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D61E92-919E-45BA-BB7E-9677C935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33900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Technical README files, method notes, source inventory, reproducible run instructions, screenshots, and this final presentation.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366A5A-2D62-41B8-880E-09968B46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3429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716A52-420D-47A8-B740-C17F2458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00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1"/>
          </a:solidFill>
          <a:ln xmlns:a="http://schemas.openxmlformats.org/drawingml/2006/main" w="0">
            <a:solidFill>
              <a:srgbClr val="E86F5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30A449-E59E-4ACA-9C89-E6C3F13B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33850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02A2A"/>
                </a:solidFill>
              </a:defRPr>
            </a:defPPr>
            <a:lvl1pPr algn="l">
              <a:defRPr sz="1350" b="1">
                <a:solidFill>
                  <a:srgbClr val="102A2A"/>
                </a:solidFill>
              </a:defRPr>
            </a:lvl1pPr>
            <a:lvl2pPr algn="l">
              <a:defRPr sz="1350" b="1">
                <a:solidFill>
                  <a:srgbClr val="102A2A"/>
                </a:solidFill>
              </a:defRPr>
            </a:lvl2pPr>
            <a:lvl3pPr algn="l">
              <a:defRPr sz="1350" b="1">
                <a:solidFill>
                  <a:srgbClr val="102A2A"/>
                </a:solidFill>
              </a:defRPr>
            </a:lvl3pPr>
            <a:lvl4pPr algn="l">
              <a:defRPr sz="1350" b="1">
                <a:solidFill>
                  <a:srgbClr val="102A2A"/>
                </a:solidFill>
              </a:defRPr>
            </a:lvl4pPr>
            <a:lvl5pPr algn="l">
              <a:defRPr sz="1350" b="1">
                <a:solidFill>
                  <a:srgbClr val="102A2A"/>
                </a:solidFill>
              </a:defRPr>
            </a:lvl5pPr>
            <a:lvl6pPr algn="l">
              <a:defRPr sz="1350" b="1">
                <a:solidFill>
                  <a:srgbClr val="102A2A"/>
                </a:solidFill>
              </a:defRPr>
            </a:lvl6pPr>
            <a:lvl7pPr algn="l">
              <a:defRPr sz="1350" b="1">
                <a:solidFill>
                  <a:srgbClr val="102A2A"/>
                </a:solidFill>
              </a:defRPr>
            </a:lvl7pPr>
            <a:lvl8pPr algn="l">
              <a:defRPr sz="1350" b="1">
                <a:solidFill>
                  <a:srgbClr val="102A2A"/>
                </a:solidFill>
              </a:defRPr>
            </a:lvl8pPr>
            <a:lvl9pPr algn="l">
              <a:defRPr sz="13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02A2A"/>
                </a:solidFill>
              </a:defRPr>
            </a:pPr>
            <a:r>
              <a:rPr sz="1350" b="1">
                <a:solidFill>
                  <a:srgbClr val="102A2A"/>
                </a:solidFill>
              </a:rPr>
              <a:t>Safety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9030A3-143C-4DA7-AC7A-3BDBDCBE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33900"/>
            <a:ext cx="3028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Unavailable data stays unavailable. Research output remains outside the resident assessment and carries no warning or property-risk claim.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566BD3-74F7-4CBB-8439-7CCDB2F8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D67336-ED8D-4166-B32B-BFD7A347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266985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0D8DB4-B643-424E-8C32-C82FC57C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0D6B5E"/>
                </a:solidFill>
              </a:defRPr>
            </a:defPPr>
            <a:lvl1pPr algn="l">
              <a:defRPr sz="1050" b="1">
                <a:solidFill>
                  <a:srgbClr val="0D6B5E"/>
                </a:solidFill>
              </a:defRPr>
            </a:lvl1pPr>
            <a:lvl2pPr algn="l">
              <a:defRPr sz="1050" b="1">
                <a:solidFill>
                  <a:srgbClr val="0D6B5E"/>
                </a:solidFill>
              </a:defRPr>
            </a:lvl2pPr>
            <a:lvl3pPr algn="l">
              <a:defRPr sz="1050" b="1">
                <a:solidFill>
                  <a:srgbClr val="0D6B5E"/>
                </a:solidFill>
              </a:defRPr>
            </a:lvl3pPr>
            <a:lvl4pPr algn="l">
              <a:defRPr sz="1050" b="1">
                <a:solidFill>
                  <a:srgbClr val="0D6B5E"/>
                </a:solidFill>
              </a:defRPr>
            </a:lvl4pPr>
            <a:lvl5pPr algn="l">
              <a:defRPr sz="1050" b="1">
                <a:solidFill>
                  <a:srgbClr val="0D6B5E"/>
                </a:solidFill>
              </a:defRPr>
            </a:lvl5pPr>
            <a:lvl6pPr algn="l">
              <a:defRPr sz="1050" b="1">
                <a:solidFill>
                  <a:srgbClr val="0D6B5E"/>
                </a:solidFill>
              </a:defRPr>
            </a:lvl6pPr>
            <a:lvl7pPr algn="l">
              <a:defRPr sz="1050" b="1">
                <a:solidFill>
                  <a:srgbClr val="0D6B5E"/>
                </a:solidFill>
              </a:defRPr>
            </a:lvl7pPr>
            <a:lvl8pPr algn="l">
              <a:defRPr sz="1050" b="1">
                <a:solidFill>
                  <a:srgbClr val="0D6B5E"/>
                </a:solidFill>
              </a:defRPr>
            </a:lvl8pPr>
            <a:lvl9pPr algn="l">
              <a:defRPr sz="10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0D6B5E"/>
                </a:solidFill>
              </a:defRPr>
            </a:pPr>
            <a:r>
              <a:rPr sz="1050" b="1">
                <a:solidFill>
                  <a:srgbClr val="0D6B5E"/>
                </a:solidFill>
              </a:rPr>
              <a:t>19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310E6-9209-4AC5-8EA7-96A5ACFB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02A2A"/>
                </a:solidFill>
              </a:defRPr>
            </a:defPPr>
            <a:lvl1pPr algn="l">
              <a:defRPr sz="2250" b="1">
                <a:solidFill>
                  <a:srgbClr val="102A2A"/>
                </a:solidFill>
              </a:defRPr>
            </a:lvl1pPr>
            <a:lvl2pPr algn="l">
              <a:defRPr sz="2250" b="1">
                <a:solidFill>
                  <a:srgbClr val="102A2A"/>
                </a:solidFill>
              </a:defRPr>
            </a:lvl2pPr>
            <a:lvl3pPr algn="l">
              <a:defRPr sz="2250" b="1">
                <a:solidFill>
                  <a:srgbClr val="102A2A"/>
                </a:solidFill>
              </a:defRPr>
            </a:lvl3pPr>
            <a:lvl4pPr algn="l">
              <a:defRPr sz="2250" b="1">
                <a:solidFill>
                  <a:srgbClr val="102A2A"/>
                </a:solidFill>
              </a:defRPr>
            </a:lvl4pPr>
            <a:lvl5pPr algn="l">
              <a:defRPr sz="2250" b="1">
                <a:solidFill>
                  <a:srgbClr val="102A2A"/>
                </a:solidFill>
              </a:defRPr>
            </a:lvl5pPr>
            <a:lvl6pPr algn="l">
              <a:defRPr sz="2250" b="1">
                <a:solidFill>
                  <a:srgbClr val="102A2A"/>
                </a:solidFill>
              </a:defRPr>
            </a:lvl6pPr>
            <a:lvl7pPr algn="l">
              <a:defRPr sz="2250" b="1">
                <a:solidFill>
                  <a:srgbClr val="102A2A"/>
                </a:solidFill>
              </a:defRPr>
            </a:lvl7pPr>
            <a:lvl8pPr algn="l">
              <a:defRPr sz="2250" b="1">
                <a:solidFill>
                  <a:srgbClr val="102A2A"/>
                </a:solidFill>
              </a:defRPr>
            </a:lvl8pPr>
            <a:lvl9pPr algn="l">
              <a:defRPr sz="2250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02A2A"/>
                </a:solidFill>
              </a:defRPr>
            </a:pPr>
            <a:r>
              <a:rPr sz="2250" b="1">
                <a:solidFill>
                  <a:srgbClr val="102A2A"/>
                </a:solidFill>
              </a:rPr>
              <a:t>Final result: what a user receives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76B52-80E9-40DC-A79E-E9DB14E1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239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 completed assessment turns multiple technical data sources into a short, understandable neighbourhood summary.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36F32-D711-4DDF-8DC6-44469441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E"/>
          </a:solidFill>
          <a:ln xmlns:a="http://schemas.openxmlformats.org/drawingml/2006/main" w="0">
            <a:solidFill>
              <a:srgbClr val="0D6B5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522D97-83B0-49E2-BAE6-AB553D17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E086D-82F4-4B51-BA57-CF99C417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5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CE317-6E61-4D54-8F46-BC95DBC9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5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C9B52-06AC-422A-B5FD-D5B6E1AC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763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Location and 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EB8CD-8FDD-422C-B1D6-350F787F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668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Selected map point, exact coordinates when expanded, and the chosen 1 km, 2 km, or 5 km circle.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C1C0B-BFB9-4092-9ABF-10C6CA9D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41B8C-C7F6-4F8C-B25B-84CB7C64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D2539-E1F0-45F2-9FCE-399D9B39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8206B6-F761-4104-95E4-4CA449E5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526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Land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8F713-CE57-4495-BC23-496EBD1E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431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Relative terrain susceptibility, factor explanation, coverage ratio, and a clear statement that the score is not flood probability.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BB03D0-7A8A-4150-A8D7-93A0B6CC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D9D15-FAD9-4D56-A019-AAF4AD5A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396B1-0CE4-4AAD-AC58-427F220C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86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B73F69-E582-4CB8-8A6F-F8A4AEE6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289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Rainfall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C5AA8-E0A4-4E26-9C39-60F4003F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194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Provider, forecast window, total rainfall, intensity context, and an unavailable state if the provider cannot return data.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3B3FDA-33DE-47CF-A312-3C0ED24D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8CED42-7EB9-49A8-A72F-C4EDE7B9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6B5E"/>
          </a:solidFill>
          <a:ln xmlns:a="http://schemas.openxmlformats.org/drawingml/2006/main" w="9525">
            <a:solidFill>
              <a:srgbClr val="0D6B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739E87-412C-4296-A695-64262B9A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75B503-0C12-4D7E-A9D7-067B7FB1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052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River and basin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D2CCF3-DE59-425C-8F20-BDD4A6B6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Containing basin, upstream context, nearest mapped river distance, and wording that prevents property-level interpretation.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58C767-3D50-49E4-9772-F517B1F8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95850"/>
            <a:ext cx="108966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5F7F3"/>
          </a:solidFill>
          <a:ln xmlns:a="http://schemas.openxmlformats.org/drawingml/2006/main" w="9525">
            <a:solidFill>
              <a:srgbClr val="D4DDD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0F1543-F70D-4FF3-BF93-B034BCE3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1"/>
          </a:solidFill>
          <a:ln xmlns:a="http://schemas.openxmlformats.org/drawingml/2006/main" w="9525">
            <a:solidFill>
              <a:srgbClr val="E86F5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9A904B-5F57-480E-9509-6CA7DBC9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38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</a:defRPr>
            </a:defPPr>
            <a:lvl1pPr algn="ctr">
              <a:defRPr sz="1125" b="1">
                <a:solidFill>
                  <a:srgbClr val="FFFFFF"/>
                </a:solidFill>
              </a:defRPr>
            </a:lvl1pPr>
            <a:lvl2pPr algn="ctr">
              <a:defRPr sz="1125" b="1">
                <a:solidFill>
                  <a:srgbClr val="FFFFFF"/>
                </a:solidFill>
              </a:defRPr>
            </a:lvl2pPr>
            <a:lvl3pPr algn="ctr">
              <a:defRPr sz="1125" b="1">
                <a:solidFill>
                  <a:srgbClr val="FFFFFF"/>
                </a:solidFill>
              </a:defRPr>
            </a:lvl3pPr>
            <a:lvl4pPr algn="ctr">
              <a:defRPr sz="1125" b="1">
                <a:solidFill>
                  <a:srgbClr val="FFFFFF"/>
                </a:solidFill>
              </a:defRPr>
            </a:lvl4pPr>
            <a:lvl5pPr algn="ctr">
              <a:defRPr sz="1125" b="1">
                <a:solidFill>
                  <a:srgbClr val="FFFFFF"/>
                </a:solidFill>
              </a:defRPr>
            </a:lvl5pPr>
            <a:lvl6pPr algn="ctr">
              <a:defRPr sz="1125" b="1">
                <a:solidFill>
                  <a:srgbClr val="FFFFFF"/>
                </a:solidFill>
              </a:defRPr>
            </a:lvl6pPr>
            <a:lvl7pPr algn="ctr">
              <a:defRPr sz="1125" b="1">
                <a:solidFill>
                  <a:srgbClr val="FFFFFF"/>
                </a:solidFill>
              </a:defRPr>
            </a:lvl7pPr>
            <a:lvl8pPr algn="ctr">
              <a:defRPr sz="1125" b="1">
                <a:solidFill>
                  <a:srgbClr val="FFFFFF"/>
                </a:solidFill>
              </a:defRPr>
            </a:lvl8pPr>
            <a:lvl9pPr algn="ctr"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7A552E-379C-4BD5-AF6E-EA5705B7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8157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02A2A"/>
                </a:solidFill>
              </a:defRPr>
            </a:defPPr>
            <a:lvl1pPr algn="l">
              <a:defRPr sz="1275" b="1">
                <a:solidFill>
                  <a:srgbClr val="102A2A"/>
                </a:solidFill>
              </a:defRPr>
            </a:lvl1pPr>
            <a:lvl2pPr algn="l">
              <a:defRPr sz="1275" b="1">
                <a:solidFill>
                  <a:srgbClr val="102A2A"/>
                </a:solidFill>
              </a:defRPr>
            </a:lvl2pPr>
            <a:lvl3pPr algn="l">
              <a:defRPr sz="1275" b="1">
                <a:solidFill>
                  <a:srgbClr val="102A2A"/>
                </a:solidFill>
              </a:defRPr>
            </a:lvl3pPr>
            <a:lvl4pPr algn="l">
              <a:defRPr sz="1275" b="1">
                <a:solidFill>
                  <a:srgbClr val="102A2A"/>
                </a:solidFill>
              </a:defRPr>
            </a:lvl4pPr>
            <a:lvl5pPr algn="l">
              <a:defRPr sz="1275" b="1">
                <a:solidFill>
                  <a:srgbClr val="102A2A"/>
                </a:solidFill>
              </a:defRPr>
            </a:lvl5pPr>
            <a:lvl6pPr algn="l">
              <a:defRPr sz="1275" b="1">
                <a:solidFill>
                  <a:srgbClr val="102A2A"/>
                </a:solidFill>
              </a:defRPr>
            </a:lvl6pPr>
            <a:lvl7pPr algn="l">
              <a:defRPr sz="1275" b="1">
                <a:solidFill>
                  <a:srgbClr val="102A2A"/>
                </a:solidFill>
              </a:defRPr>
            </a:lvl7pPr>
            <a:lvl8pPr algn="l">
              <a:defRPr sz="1275" b="1">
                <a:solidFill>
                  <a:srgbClr val="102A2A"/>
                </a:solidFill>
              </a:defRPr>
            </a:lvl8pPr>
            <a:lvl9pPr algn="l">
              <a:defRPr sz="1275" b="1">
                <a:solidFill>
                  <a:srgbClr val="102A2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02A2A"/>
                </a:solidFill>
              </a:defRPr>
            </a:pPr>
            <a:r>
              <a:rPr sz="1275" b="1">
                <a:solidFill>
                  <a:srgbClr val="102A2A"/>
                </a:solidFill>
              </a:rPr>
              <a:t>Evidence and provenance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59C13B-9474-4CF0-9837-FCE0DB9B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720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26262"/>
                </a:solidFill>
              </a:defRPr>
            </a:defPPr>
            <a:lvl1pPr algn="l">
              <a:defRPr sz="1125" b="0">
                <a:solidFill>
                  <a:srgbClr val="526262"/>
                </a:solidFill>
              </a:defRPr>
            </a:lvl1pPr>
            <a:lvl2pPr algn="l">
              <a:defRPr sz="1125" b="0">
                <a:solidFill>
                  <a:srgbClr val="526262"/>
                </a:solidFill>
              </a:defRPr>
            </a:lvl2pPr>
            <a:lvl3pPr algn="l">
              <a:defRPr sz="1125" b="0">
                <a:solidFill>
                  <a:srgbClr val="526262"/>
                </a:solidFill>
              </a:defRPr>
            </a:lvl3pPr>
            <a:lvl4pPr algn="l">
              <a:defRPr sz="1125" b="0">
                <a:solidFill>
                  <a:srgbClr val="526262"/>
                </a:solidFill>
              </a:defRPr>
            </a:lvl4pPr>
            <a:lvl5pPr algn="l">
              <a:defRPr sz="1125" b="0">
                <a:solidFill>
                  <a:srgbClr val="526262"/>
                </a:solidFill>
              </a:defRPr>
            </a:lvl5pPr>
            <a:lvl6pPr algn="l">
              <a:defRPr sz="1125" b="0">
                <a:solidFill>
                  <a:srgbClr val="526262"/>
                </a:solidFill>
              </a:defRPr>
            </a:lvl6pPr>
            <a:lvl7pPr algn="l">
              <a:defRPr sz="1125" b="0">
                <a:solidFill>
                  <a:srgbClr val="526262"/>
                </a:solidFill>
              </a:defRPr>
            </a:lvl7pPr>
            <a:lvl8pPr algn="l">
              <a:defRPr sz="1125" b="0">
                <a:solidFill>
                  <a:srgbClr val="526262"/>
                </a:solidFill>
              </a:defRPr>
            </a:lvl8pPr>
            <a:lvl9pPr algn="l">
              <a:defRPr sz="11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262"/>
                </a:solidFill>
              </a:defRPr>
            </a:pPr>
            <a:r>
              <a:rPr sz="1125" b="0">
                <a:solidFill>
                  <a:srgbClr val="526262"/>
                </a:solidFill>
              </a:rPr>
              <a:t>Analysis ID, dataset status, import coverage, source versions, timing, technical JSON, and printable output.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4A61EA-2098-44BF-8718-7DA6E6AB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0D6B5E"/>
                </a:solidFill>
              </a:defRPr>
            </a:defPPr>
            <a:lvl1pPr algn="ctr">
              <a:defRPr sz="1350" b="1">
                <a:solidFill>
                  <a:srgbClr val="0D6B5E"/>
                </a:solidFill>
              </a:defRPr>
            </a:lvl1pPr>
            <a:lvl2pPr algn="ctr">
              <a:defRPr sz="1350" b="1">
                <a:solidFill>
                  <a:srgbClr val="0D6B5E"/>
                </a:solidFill>
              </a:defRPr>
            </a:lvl2pPr>
            <a:lvl3pPr algn="ctr">
              <a:defRPr sz="1350" b="1">
                <a:solidFill>
                  <a:srgbClr val="0D6B5E"/>
                </a:solidFill>
              </a:defRPr>
            </a:lvl3pPr>
            <a:lvl4pPr algn="ctr">
              <a:defRPr sz="1350" b="1">
                <a:solidFill>
                  <a:srgbClr val="0D6B5E"/>
                </a:solidFill>
              </a:defRPr>
            </a:lvl4pPr>
            <a:lvl5pPr algn="ctr">
              <a:defRPr sz="1350" b="1">
                <a:solidFill>
                  <a:srgbClr val="0D6B5E"/>
                </a:solidFill>
              </a:defRPr>
            </a:lvl5pPr>
            <a:lvl6pPr algn="ctr">
              <a:defRPr sz="1350" b="1">
                <a:solidFill>
                  <a:srgbClr val="0D6B5E"/>
                </a:solidFill>
              </a:defRPr>
            </a:lvl6pPr>
            <a:lvl7pPr algn="ctr">
              <a:defRPr sz="1350" b="1">
                <a:solidFill>
                  <a:srgbClr val="0D6B5E"/>
                </a:solidFill>
              </a:defRPr>
            </a:lvl7pPr>
            <a:lvl8pPr algn="ctr">
              <a:defRPr sz="1350" b="1">
                <a:solidFill>
                  <a:srgbClr val="0D6B5E"/>
                </a:solidFill>
              </a:defRPr>
            </a:lvl8pPr>
            <a:lvl9pPr algn="ctr">
              <a:defRPr sz="1350" b="1">
                <a:solidFill>
                  <a:srgbClr val="0D6B5E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0D6B5E"/>
                </a:solidFill>
              </a:defRPr>
            </a:pPr>
            <a:r>
              <a:rPr sz="1350" b="1">
                <a:solidFill>
                  <a:srgbClr val="0D6B5E"/>
                </a:solidFill>
              </a:rPr>
              <a:t>The final screen starts with the information residents can act on, while detailed evidence stays available for review.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0B61D9-7365-4A7E-B79C-CABBAD4F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25" b="0">
                <a:solidFill>
                  <a:srgbClr val="526262"/>
                </a:solidFill>
              </a:defRPr>
            </a:defPPr>
            <a:lvl1pPr algn="l">
              <a:defRPr sz="825" b="0">
                <a:solidFill>
                  <a:srgbClr val="526262"/>
                </a:solidFill>
              </a:defRPr>
            </a:lvl1pPr>
            <a:lvl2pPr algn="l">
              <a:defRPr sz="825" b="0">
                <a:solidFill>
                  <a:srgbClr val="526262"/>
                </a:solidFill>
              </a:defRPr>
            </a:lvl2pPr>
            <a:lvl3pPr algn="l">
              <a:defRPr sz="825" b="0">
                <a:solidFill>
                  <a:srgbClr val="526262"/>
                </a:solidFill>
              </a:defRPr>
            </a:lvl3pPr>
            <a:lvl4pPr algn="l">
              <a:defRPr sz="825" b="0">
                <a:solidFill>
                  <a:srgbClr val="526262"/>
                </a:solidFill>
              </a:defRPr>
            </a:lvl4pPr>
            <a:lvl5pPr algn="l">
              <a:defRPr sz="825" b="0">
                <a:solidFill>
                  <a:srgbClr val="526262"/>
                </a:solidFill>
              </a:defRPr>
            </a:lvl5pPr>
            <a:lvl6pPr algn="l">
              <a:defRPr sz="825" b="0">
                <a:solidFill>
                  <a:srgbClr val="526262"/>
                </a:solidFill>
              </a:defRPr>
            </a:lvl6pPr>
            <a:lvl7pPr algn="l">
              <a:defRPr sz="825" b="0">
                <a:solidFill>
                  <a:srgbClr val="526262"/>
                </a:solidFill>
              </a:defRPr>
            </a:lvl7pPr>
            <a:lvl8pPr algn="l">
              <a:defRPr sz="825" b="0">
                <a:solidFill>
                  <a:srgbClr val="526262"/>
                </a:solidFill>
              </a:defRPr>
            </a:lvl8pPr>
            <a:lvl9pPr algn="l">
              <a:defRPr sz="825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526262"/>
                </a:solidFill>
              </a:defRPr>
            </a:pPr>
            <a:r>
              <a:rPr sz="825" b="0">
                <a:solidFill>
                  <a:srgbClr val="526262"/>
                </a:solidFill>
              </a:rPr>
              <a:t>FloodLens final project 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1104EB-7D05-45A9-90B9-1814C041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526262"/>
                </a:solidFill>
              </a:defRPr>
            </a:defPPr>
            <a:lvl1pPr algn="r">
              <a:defRPr sz="825" b="1">
                <a:solidFill>
                  <a:srgbClr val="526262"/>
                </a:solidFill>
              </a:defRPr>
            </a:lvl1pPr>
            <a:lvl2pPr algn="r">
              <a:defRPr sz="825" b="1">
                <a:solidFill>
                  <a:srgbClr val="526262"/>
                </a:solidFill>
              </a:defRPr>
            </a:lvl2pPr>
            <a:lvl3pPr algn="r">
              <a:defRPr sz="825" b="1">
                <a:solidFill>
                  <a:srgbClr val="526262"/>
                </a:solidFill>
              </a:defRPr>
            </a:lvl3pPr>
            <a:lvl4pPr algn="r">
              <a:defRPr sz="825" b="1">
                <a:solidFill>
                  <a:srgbClr val="526262"/>
                </a:solidFill>
              </a:defRPr>
            </a:lvl4pPr>
            <a:lvl5pPr algn="r">
              <a:defRPr sz="825" b="1">
                <a:solidFill>
                  <a:srgbClr val="526262"/>
                </a:solidFill>
              </a:defRPr>
            </a:lvl5pPr>
            <a:lvl6pPr algn="r">
              <a:defRPr sz="825" b="1">
                <a:solidFill>
                  <a:srgbClr val="526262"/>
                </a:solidFill>
              </a:defRPr>
            </a:lvl6pPr>
            <a:lvl7pPr algn="r">
              <a:defRPr sz="825" b="1">
                <a:solidFill>
                  <a:srgbClr val="526262"/>
                </a:solidFill>
              </a:defRPr>
            </a:lvl7pPr>
            <a:lvl8pPr algn="r">
              <a:defRPr sz="825" b="1">
                <a:solidFill>
                  <a:srgbClr val="526262"/>
                </a:solidFill>
              </a:defRPr>
            </a:lvl8pPr>
            <a:lvl9pPr algn="r">
              <a:defRPr sz="825" b="1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526262"/>
                </a:solidFill>
              </a:defRPr>
            </a:pPr>
            <a:r>
              <a:rPr sz="825" b="1">
                <a:solidFill>
                  <a:srgbClr val="526262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147995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C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48F432-E014-4D83-8374-AFE0657B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26B6CF"/>
                </a:solidFill>
              </a:defRPr>
            </a:defPPr>
            <a:lvl1pPr algn="l">
              <a:defRPr sz="1050" b="1">
                <a:solidFill>
                  <a:srgbClr val="26B6CF"/>
                </a:solidFill>
              </a:defRPr>
            </a:lvl1pPr>
            <a:lvl2pPr algn="l">
              <a:defRPr sz="1050" b="1">
                <a:solidFill>
                  <a:srgbClr val="26B6CF"/>
                </a:solidFill>
              </a:defRPr>
            </a:lvl2pPr>
            <a:lvl3pPr algn="l">
              <a:defRPr sz="1050" b="1">
                <a:solidFill>
                  <a:srgbClr val="26B6CF"/>
                </a:solidFill>
              </a:defRPr>
            </a:lvl3pPr>
            <a:lvl4pPr algn="l">
              <a:defRPr sz="1050" b="1">
                <a:solidFill>
                  <a:srgbClr val="26B6CF"/>
                </a:solidFill>
              </a:defRPr>
            </a:lvl4pPr>
            <a:lvl5pPr algn="l">
              <a:defRPr sz="1050" b="1">
                <a:solidFill>
                  <a:srgbClr val="26B6CF"/>
                </a:solidFill>
              </a:defRPr>
            </a:lvl5pPr>
            <a:lvl6pPr algn="l">
              <a:defRPr sz="1050" b="1">
                <a:solidFill>
                  <a:srgbClr val="26B6CF"/>
                </a:solidFill>
              </a:defRPr>
            </a:lvl6pPr>
            <a:lvl7pPr algn="l">
              <a:defRPr sz="1050" b="1">
                <a:solidFill>
                  <a:srgbClr val="26B6CF"/>
                </a:solidFill>
              </a:defRPr>
            </a:lvl7pPr>
            <a:lvl8pPr algn="l">
              <a:defRPr sz="1050" b="1">
                <a:solidFill>
                  <a:srgbClr val="26B6CF"/>
                </a:solidFill>
              </a:defRPr>
            </a:lvl8pPr>
            <a:lvl9pPr algn="l">
              <a:defRPr sz="10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6B6CF"/>
                </a:solidFill>
              </a:defRPr>
            </a:pPr>
            <a:r>
              <a:rPr sz="1050" b="1">
                <a:solidFill>
                  <a:srgbClr val="26B6CF"/>
                </a:solidFill>
              </a:rPr>
              <a:t>20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DB300-A59D-46F3-A6C7-42F5C2C5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38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</a:defRPr>
            </a:defPPr>
            <a:lvl1pPr algn="l">
              <a:defRPr sz="2400" b="1">
                <a:solidFill>
                  <a:srgbClr val="FFFFFF"/>
                </a:solidFill>
              </a:defRPr>
            </a:lvl1pPr>
            <a:lvl2pPr algn="l">
              <a:defRPr sz="2400" b="1">
                <a:solidFill>
                  <a:srgbClr val="FFFFFF"/>
                </a:solidFill>
              </a:defRPr>
            </a:lvl2pPr>
            <a:lvl3pPr algn="l">
              <a:defRPr sz="2400" b="1">
                <a:solidFill>
                  <a:srgbClr val="FFFFFF"/>
                </a:solidFill>
              </a:defRPr>
            </a:lvl3pPr>
            <a:lvl4pPr algn="l">
              <a:defRPr sz="2400" b="1">
                <a:solidFill>
                  <a:srgbClr val="FFFFFF"/>
                </a:solidFill>
              </a:defRPr>
            </a:lvl4pPr>
            <a:lvl5pPr algn="l">
              <a:defRPr sz="2400" b="1">
                <a:solidFill>
                  <a:srgbClr val="FFFFFF"/>
                </a:solidFill>
              </a:defRPr>
            </a:lvl5pPr>
            <a:lvl6pPr algn="l">
              <a:defRPr sz="2400" b="1">
                <a:solidFill>
                  <a:srgbClr val="FFFFFF"/>
                </a:solidFill>
              </a:defRPr>
            </a:lvl6pPr>
            <a:lvl7pPr algn="l">
              <a:defRPr sz="2400" b="1">
                <a:solidFill>
                  <a:srgbClr val="FFFFFF"/>
                </a:solidFill>
              </a:defRPr>
            </a:lvl7pPr>
            <a:lvl8pPr algn="l">
              <a:defRPr sz="2400" b="1">
                <a:solidFill>
                  <a:srgbClr val="FFFFFF"/>
                </a:solidFill>
              </a:defRPr>
            </a:lvl8pPr>
            <a:lvl9pPr algn="l">
              <a:defRPr sz="24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End result and project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4473D-D86D-4967-AA93-085A25B3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35E55-9838-409A-8626-E6EB9E9C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local resident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273A5-FA93-4201-B348-B752BDBA1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257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EEB6B9-C02E-4CCE-AACF-74B13167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695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historical-event research viewer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8253F4-E46F-4313-A2EF-10DB757A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257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26B6CF"/>
                </a:solidFill>
              </a:defRPr>
            </a:defPPr>
            <a:lvl1pPr algn="l">
              <a:defRPr sz="2625" b="1">
                <a:solidFill>
                  <a:srgbClr val="26B6CF"/>
                </a:solidFill>
              </a:defRPr>
            </a:lvl1pPr>
            <a:lvl2pPr algn="l">
              <a:defRPr sz="2625" b="1">
                <a:solidFill>
                  <a:srgbClr val="26B6CF"/>
                </a:solidFill>
              </a:defRPr>
            </a:lvl2pPr>
            <a:lvl3pPr algn="l">
              <a:defRPr sz="2625" b="1">
                <a:solidFill>
                  <a:srgbClr val="26B6CF"/>
                </a:solidFill>
              </a:defRPr>
            </a:lvl3pPr>
            <a:lvl4pPr algn="l">
              <a:defRPr sz="2625" b="1">
                <a:solidFill>
                  <a:srgbClr val="26B6CF"/>
                </a:solidFill>
              </a:defRPr>
            </a:lvl4pPr>
            <a:lvl5pPr algn="l">
              <a:defRPr sz="2625" b="1">
                <a:solidFill>
                  <a:srgbClr val="26B6CF"/>
                </a:solidFill>
              </a:defRPr>
            </a:lvl5pPr>
            <a:lvl6pPr algn="l">
              <a:defRPr sz="2625" b="1">
                <a:solidFill>
                  <a:srgbClr val="26B6CF"/>
                </a:solidFill>
              </a:defRPr>
            </a:lvl6pPr>
            <a:lvl7pPr algn="l">
              <a:defRPr sz="2625" b="1">
                <a:solidFill>
                  <a:srgbClr val="26B6CF"/>
                </a:solidFill>
              </a:defRPr>
            </a:lvl7pPr>
            <a:lvl8pPr algn="l">
              <a:defRPr sz="2625" b="1">
                <a:solidFill>
                  <a:srgbClr val="26B6CF"/>
                </a:solidFill>
              </a:defRPr>
            </a:lvl8pPr>
            <a:lvl9pPr algn="l">
              <a:defRPr sz="262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6B6CF"/>
                </a:solidFill>
              </a:defRPr>
            </a:pPr>
            <a:r>
              <a:rPr sz="2625" b="1">
                <a:solidFill>
                  <a:srgbClr val="26B6CF"/>
                </a:solidFill>
              </a:rPr>
              <a:t>Verified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DE040-296B-4053-B917-E5E61A8C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Chennai data-backed demonstration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849C9-69D3-4AF4-9BAD-278ADBFA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573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625" b="1">
                <a:solidFill>
                  <a:srgbClr val="E86F51"/>
                </a:solidFill>
              </a:defRPr>
            </a:defPPr>
            <a:lvl1pPr algn="l">
              <a:defRPr sz="2625" b="1">
                <a:solidFill>
                  <a:srgbClr val="E86F51"/>
                </a:solidFill>
              </a:defRPr>
            </a:lvl1pPr>
            <a:lvl2pPr algn="l">
              <a:defRPr sz="2625" b="1">
                <a:solidFill>
                  <a:srgbClr val="E86F51"/>
                </a:solidFill>
              </a:defRPr>
            </a:lvl2pPr>
            <a:lvl3pPr algn="l">
              <a:defRPr sz="2625" b="1">
                <a:solidFill>
                  <a:srgbClr val="E86F51"/>
                </a:solidFill>
              </a:defRPr>
            </a:lvl3pPr>
            <a:lvl4pPr algn="l">
              <a:defRPr sz="2625" b="1">
                <a:solidFill>
                  <a:srgbClr val="E86F51"/>
                </a:solidFill>
              </a:defRPr>
            </a:lvl4pPr>
            <a:lvl5pPr algn="l">
              <a:defRPr sz="2625" b="1">
                <a:solidFill>
                  <a:srgbClr val="E86F51"/>
                </a:solidFill>
              </a:defRPr>
            </a:lvl5pPr>
            <a:lvl6pPr algn="l">
              <a:defRPr sz="2625" b="1">
                <a:solidFill>
                  <a:srgbClr val="E86F51"/>
                </a:solidFill>
              </a:defRPr>
            </a:lvl6pPr>
            <a:lvl7pPr algn="l">
              <a:defRPr sz="2625" b="1">
                <a:solidFill>
                  <a:srgbClr val="E86F51"/>
                </a:solidFill>
              </a:defRPr>
            </a:lvl7pPr>
            <a:lvl8pPr algn="l">
              <a:defRPr sz="2625" b="1">
                <a:solidFill>
                  <a:srgbClr val="E86F51"/>
                </a:solidFill>
              </a:defRPr>
            </a:lvl8pPr>
            <a:lvl9pPr algn="l">
              <a:defRPr sz="2625" b="1">
                <a:solidFill>
                  <a:srgbClr val="E86F51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E86F51"/>
                </a:solidFill>
              </a:defRPr>
            </a:pPr>
            <a:r>
              <a:rPr sz="2625" b="1">
                <a:solidFill>
                  <a:srgbClr val="E86F51"/>
                </a:solidFill>
              </a:rPr>
              <a:t>Exploratory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9CB5C-384C-460F-8E6D-AE0EF851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954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26262"/>
                </a:solidFill>
              </a:defRPr>
            </a:defPPr>
            <a:lvl1pPr algn="l">
              <a:defRPr sz="1050" b="0">
                <a:solidFill>
                  <a:srgbClr val="526262"/>
                </a:solidFill>
              </a:defRPr>
            </a:lvl1pPr>
            <a:lvl2pPr algn="l">
              <a:defRPr sz="1050" b="0">
                <a:solidFill>
                  <a:srgbClr val="526262"/>
                </a:solidFill>
              </a:defRPr>
            </a:lvl2pPr>
            <a:lvl3pPr algn="l">
              <a:defRPr sz="1050" b="0">
                <a:solidFill>
                  <a:srgbClr val="526262"/>
                </a:solidFill>
              </a:defRPr>
            </a:lvl3pPr>
            <a:lvl4pPr algn="l">
              <a:defRPr sz="1050" b="0">
                <a:solidFill>
                  <a:srgbClr val="526262"/>
                </a:solidFill>
              </a:defRPr>
            </a:lvl4pPr>
            <a:lvl5pPr algn="l">
              <a:defRPr sz="1050" b="0">
                <a:solidFill>
                  <a:srgbClr val="526262"/>
                </a:solidFill>
              </a:defRPr>
            </a:lvl5pPr>
            <a:lvl6pPr algn="l">
              <a:defRPr sz="1050" b="0">
                <a:solidFill>
                  <a:srgbClr val="526262"/>
                </a:solidFill>
              </a:defRPr>
            </a:lvl6pPr>
            <a:lvl7pPr algn="l">
              <a:defRPr sz="1050" b="0">
                <a:solidFill>
                  <a:srgbClr val="526262"/>
                </a:solidFill>
              </a:defRPr>
            </a:lvl7pPr>
            <a:lvl8pPr algn="l">
              <a:defRPr sz="1050" b="0">
                <a:solidFill>
                  <a:srgbClr val="526262"/>
                </a:solidFill>
              </a:defRPr>
            </a:lvl8pPr>
            <a:lvl9pPr algn="l">
              <a:defRPr sz="1050" b="0">
                <a:solidFill>
                  <a:srgbClr val="526262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262"/>
                </a:solidFill>
              </a:defRPr>
            </a:pPr>
            <a:r>
              <a:rPr sz="1050" b="0">
                <a:solidFill>
                  <a:srgbClr val="526262"/>
                </a:solidFill>
              </a:rPr>
              <a:t>held-out ML performance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022E9-C4D1-4966-9429-6E33FB44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0896600" cy="1885950"/>
          </a:xfrm>
          <a:prstGeom xmlns:a="http://schemas.openxmlformats.org/drawingml/2006/main" prst="roundRect">
            <a:avLst>
              <a:gd name="adj" fmla="val 10101"/>
            </a:avLst>
          </a:prstGeom>
          <a:solidFill xmlns:a="http://schemas.openxmlformats.org/drawingml/2006/main">
            <a:srgbClr val="0B292A"/>
          </a:solidFill>
          <a:ln xmlns:a="http://schemas.openxmlformats.org/drawingml/2006/main" w="9525">
            <a:solidFill>
              <a:srgbClr val="28505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5A7D6-7D71-4AAA-8939-D97747BB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6B6CF"/>
                </a:solidFill>
              </a:defRPr>
            </a:defPPr>
            <a:lvl1pPr algn="l">
              <a:defRPr sz="1350" b="1">
                <a:solidFill>
                  <a:srgbClr val="26B6CF"/>
                </a:solidFill>
              </a:defRPr>
            </a:lvl1pPr>
            <a:lvl2pPr algn="l">
              <a:defRPr sz="1350" b="1">
                <a:solidFill>
                  <a:srgbClr val="26B6CF"/>
                </a:solidFill>
              </a:defRPr>
            </a:lvl2pPr>
            <a:lvl3pPr algn="l">
              <a:defRPr sz="1350" b="1">
                <a:solidFill>
                  <a:srgbClr val="26B6CF"/>
                </a:solidFill>
              </a:defRPr>
            </a:lvl3pPr>
            <a:lvl4pPr algn="l">
              <a:defRPr sz="1350" b="1">
                <a:solidFill>
                  <a:srgbClr val="26B6CF"/>
                </a:solidFill>
              </a:defRPr>
            </a:lvl4pPr>
            <a:lvl5pPr algn="l">
              <a:defRPr sz="1350" b="1">
                <a:solidFill>
                  <a:srgbClr val="26B6CF"/>
                </a:solidFill>
              </a:defRPr>
            </a:lvl5pPr>
            <a:lvl6pPr algn="l">
              <a:defRPr sz="1350" b="1">
                <a:solidFill>
                  <a:srgbClr val="26B6CF"/>
                </a:solidFill>
              </a:defRPr>
            </a:lvl6pPr>
            <a:lvl7pPr algn="l">
              <a:defRPr sz="1350" b="1">
                <a:solidFill>
                  <a:srgbClr val="26B6CF"/>
                </a:solidFill>
              </a:defRPr>
            </a:lvl7pPr>
            <a:lvl8pPr algn="l">
              <a:defRPr sz="1350" b="1">
                <a:solidFill>
                  <a:srgbClr val="26B6CF"/>
                </a:solidFill>
              </a:defRPr>
            </a:lvl8pPr>
            <a:lvl9pPr algn="l">
              <a:defRPr sz="1350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B6CF"/>
                </a:solidFill>
              </a:defRPr>
            </a:pPr>
            <a:r>
              <a:rPr sz="1350" b="1">
                <a:solidFill>
                  <a:srgbClr val="26B6CF"/>
                </a:solidFill>
              </a:rPr>
              <a:t>Final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6A9EF-6831-4F99-A14C-1229EB5D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FFFFFF"/>
                </a:solidFill>
              </a:defRPr>
            </a:defPPr>
            <a:lvl1pPr algn="l">
              <a:defRPr sz="2025" b="1">
                <a:solidFill>
                  <a:srgbClr val="FFFFFF"/>
                </a:solidFill>
              </a:defRPr>
            </a:lvl1pPr>
            <a:lvl2pPr algn="l">
              <a:defRPr sz="2025" b="1">
                <a:solidFill>
                  <a:srgbClr val="FFFFFF"/>
                </a:solidFill>
              </a:defRPr>
            </a:lvl2pPr>
            <a:lvl3pPr algn="l">
              <a:defRPr sz="2025" b="1">
                <a:solidFill>
                  <a:srgbClr val="FFFFFF"/>
                </a:solidFill>
              </a:defRPr>
            </a:lvl3pPr>
            <a:lvl4pPr algn="l">
              <a:defRPr sz="2025" b="1">
                <a:solidFill>
                  <a:srgbClr val="FFFFFF"/>
                </a:solidFill>
              </a:defRPr>
            </a:lvl4pPr>
            <a:lvl5pPr algn="l">
              <a:defRPr sz="2025" b="1">
                <a:solidFill>
                  <a:srgbClr val="FFFFFF"/>
                </a:solidFill>
              </a:defRPr>
            </a:lvl5pPr>
            <a:lvl6pPr algn="l">
              <a:defRPr sz="2025" b="1">
                <a:solidFill>
                  <a:srgbClr val="FFFFFF"/>
                </a:solidFill>
              </a:defRPr>
            </a:lvl6pPr>
            <a:lvl7pPr algn="l">
              <a:defRPr sz="2025" b="1">
                <a:solidFill>
                  <a:srgbClr val="FFFFFF"/>
                </a:solidFill>
              </a:defRPr>
            </a:lvl7pPr>
            <a:lvl8pPr algn="l">
              <a:defRPr sz="2025" b="1">
                <a:solidFill>
                  <a:srgbClr val="FFFFFF"/>
                </a:solidFill>
              </a:defRPr>
            </a:lvl8pPr>
            <a:lvl9pPr algn="l"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FloodLens successfully demonstrates how terrain, forecast rainfall, river-basin context, and historical-event ML analysis can be combined in one transparent project without presenting experimental predictions as public warnings.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DE086-1502-4F58-9082-C175E1D5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26B6CF"/>
                </a:solidFill>
              </a:defRPr>
            </a:defPPr>
            <a:lvl1pPr algn="l">
              <a:defRPr sz="1275" b="1">
                <a:solidFill>
                  <a:srgbClr val="26B6CF"/>
                </a:solidFill>
              </a:defRPr>
            </a:lvl1pPr>
            <a:lvl2pPr algn="l">
              <a:defRPr sz="1275" b="1">
                <a:solidFill>
                  <a:srgbClr val="26B6CF"/>
                </a:solidFill>
              </a:defRPr>
            </a:lvl2pPr>
            <a:lvl3pPr algn="l">
              <a:defRPr sz="1275" b="1">
                <a:solidFill>
                  <a:srgbClr val="26B6CF"/>
                </a:solidFill>
              </a:defRPr>
            </a:lvl3pPr>
            <a:lvl4pPr algn="l">
              <a:defRPr sz="1275" b="1">
                <a:solidFill>
                  <a:srgbClr val="26B6CF"/>
                </a:solidFill>
              </a:defRPr>
            </a:lvl4pPr>
            <a:lvl5pPr algn="l">
              <a:defRPr sz="1275" b="1">
                <a:solidFill>
                  <a:srgbClr val="26B6CF"/>
                </a:solidFill>
              </a:defRPr>
            </a:lvl5pPr>
            <a:lvl6pPr algn="l">
              <a:defRPr sz="1275" b="1">
                <a:solidFill>
                  <a:srgbClr val="26B6CF"/>
                </a:solidFill>
              </a:defRPr>
            </a:lvl6pPr>
            <a:lvl7pPr algn="l">
              <a:defRPr sz="1275" b="1">
                <a:solidFill>
                  <a:srgbClr val="26B6CF"/>
                </a:solidFill>
              </a:defRPr>
            </a:lvl7pPr>
            <a:lvl8pPr algn="l">
              <a:defRPr sz="1275" b="1">
                <a:solidFill>
                  <a:srgbClr val="26B6CF"/>
                </a:solidFill>
              </a:defRPr>
            </a:lvl8pPr>
            <a:lvl9pPr algn="l">
              <a:defRPr sz="1275" b="1">
                <a:solidFill>
                  <a:srgbClr val="26B6C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6B6CF"/>
                </a:solidFill>
              </a:defRPr>
            </a:pPr>
            <a:r>
              <a:rPr sz="1275" b="1">
                <a:solidFill>
                  <a:srgbClr val="26B6CF"/>
                </a:solidFill>
              </a:rPr>
              <a:t>Ready for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56608-658D-4B9B-AA7B-DE78B40E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ACC86-1DB5-440D-8FF2-C22AFC2A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Academic submission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AFBB17-FF94-48C4-B7B7-1CC2175F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76850"/>
            <a:ext cx="2476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C9F6E8-21E1-41D1-8F86-4BCAF191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768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Portfolio demonstration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F92B9-FAF9-464B-B476-716EBA99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276850"/>
            <a:ext cx="2209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BE991-2250-4DC9-82A1-D63A0FF5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76850"/>
            <a:ext cx="205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Research prototype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1B7E22-85D6-4258-9332-78345ABF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76850"/>
            <a:ext cx="2686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637"/>
          </a:solidFill>
          <a:ln xmlns:a="http://schemas.openxmlformats.org/drawingml/2006/main" w="9525">
            <a:solidFill>
              <a:srgbClr val="12363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AD23BD-B995-4EC2-8721-7155FECD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768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defRPr sz="975" b="1">
                <a:solidFill>
                  <a:srgbClr val="FFFFFF"/>
                </a:solidFill>
              </a:defRPr>
            </a:lvl1pPr>
            <a:lvl2pPr algn="ctr">
              <a:defRPr sz="975" b="1">
                <a:solidFill>
                  <a:srgbClr val="FFFFFF"/>
                </a:solidFill>
              </a:defRPr>
            </a:lvl2pPr>
            <a:lvl3pPr algn="ctr">
              <a:defRPr sz="975" b="1">
                <a:solidFill>
                  <a:srgbClr val="FFFFFF"/>
                </a:solidFill>
              </a:defRPr>
            </a:lvl3pPr>
            <a:lvl4pPr algn="ctr">
              <a:defRPr sz="975" b="1">
                <a:solidFill>
                  <a:srgbClr val="FFFFFF"/>
                </a:solidFill>
              </a:defRPr>
            </a:lvl4pPr>
            <a:lvl5pPr algn="ctr">
              <a:defRPr sz="975" b="1">
                <a:solidFill>
                  <a:srgbClr val="FFFFFF"/>
                </a:solidFill>
              </a:defRPr>
            </a:lvl5pPr>
            <a:lvl6pPr algn="ctr">
              <a:defRPr sz="975" b="1">
                <a:solidFill>
                  <a:srgbClr val="FFFFFF"/>
                </a:solidFill>
              </a:defRPr>
            </a:lvl6pPr>
            <a:lvl7pPr algn="ctr">
              <a:defRPr sz="975" b="1">
                <a:solidFill>
                  <a:srgbClr val="FFFFFF"/>
                </a:solidFill>
              </a:defRPr>
            </a:lvl7pPr>
            <a:lvl8pPr algn="ctr">
              <a:defRPr sz="975" b="1">
                <a:solidFill>
                  <a:srgbClr val="FFFFFF"/>
                </a:solidFill>
              </a:defRPr>
            </a:lvl8pPr>
            <a:lvl9pPr algn="ctr"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Future validation 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C3184E-A6BA-49EE-BEA0-EDF685C4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B9CBC8"/>
                </a:solidFill>
              </a:defRPr>
            </a:defPPr>
            <a:lvl1pPr algn="ctr">
              <a:defRPr sz="1200" b="1">
                <a:solidFill>
                  <a:srgbClr val="B9CBC8"/>
                </a:solidFill>
              </a:defRPr>
            </a:lvl1pPr>
            <a:lvl2pPr algn="ctr">
              <a:defRPr sz="1200" b="1">
                <a:solidFill>
                  <a:srgbClr val="B9CBC8"/>
                </a:solidFill>
              </a:defRPr>
            </a:lvl2pPr>
            <a:lvl3pPr algn="ctr">
              <a:defRPr sz="1200" b="1">
                <a:solidFill>
                  <a:srgbClr val="B9CBC8"/>
                </a:solidFill>
              </a:defRPr>
            </a:lvl3pPr>
            <a:lvl4pPr algn="ctr">
              <a:defRPr sz="1200" b="1">
                <a:solidFill>
                  <a:srgbClr val="B9CBC8"/>
                </a:solidFill>
              </a:defRPr>
            </a:lvl4pPr>
            <a:lvl5pPr algn="ctr">
              <a:defRPr sz="1200" b="1">
                <a:solidFill>
                  <a:srgbClr val="B9CBC8"/>
                </a:solidFill>
              </a:defRPr>
            </a:lvl5pPr>
            <a:lvl6pPr algn="ctr">
              <a:defRPr sz="1200" b="1">
                <a:solidFill>
                  <a:srgbClr val="B9CBC8"/>
                </a:solidFill>
              </a:defRPr>
            </a:lvl6pPr>
            <a:lvl7pPr algn="ctr">
              <a:defRPr sz="1200" b="1">
                <a:solidFill>
                  <a:srgbClr val="B9CBC8"/>
                </a:solidFill>
              </a:defRPr>
            </a:lvl7pPr>
            <a:lvl8pPr algn="ctr">
              <a:defRPr sz="1200" b="1">
                <a:solidFill>
                  <a:srgbClr val="B9CBC8"/>
                </a:solidFill>
              </a:defRPr>
            </a:lvl8pPr>
            <a:lvl9pPr algn="ctr">
              <a:defRPr sz="1200" b="1">
                <a:solidFill>
                  <a:srgbClr val="B9CBC8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B9CBC8"/>
                </a:solidFill>
              </a:defRPr>
            </a:pPr>
            <a:r>
              <a:rPr sz="1200" b="1">
                <a:solidFill>
                  <a:srgbClr val="B9CBC8"/>
                </a:solidFill>
              </a:rPr>
              <a:t>Next scientific step: add more independent events and India-focused geography-held-out validation before considering resident-facing ML.</a:t>
            </a:r>
          </a:p>
        </p:txBody>
      </p:sp>
    </p:spTree>
    <p:extLst>
      <p:ext uri="{BB962C8B-B14F-4D97-AF65-F5344CB8AC3E}">
        <p14:creationId xmlns:p14="http://schemas.microsoft.com/office/powerpoint/2010/main" val="13365997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2026-10-19T14:12:40.3290000Z</dcterms:created>
  <dcterms:modified xsi:type="dcterms:W3CDTF">2026-10-19T14:12:40.3290000Z</dcterms:modified>
</coreProperties>
</file>