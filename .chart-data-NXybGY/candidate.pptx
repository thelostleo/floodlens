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991f9fa1ab4e5a" /><Relationship Type="http://schemas.openxmlformats.org/officeDocument/2006/relationships/extended-properties" Target="/docProps/app.xml" Id="R5a6f07c71c3445e3" /><Relationship Type="http://schemas.openxmlformats.org/officeDocument/2006/relationships/officeDocument" Target="/ppt/presentation.xml" Id="Rc1c3978b9d384d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5ae53077de476d"/>
  </p:sldMasterIdLst>
  <p:notesMasterIdLst>
    <p:notesMasterId xmlns:r="http://schemas.openxmlformats.org/officeDocument/2006/relationships" r:id="R3afeee1ffe244f80"/>
  </p:notesMasterIdLst>
  <p:sldIdLst>
    <p:sldId xmlns:r="http://schemas.openxmlformats.org/officeDocument/2006/relationships" id="256" r:id="Rb2cf6cfdf65b4325"/>
    <p:sldId xmlns:r="http://schemas.openxmlformats.org/officeDocument/2006/relationships" id="257" r:id="R8e42c6cbc7a64c4a"/>
    <p:sldId xmlns:r="http://schemas.openxmlformats.org/officeDocument/2006/relationships" id="258" r:id="Re9dfcd9a41c7472b"/>
    <p:sldId xmlns:r="http://schemas.openxmlformats.org/officeDocument/2006/relationships" id="259" r:id="R6e5413d4ce344ffb"/>
    <p:sldId xmlns:r="http://schemas.openxmlformats.org/officeDocument/2006/relationships" id="260" r:id="R735fc19bd80048a3"/>
    <p:sldId xmlns:r="http://schemas.openxmlformats.org/officeDocument/2006/relationships" id="261" r:id="R6b316135da3c4f3a"/>
    <p:sldId xmlns:r="http://schemas.openxmlformats.org/officeDocument/2006/relationships" id="262" r:id="Rf40cdf73586243c3"/>
    <p:sldId xmlns:r="http://schemas.openxmlformats.org/officeDocument/2006/relationships" id="263" r:id="R1930f2b8b8b34a80"/>
    <p:sldId xmlns:r="http://schemas.openxmlformats.org/officeDocument/2006/relationships" id="264" r:id="R2d916021b7b94a5e"/>
    <p:sldId xmlns:r="http://schemas.openxmlformats.org/officeDocument/2006/relationships" id="265" r:id="R825bd2689cac45a7"/>
    <p:sldId xmlns:r="http://schemas.openxmlformats.org/officeDocument/2006/relationships" id="266" r:id="R40945508829e40b1"/>
    <p:sldId xmlns:r="http://schemas.openxmlformats.org/officeDocument/2006/relationships" id="267" r:id="R2769c33acfe64329"/>
    <p:sldId xmlns:r="http://schemas.openxmlformats.org/officeDocument/2006/relationships" id="268" r:id="Rc58decbe73b74c94"/>
    <p:sldId xmlns:r="http://schemas.openxmlformats.org/officeDocument/2006/relationships" id="269" r:id="R0e7532d266614ab5"/>
    <p:sldId xmlns:r="http://schemas.openxmlformats.org/officeDocument/2006/relationships" id="270" r:id="R82c97827d7554a2e"/>
    <p:sldId xmlns:r="http://schemas.openxmlformats.org/officeDocument/2006/relationships" id="271" r:id="R81040ef665df4554"/>
    <p:sldId xmlns:r="http://schemas.openxmlformats.org/officeDocument/2006/relationships" id="272" r:id="R72c97a5b83da4778"/>
    <p:sldId xmlns:r="http://schemas.openxmlformats.org/officeDocument/2006/relationships" id="273" r:id="R9ccb995d8c4e44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5a39aa3ee44f9c" /><Relationship Type="http://schemas.openxmlformats.org/officeDocument/2006/relationships/slideMaster" Target="/ppt/slideMasters/slideMaster1.xml" Id="R055ae53077de476d" /><Relationship Type="http://schemas.openxmlformats.org/officeDocument/2006/relationships/notesMaster" Target="/ppt/notesMasters/notesMaster1.xml" Id="R3afeee1ffe244f80" /><Relationship Type="http://schemas.openxmlformats.org/officeDocument/2006/relationships/presProps" Target="/ppt/presProps.xml" Id="R71f14524cf714ce2" /><Relationship Type="http://schemas.openxmlformats.org/officeDocument/2006/relationships/tableStyles" Target="/ppt/tableStyles.xml" Id="Ra488cb3fc7394e54" /><Relationship Type="http://schemas.openxmlformats.org/officeDocument/2006/relationships/slide" Target="/ppt/slides/slide1.xml" Id="Rb2cf6cfdf65b4325" /><Relationship Type="http://schemas.openxmlformats.org/officeDocument/2006/relationships/slide" Target="/ppt/slides/slide2.xml" Id="R8e42c6cbc7a64c4a" /><Relationship Type="http://schemas.openxmlformats.org/officeDocument/2006/relationships/slide" Target="/ppt/slides/slide3.xml" Id="Re9dfcd9a41c7472b" /><Relationship Type="http://schemas.openxmlformats.org/officeDocument/2006/relationships/slide" Target="/ppt/slides/slide4.xml" Id="R6e5413d4ce344ffb" /><Relationship Type="http://schemas.openxmlformats.org/officeDocument/2006/relationships/slide" Target="/ppt/slides/slide5.xml" Id="R735fc19bd80048a3" /><Relationship Type="http://schemas.openxmlformats.org/officeDocument/2006/relationships/slide" Target="/ppt/slides/slide6.xml" Id="R6b316135da3c4f3a" /><Relationship Type="http://schemas.openxmlformats.org/officeDocument/2006/relationships/slide" Target="/ppt/slides/slide7.xml" Id="Rf40cdf73586243c3" /><Relationship Type="http://schemas.openxmlformats.org/officeDocument/2006/relationships/slide" Target="/ppt/slides/slide8.xml" Id="R1930f2b8b8b34a80" /><Relationship Type="http://schemas.openxmlformats.org/officeDocument/2006/relationships/slide" Target="/ppt/slides/slide9.xml" Id="R2d916021b7b94a5e" /><Relationship Type="http://schemas.openxmlformats.org/officeDocument/2006/relationships/slide" Target="/ppt/slides/slide10.xml" Id="R825bd2689cac45a7" /><Relationship Type="http://schemas.openxmlformats.org/officeDocument/2006/relationships/slide" Target="/ppt/slides/slide11.xml" Id="R40945508829e40b1" /><Relationship Type="http://schemas.openxmlformats.org/officeDocument/2006/relationships/slide" Target="/ppt/slides/slide12.xml" Id="R2769c33acfe64329" /><Relationship Type="http://schemas.openxmlformats.org/officeDocument/2006/relationships/slide" Target="/ppt/slides/slide13.xml" Id="Rc58decbe73b74c94" /><Relationship Type="http://schemas.openxmlformats.org/officeDocument/2006/relationships/slide" Target="/ppt/slides/slide14.xml" Id="R0e7532d266614ab5" /><Relationship Type="http://schemas.openxmlformats.org/officeDocument/2006/relationships/slide" Target="/ppt/slides/slide15.xml" Id="R82c97827d7554a2e" /><Relationship Type="http://schemas.openxmlformats.org/officeDocument/2006/relationships/slide" Target="/ppt/slides/slide16.xml" Id="R81040ef665df4554" /><Relationship Type="http://schemas.openxmlformats.org/officeDocument/2006/relationships/slide" Target="/ppt/slides/slide17.xml" Id="R72c97a5b83da4778" /><Relationship Type="http://schemas.openxmlformats.org/officeDocument/2006/relationships/slide" Target="/ppt/slides/slide18.xml" Id="R9ccb995d8c4e44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ae87dd75354c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c1aff8e37c40c7" /><Relationship Type="http://schemas.openxmlformats.org/officeDocument/2006/relationships/notesMaster" Target="/ppt/notesMasters/notesMaster1.xml" Id="Rda31304c9f6246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8beb16954d48be" /><Relationship Type="http://schemas.openxmlformats.org/officeDocument/2006/relationships/notesMaster" Target="/ppt/notesMasters/notesMaster1.xml" Id="R9c0297086a2e46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e28485e4cd4302" /><Relationship Type="http://schemas.openxmlformats.org/officeDocument/2006/relationships/notesMaster" Target="/ppt/notesMasters/notesMaster1.xml" Id="R9850b50567194b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e92f6e6bcf4dff" /><Relationship Type="http://schemas.openxmlformats.org/officeDocument/2006/relationships/notesMaster" Target="/ppt/notesMasters/notesMaster1.xml" Id="R801eacfb3c544b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de9bb15f5f44ba" /><Relationship Type="http://schemas.openxmlformats.org/officeDocument/2006/relationships/notesMaster" Target="/ppt/notesMasters/notesMaster1.xml" Id="Ra244f584c56f43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ca5b1939c04789" /><Relationship Type="http://schemas.openxmlformats.org/officeDocument/2006/relationships/notesMaster" Target="/ppt/notesMasters/notesMaster1.xml" Id="Ra957b20575cf4d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bfdb41b2cc4efb" /><Relationship Type="http://schemas.openxmlformats.org/officeDocument/2006/relationships/notesMaster" Target="/ppt/notesMasters/notesMaster1.xml" Id="Rf8d6f5d9b1fa4d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af3e2aad384ad7" /><Relationship Type="http://schemas.openxmlformats.org/officeDocument/2006/relationships/notesMaster" Target="/ppt/notesMasters/notesMaster1.xml" Id="R8e791c53445248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309bd4a7bf434d" /><Relationship Type="http://schemas.openxmlformats.org/officeDocument/2006/relationships/notesMaster" Target="/ppt/notesMasters/notesMaster1.xml" Id="R7423b8b9f6ae49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c05b00a7774d4e" /><Relationship Type="http://schemas.openxmlformats.org/officeDocument/2006/relationships/notesMaster" Target="/ppt/notesMasters/notesMaster1.xml" Id="Rb2614498ea9e42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bf16f8ae354109" /><Relationship Type="http://schemas.openxmlformats.org/officeDocument/2006/relationships/notesMaster" Target="/ppt/notesMasters/notesMaster1.xml" Id="Rba6cee8647c348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de17a68f214a5e" /><Relationship Type="http://schemas.openxmlformats.org/officeDocument/2006/relationships/notesMaster" Target="/ppt/notesMasters/notesMaster1.xml" Id="R1eb5fdfd845d45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9a2ef5b41b4072" /><Relationship Type="http://schemas.openxmlformats.org/officeDocument/2006/relationships/notesMaster" Target="/ppt/notesMasters/notesMaster1.xml" Id="Rd667520eacad4e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b7ab186ce14a30" /><Relationship Type="http://schemas.openxmlformats.org/officeDocument/2006/relationships/notesMaster" Target="/ppt/notesMasters/notesMaster1.xml" Id="Rbe6f7a82b15746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a7417de40f4606" /><Relationship Type="http://schemas.openxmlformats.org/officeDocument/2006/relationships/notesMaster" Target="/ppt/notesMasters/notesMaster1.xml" Id="R780ac295e4c24a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9586c732f44323" /><Relationship Type="http://schemas.openxmlformats.org/officeDocument/2006/relationships/notesMaster" Target="/ppt/notesMasters/notesMaster1.xml" Id="R19bb942f7b1949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c2290486fb4345" /><Relationship Type="http://schemas.openxmlformats.org/officeDocument/2006/relationships/notesMaster" Target="/ppt/notesMasters/notesMaster1.xml" Id="R459af3ac29924f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aa7b03429e4812" /><Relationship Type="http://schemas.openxmlformats.org/officeDocument/2006/relationships/notesMaster" Target="/ppt/notesMasters/notesMaster1.xml" Id="R410dad13565b4d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76d74a67142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e25e1ce0f4b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921f21db146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335745d194c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6ea6dc88e44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1dd5ddede44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8BD555-BCFD-40D5-9F5B-4BBB29622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F160C7-08C1-4C59-B4CC-5A4EDDDCAD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0EFE81-08BD-4EE4-AA9E-FAB079D9DF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BC225E-6E3F-41CF-A480-DA31314E86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08ED1F-912C-448F-8DB3-D534E9E71F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7E141F-9869-49BF-9B50-FF0C200042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7438EB-4120-42B3-8923-91F73115FB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A013FB-517D-448F-B55E-81B46FDBAA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2FC53C-47DC-44D8-9B37-6288821425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CB51BD-8C38-48B3-AF61-64573A413B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2b0e9c16b34ab1" /><Relationship Type="http://schemas.openxmlformats.org/officeDocument/2006/relationships/slideLayout" Target="/ppt/slideLayouts/slideLayout1.xml" Id="R0bf96d7498b9475e" /><Relationship Type="http://schemas.openxmlformats.org/officeDocument/2006/relationships/slideLayout" Target="/ppt/slideLayouts/slideLayout2.xml" Id="R7d4c0c863fb348b1" /><Relationship Type="http://schemas.openxmlformats.org/officeDocument/2006/relationships/slideLayout" Target="/ppt/slideLayouts/slideLayout3.xml" Id="R355203a645d64d53" /><Relationship Type="http://schemas.openxmlformats.org/officeDocument/2006/relationships/slideLayout" Target="/ppt/slideLayouts/slideLayout4.xml" Id="R9ef9d745b3014c18" /><Relationship Type="http://schemas.openxmlformats.org/officeDocument/2006/relationships/slideLayout" Target="/ppt/slideLayouts/slideLayout5.xml" Id="Rbcaae38dd1d24b87" /><Relationship Type="http://schemas.openxmlformats.org/officeDocument/2006/relationships/slideLayout" Target="/ppt/slideLayouts/slideLayout6.xml" Id="R2f652894aace41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f96d7498b9475e"/>
    <p:sldLayoutId xmlns:r="http://schemas.openxmlformats.org/officeDocument/2006/relationships" id="2147483650" r:id="R7d4c0c863fb348b1"/>
    <p:sldLayoutId xmlns:r="http://schemas.openxmlformats.org/officeDocument/2006/relationships" id="2147483651" r:id="R355203a645d64d53"/>
    <p:sldLayoutId xmlns:r="http://schemas.openxmlformats.org/officeDocument/2006/relationships" id="2147483652" r:id="R9ef9d745b3014c18"/>
    <p:sldLayoutId xmlns:r="http://schemas.openxmlformats.org/officeDocument/2006/relationships" id="2147483653" r:id="Rbcaae38dd1d24b87"/>
    <p:sldLayoutId xmlns:r="http://schemas.openxmlformats.org/officeDocument/2006/relationships" id="2147483654" r:id="R2f652894aace41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eff4d88b604831" /><Relationship Type="http://schemas.openxmlformats.org/officeDocument/2006/relationships/notesSlide" Target="/ppt/notesSlides/notesSlide1.xml" Id="Rdbd19a4b86a449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8b8603e35470a" /><Relationship Type="http://schemas.openxmlformats.org/officeDocument/2006/relationships/notesSlide" Target="/ppt/notesSlides/notesSlide2.xml" Id="R4f4fb96f38fa47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e7adba54449ef" /><Relationship Type="http://schemas.openxmlformats.org/officeDocument/2006/relationships/notesSlide" Target="/ppt/notesSlides/notesSlide3.xml" Id="R9b40264a1f874d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8c73d224943af" /><Relationship Type="http://schemas.openxmlformats.org/officeDocument/2006/relationships/notesSlide" Target="/ppt/notesSlides/notesSlide4.xml" Id="Rb96269d0546d4d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4fa9bb64b40f4" /><Relationship Type="http://schemas.openxmlformats.org/officeDocument/2006/relationships/notesSlide" Target="/ppt/notesSlides/notesSlide5.xml" Id="R5cc6f0b2717d41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dd704151045fe" /><Relationship Type="http://schemas.openxmlformats.org/officeDocument/2006/relationships/notesSlide" Target="/ppt/notesSlides/notesSlide6.xml" Id="Re1485a06eab54e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96e38075f04a81" /><Relationship Type="http://schemas.openxmlformats.org/officeDocument/2006/relationships/notesSlide" Target="/ppt/notesSlides/notesSlide7.xml" Id="R0902bc6eb91940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589c14aa24d71" /><Relationship Type="http://schemas.openxmlformats.org/officeDocument/2006/relationships/notesSlide" Target="/ppt/notesSlides/notesSlide8.xml" Id="R535fa529333f48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b8bab08b94e77" /><Relationship Type="http://schemas.openxmlformats.org/officeDocument/2006/relationships/image" Target="/ppt/media/image.jpeg" Id="Rc85f0e5f79aa4e91" /><Relationship Type="http://schemas.openxmlformats.org/officeDocument/2006/relationships/notesSlide" Target="/ppt/notesSlides/notesSlide9.xml" Id="R53d2949bc2624d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d5ae936324d2a" /><Relationship Type="http://schemas.openxmlformats.org/officeDocument/2006/relationships/notesSlide" Target="/ppt/notesSlides/notesSlide10.xml" Id="R0fb9254889b841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e9f17229c45a3" /><Relationship Type="http://schemas.openxmlformats.org/officeDocument/2006/relationships/notesSlide" Target="/ppt/notesSlides/notesSlide11.xml" Id="R5aff501d84d947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8c352917041e3" /><Relationship Type="http://schemas.openxmlformats.org/officeDocument/2006/relationships/notesSlide" Target="/ppt/notesSlides/notesSlide12.xml" Id="Re132420ff3554e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3c8873a7a4549" /><Relationship Type="http://schemas.openxmlformats.org/officeDocument/2006/relationships/notesSlide" Target="/ppt/notesSlides/notesSlide13.xml" Id="R044eaa7092f74c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4c991179b745fa" /><Relationship Type="http://schemas.openxmlformats.org/officeDocument/2006/relationships/chart" Target="/ppt/slides/charts/chart1.xml" Id="R3b776b9f08c1461f" /><Relationship Type="http://schemas.openxmlformats.org/officeDocument/2006/relationships/notesSlide" Target="/ppt/notesSlides/notesSlide14.xml" Id="R4fe11f4897e140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5ac12825534fa7" /><Relationship Type="http://schemas.openxmlformats.org/officeDocument/2006/relationships/image" Target="/ppt/media/image2.jpeg" Id="Ra574990dd6ef49aa" /><Relationship Type="http://schemas.openxmlformats.org/officeDocument/2006/relationships/notesSlide" Target="/ppt/notesSlides/notesSlide15.xml" Id="Rfc5e11bbff8e46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737a1bd1c4f72" /><Relationship Type="http://schemas.openxmlformats.org/officeDocument/2006/relationships/image" Target="/ppt/media/image.png" Id="Rd21f00a6acf74912" /><Relationship Type="http://schemas.openxmlformats.org/officeDocument/2006/relationships/image" Target="/ppt/media/image2.png" Id="Rc7a0256c4b78413e" /><Relationship Type="http://schemas.openxmlformats.org/officeDocument/2006/relationships/image" Target="/ppt/media/image3.png" Id="Re4ac380c056546f5" /><Relationship Type="http://schemas.openxmlformats.org/officeDocument/2006/relationships/image" Target="/ppt/media/image4.png" Id="Rf46662dd1fdb43d6" /><Relationship Type="http://schemas.openxmlformats.org/officeDocument/2006/relationships/notesSlide" Target="/ppt/notesSlides/notesSlide16.xml" Id="Rd1b59a86179b4f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c86eba3fc4228" /><Relationship Type="http://schemas.openxmlformats.org/officeDocument/2006/relationships/notesSlide" Target="/ppt/notesSlides/notesSlide17.xml" Id="Ra54281551d8e47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9050c3d5a424e" /><Relationship Type="http://schemas.openxmlformats.org/officeDocument/2006/relationships/notesSlide" Target="/ppt/notesSlides/notesSlide18.xml" Id="Rb587835a8b0849d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Held-out F1</c:v>
          </c:tx>
          <c:spPr>
            <a:solidFill xmlns:a="http://schemas.openxmlformats.org/drawingml/2006/main">
              <a:srgbClr val="0D6B5E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Spatial baseline</c:v>
                </c:pt>
                <c:pt idx="1">
                  <c:v>Rainfall LSTM</c:v>
                </c:pt>
                <c:pt idx="2">
                  <c:v>Extra Trees</c:v>
                </c:pt>
                <c:pt idx="3">
                  <c:v>U-Net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0.667</c:v>
                </c:pt>
                <c:pt idx="1">
                  <c:v>0.293</c:v>
                </c:pt>
                <c:pt idx="2">
                  <c:v>0.647</c:v>
                </c:pt>
                <c:pt idx="3">
                  <c:v>0.725</c:v>
                </c:pt>
              </c:numCache>
            </c:numRef>
          </c:val>
        </c:ser>
        <c:dLbls>
          <c:numFmt formatCode="0.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DD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9AD4A-A2A0-410F-8E24-AAA458FE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FLOODLENS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3C9A2-3C2B-4074-AA26-D324FD2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Transparent neighbourhood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flood awareness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C9371-63C1-4573-9710-99432D9F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9CBC8"/>
                </a:solidFill>
              </a:defRPr>
            </a:defPPr>
            <a:lvl1pPr algn="l">
              <a:defRPr sz="1650" b="0">
                <a:solidFill>
                  <a:srgbClr val="B9CBC8"/>
                </a:solidFill>
              </a:defRPr>
            </a:lvl1pPr>
            <a:lvl2pPr algn="l">
              <a:defRPr sz="1650" b="0">
                <a:solidFill>
                  <a:srgbClr val="B9CBC8"/>
                </a:solidFill>
              </a:defRPr>
            </a:lvl2pPr>
            <a:lvl3pPr algn="l">
              <a:defRPr sz="1650" b="0">
                <a:solidFill>
                  <a:srgbClr val="B9CBC8"/>
                </a:solidFill>
              </a:defRPr>
            </a:lvl3pPr>
            <a:lvl4pPr algn="l">
              <a:defRPr sz="1650" b="0">
                <a:solidFill>
                  <a:srgbClr val="B9CBC8"/>
                </a:solidFill>
              </a:defRPr>
            </a:lvl4pPr>
            <a:lvl5pPr algn="l">
              <a:defRPr sz="1650" b="0">
                <a:solidFill>
                  <a:srgbClr val="B9CBC8"/>
                </a:solidFill>
              </a:defRPr>
            </a:lvl5pPr>
            <a:lvl6pPr algn="l">
              <a:defRPr sz="1650" b="0">
                <a:solidFill>
                  <a:srgbClr val="B9CBC8"/>
                </a:solidFill>
              </a:defRPr>
            </a:lvl6pPr>
            <a:lvl7pPr algn="l">
              <a:defRPr sz="1650" b="0">
                <a:solidFill>
                  <a:srgbClr val="B9CBC8"/>
                </a:solidFill>
              </a:defRPr>
            </a:lvl7pPr>
            <a:lvl8pPr algn="l">
              <a:defRPr sz="1650" b="0">
                <a:solidFill>
                  <a:srgbClr val="B9CBC8"/>
                </a:solidFill>
              </a:defRPr>
            </a:lvl8pPr>
            <a:lvl9pPr algn="l">
              <a:defRPr sz="1650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9CBC8"/>
                </a:solidFill>
              </a:defRPr>
            </a:pPr>
            <a:r>
              <a:rPr sz="1650" b="0">
                <a:solidFill>
                  <a:srgbClr val="B9CBC8"/>
                </a:solidFill>
              </a:rPr>
              <a:t>Final project report and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25DE8-2BB1-4BD1-A5F4-64EED96B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8E5E2"/>
                </a:solidFill>
              </a:defRPr>
            </a:defPPr>
            <a:lvl1pPr algn="l">
              <a:defRPr sz="1350" b="0">
                <a:solidFill>
                  <a:srgbClr val="D8E5E2"/>
                </a:solidFill>
              </a:defRPr>
            </a:lvl1pPr>
            <a:lvl2pPr algn="l">
              <a:defRPr sz="1350" b="0">
                <a:solidFill>
                  <a:srgbClr val="D8E5E2"/>
                </a:solidFill>
              </a:defRPr>
            </a:lvl2pPr>
            <a:lvl3pPr algn="l">
              <a:defRPr sz="1350" b="0">
                <a:solidFill>
                  <a:srgbClr val="D8E5E2"/>
                </a:solidFill>
              </a:defRPr>
            </a:lvl3pPr>
            <a:lvl4pPr algn="l">
              <a:defRPr sz="1350" b="0">
                <a:solidFill>
                  <a:srgbClr val="D8E5E2"/>
                </a:solidFill>
              </a:defRPr>
            </a:lvl4pPr>
            <a:lvl5pPr algn="l">
              <a:defRPr sz="1350" b="0">
                <a:solidFill>
                  <a:srgbClr val="D8E5E2"/>
                </a:solidFill>
              </a:defRPr>
            </a:lvl5pPr>
            <a:lvl6pPr algn="l">
              <a:defRPr sz="1350" b="0">
                <a:solidFill>
                  <a:srgbClr val="D8E5E2"/>
                </a:solidFill>
              </a:defRPr>
            </a:lvl6pPr>
            <a:lvl7pPr algn="l">
              <a:defRPr sz="1350" b="0">
                <a:solidFill>
                  <a:srgbClr val="D8E5E2"/>
                </a:solidFill>
              </a:defRPr>
            </a:lvl7pPr>
            <a:lvl8pPr algn="l">
              <a:defRPr sz="1350" b="0">
                <a:solidFill>
                  <a:srgbClr val="D8E5E2"/>
                </a:solidFill>
              </a:defRPr>
            </a:lvl8pPr>
            <a:lvl9pPr algn="l">
              <a:defRPr sz="1350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5E2"/>
                </a:solidFill>
              </a:defRPr>
            </a:pPr>
            <a:r>
              <a:rPr sz="1350" b="0">
                <a:solidFill>
                  <a:srgbClr val="D8E5E2"/>
                </a:solidFill>
              </a:rPr>
              <a:t>Terrain, forecast rainfall, river-basin context, and historical-event ML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43259-3D7A-46A7-9F70-A2369103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324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BD510-6F95-44A4-85E1-74E58A5B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6B6CF"/>
                </a:solidFill>
              </a:defRPr>
            </a:defPPr>
            <a:lvl1pPr algn="ctr">
              <a:defRPr sz="975" b="1">
                <a:solidFill>
                  <a:srgbClr val="26B6CF"/>
                </a:solidFill>
              </a:defRPr>
            </a:lvl1pPr>
            <a:lvl2pPr algn="ctr">
              <a:defRPr sz="975" b="1">
                <a:solidFill>
                  <a:srgbClr val="26B6CF"/>
                </a:solidFill>
              </a:defRPr>
            </a:lvl2pPr>
            <a:lvl3pPr algn="ctr">
              <a:defRPr sz="975" b="1">
                <a:solidFill>
                  <a:srgbClr val="26B6CF"/>
                </a:solidFill>
              </a:defRPr>
            </a:lvl3pPr>
            <a:lvl4pPr algn="ctr">
              <a:defRPr sz="975" b="1">
                <a:solidFill>
                  <a:srgbClr val="26B6CF"/>
                </a:solidFill>
              </a:defRPr>
            </a:lvl4pPr>
            <a:lvl5pPr algn="ctr">
              <a:defRPr sz="975" b="1">
                <a:solidFill>
                  <a:srgbClr val="26B6CF"/>
                </a:solidFill>
              </a:defRPr>
            </a:lvl5pPr>
            <a:lvl6pPr algn="ctr">
              <a:defRPr sz="975" b="1">
                <a:solidFill>
                  <a:srgbClr val="26B6CF"/>
                </a:solidFill>
              </a:defRPr>
            </a:lvl6pPr>
            <a:lvl7pPr algn="ctr">
              <a:defRPr sz="975" b="1">
                <a:solidFill>
                  <a:srgbClr val="26B6CF"/>
                </a:solidFill>
              </a:defRPr>
            </a:lvl7pPr>
            <a:lvl8pPr algn="ctr">
              <a:defRPr sz="975" b="1">
                <a:solidFill>
                  <a:srgbClr val="26B6CF"/>
                </a:solidFill>
              </a:defRPr>
            </a:lvl8pPr>
            <a:lvl9pPr algn="ctr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18-slide technical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0B22B-7AE6-4EC8-9AE2-15C44310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"/>
            <a:ext cx="4000500" cy="52197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292A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DA80B-4A7C-4C71-A155-FE749CBF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6B6CF"/>
                </a:solidFill>
              </a:defRPr>
            </a:defPPr>
            <a:lvl1pPr algn="l">
              <a:defRPr sz="975" b="1">
                <a:solidFill>
                  <a:srgbClr val="26B6CF"/>
                </a:solidFill>
              </a:defRPr>
            </a:lvl1pPr>
            <a:lvl2pPr algn="l">
              <a:defRPr sz="975" b="1">
                <a:solidFill>
                  <a:srgbClr val="26B6CF"/>
                </a:solidFill>
              </a:defRPr>
            </a:lvl2pPr>
            <a:lvl3pPr algn="l">
              <a:defRPr sz="975" b="1">
                <a:solidFill>
                  <a:srgbClr val="26B6CF"/>
                </a:solidFill>
              </a:defRPr>
            </a:lvl3pPr>
            <a:lvl4pPr algn="l">
              <a:defRPr sz="975" b="1">
                <a:solidFill>
                  <a:srgbClr val="26B6CF"/>
                </a:solidFill>
              </a:defRPr>
            </a:lvl4pPr>
            <a:lvl5pPr algn="l">
              <a:defRPr sz="975" b="1">
                <a:solidFill>
                  <a:srgbClr val="26B6CF"/>
                </a:solidFill>
              </a:defRPr>
            </a:lvl5pPr>
            <a:lvl6pPr algn="l">
              <a:defRPr sz="975" b="1">
                <a:solidFill>
                  <a:srgbClr val="26B6CF"/>
                </a:solidFill>
              </a:defRPr>
            </a:lvl6pPr>
            <a:lvl7pPr algn="l">
              <a:defRPr sz="975" b="1">
                <a:solidFill>
                  <a:srgbClr val="26B6CF"/>
                </a:solidFill>
              </a:defRPr>
            </a:lvl7pPr>
            <a:lvl8pPr algn="l">
              <a:defRPr sz="975" b="1">
                <a:solidFill>
                  <a:srgbClr val="26B6CF"/>
                </a:solidFill>
              </a:defRPr>
            </a:lvl8pPr>
            <a:lvl9pPr algn="l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LIVE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05AFD-26F4-4927-9C62-484A6503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621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 / 2 / 5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A4A58-1388-4FC2-BDEF-7FDE0A21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resident-selected assessment circle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B6414-772F-465F-80A1-D93333D8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28,907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04341-5396-49E7-9C53-8D2B6D73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99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HydroBASINS polygons imported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00268-EEDF-4591-8B2E-39C7ED24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81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1,428,959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9A31A-FEFF-41CC-9B2B-F9CE0564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19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HydroRIVERS features imported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70EA2-A8F3-4F71-B3BB-AF027D0A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91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9CBC8"/>
                </a:solidFill>
              </a:defRPr>
            </a:defPPr>
            <a:lvl1pPr algn="l">
              <a:defRPr sz="1050" b="0">
                <a:solidFill>
                  <a:srgbClr val="B9CBC8"/>
                </a:solidFill>
              </a:defRPr>
            </a:lvl1pPr>
            <a:lvl2pPr algn="l">
              <a:defRPr sz="1050" b="0">
                <a:solidFill>
                  <a:srgbClr val="B9CBC8"/>
                </a:solidFill>
              </a:defRPr>
            </a:lvl2pPr>
            <a:lvl3pPr algn="l">
              <a:defRPr sz="1050" b="0">
                <a:solidFill>
                  <a:srgbClr val="B9CBC8"/>
                </a:solidFill>
              </a:defRPr>
            </a:lvl3pPr>
            <a:lvl4pPr algn="l">
              <a:defRPr sz="1050" b="0">
                <a:solidFill>
                  <a:srgbClr val="B9CBC8"/>
                </a:solidFill>
              </a:defRPr>
            </a:lvl4pPr>
            <a:lvl5pPr algn="l">
              <a:defRPr sz="1050" b="0">
                <a:solidFill>
                  <a:srgbClr val="B9CBC8"/>
                </a:solidFill>
              </a:defRPr>
            </a:lvl5pPr>
            <a:lvl6pPr algn="l">
              <a:defRPr sz="1050" b="0">
                <a:solidFill>
                  <a:srgbClr val="B9CBC8"/>
                </a:solidFill>
              </a:defRPr>
            </a:lvl6pPr>
            <a:lvl7pPr algn="l">
              <a:defRPr sz="1050" b="0">
                <a:solidFill>
                  <a:srgbClr val="B9CBC8"/>
                </a:solidFill>
              </a:defRPr>
            </a:lvl7pPr>
            <a:lvl8pPr algn="l">
              <a:defRPr sz="1050" b="0">
                <a:solidFill>
                  <a:srgbClr val="B9CBC8"/>
                </a:solidFill>
              </a:defRPr>
            </a:lvl8pPr>
            <a:lvl9pPr algn="l">
              <a:defRPr sz="1050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CBC8"/>
                </a:solidFill>
              </a:defRPr>
            </a:pPr>
            <a:r>
              <a:rPr sz="1050" b="0">
                <a:solidFill>
                  <a:srgbClr val="B9CBC8"/>
                </a:solidFill>
              </a:rPr>
              <a:t>Local Docker demonstration • 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4459572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C58E7-BAFE-47AA-B0B7-4EB75EF0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3BD68-6E89-4FCB-B0F5-A6CA2A3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Project in one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088D4-DA73-4208-A33B-09E1E856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usable resident interface backed by real spatial data, with research ML kept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D3E18-4BF0-4EDD-AA17-FE62C861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8DA54-45BB-44B8-A885-89EF575A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65E2A-F5FC-46E3-AA0B-5088527E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01052-4C1B-45C4-9ADF-46D3DCA7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Resident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BA305-C227-486C-80B0-A5B9EDA0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neighbourhood and a 1, 2, or 5 km circle. Read terrain, forecast rainfall, and river-basin context in plain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0A860-EAFC-4C30-9424-6A50D7C7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9784E-8112-4C6A-8B3D-6416B8FE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EABDD-A6E8-493E-BF30-2AE18631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Operational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409C8-9E39-4745-86BB-F38E8DA1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and Leaflet call FastAPI. A PostGIS-backed worker samples FABDEM, reads HydroSHEDS, and fetches Open-Meteo rainfall.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5181F-C37E-47E7-BAC6-062EAC84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C2152-02D6-4F1E-8E45-B0FE4973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41CBE-8E53-4F6C-81B6-BA336E65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Research laboratory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29ECE-13AE-4E47-9E28-6C3015C4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Compare real labels with Extra Trees and U-Net masks on held-out events. Classification models add event-level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74084-E012-473A-BD31-B6C26842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D6B5E"/>
                </a:solidFill>
              </a:defRPr>
            </a:defPPr>
            <a:lvl1pPr algn="l">
              <a:defRPr sz="2100" b="1">
                <a:solidFill>
                  <a:srgbClr val="0D6B5E"/>
                </a:solidFill>
              </a:defRPr>
            </a:lvl1pPr>
            <a:lvl2pPr algn="l">
              <a:defRPr sz="2100" b="1">
                <a:solidFill>
                  <a:srgbClr val="0D6B5E"/>
                </a:solidFill>
              </a:defRPr>
            </a:lvl2pPr>
            <a:lvl3pPr algn="l">
              <a:defRPr sz="2100" b="1">
                <a:solidFill>
                  <a:srgbClr val="0D6B5E"/>
                </a:solidFill>
              </a:defRPr>
            </a:lvl3pPr>
            <a:lvl4pPr algn="l">
              <a:defRPr sz="2100" b="1">
                <a:solidFill>
                  <a:srgbClr val="0D6B5E"/>
                </a:solidFill>
              </a:defRPr>
            </a:lvl4pPr>
            <a:lvl5pPr algn="l">
              <a:defRPr sz="2100" b="1">
                <a:solidFill>
                  <a:srgbClr val="0D6B5E"/>
                </a:solidFill>
              </a:defRPr>
            </a:lvl5pPr>
            <a:lvl6pPr algn="l">
              <a:defRPr sz="2100" b="1">
                <a:solidFill>
                  <a:srgbClr val="0D6B5E"/>
                </a:solidFill>
              </a:defRPr>
            </a:lvl6pPr>
            <a:lvl7pPr algn="l">
              <a:defRPr sz="2100" b="1">
                <a:solidFill>
                  <a:srgbClr val="0D6B5E"/>
                </a:solidFill>
              </a:defRPr>
            </a:lvl7pPr>
            <a:lvl8pPr algn="l">
              <a:defRPr sz="2100" b="1">
                <a:solidFill>
                  <a:srgbClr val="0D6B5E"/>
                </a:solidFill>
              </a:defRPr>
            </a:lvl8pPr>
            <a:lvl9pPr algn="l">
              <a:defRPr sz="21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D6B5E"/>
                </a:solidFill>
              </a:defRPr>
            </a:pPr>
            <a:r>
              <a:rPr sz="2100" b="1">
                <a:solidFill>
                  <a:srgbClr val="0D6B5E"/>
                </a:solidFill>
              </a:rPr>
              <a:t>A complete local demonstrator with transparent coverage states, reproducible deployment, visible model failures, and measured held-out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4CC0B-7054-42BD-BB96-171AA784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Neighbourhood awareness only: no official warning, evacuation advice, depth estimate, or property flood probability.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2AE44-2CEC-47F7-AE78-5B4EBCC4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50C2E-FE90-4317-8C6B-1377C2A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40029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3D1E8-B4F8-4EFF-9D70-34A926E7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34AF8-DA3E-4242-88F0-99A0736B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Why local flood information is easy to misread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56519-8433-40B6-B5E7-21B93F0E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0E815-BBC6-48FC-AD9E-E0FC1757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28F20-15F7-4894-83D1-7A843CF3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A4608-DF53-4BA0-A66E-C8595523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Terrain maps can mislead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3D5B0-C244-4871-B109-49BC6FB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Raw surface elevation may treat buildings and trees as barriers. FloodLens uses bare-earth terrain and still reports its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5A545-85A7-40D5-A777-42A6E57C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14EE6-CF11-4FCD-800B-76997150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AE783-86D8-4A8E-915B-D69A8A50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River proximity is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FEB23-806E-4CA9-933F-44B7022E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mapped river near a point does not prove hydraulic connectivity to a street or property.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43D7F-0FE8-47DF-AD4E-41861FF4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83A07-20B4-4E12-8C9E-E9BF7AD9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52B18-84C1-469B-8461-E44BC7C9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A score can look official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50221-E5FF-4B4B-A1EE-E7BDD330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simple number may be mistaken for a warning or probability. FloodLens labels its terrain score as a relative index.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2E029-933C-49E9-BEE2-8CE573DE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FE10F-35BD-4A2A-B31A-3E7D2103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Design objective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6DBB1-3CB2-4DDB-9A7B-FDECEF96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Help residents understand the water around them while showing what the data cannot establish.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B1000-9683-46DF-B8F6-13340A3A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81D7B8-0638-409F-B056-447A862C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0099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5E3275-6BA0-4077-838D-53C1BEA1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1C980-D192-42E3-BA9B-2E007229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Aim, users, and scientific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B3F0A-96B3-4435-A58F-86E78709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17672-3ECC-4E02-86CB-1BC96178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What FloodLens provides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93F1C-1077-4B60-A13B-07D123FE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7E2CA-D753-42A2-AF62-CAFB1CA3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Relative terrain susceptibility inside a selected local circle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B45DE-85CF-4F82-B5DD-9E01CDA6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43932-D5E6-4B48-9EBA-95CF09BB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48-hour forecast rainfall context from Open-Meteo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9F843-F818-44AE-BB4B-4E7656DA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D74BC-A064-42B1-80A5-01520199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Containing basin, upstream basin, and nearby mapped-river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4D5E8-C4B9-4849-A469-12E70F2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406C3-9CD4-42F3-894C-9CA85CFB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Explicit unavailable and outside-coverage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4AAB1-4724-49CF-A6F0-E80867D8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What the project does not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82E87-C62F-4E57-A0A0-D0DB0526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A448A-BBF9-4216-BDF5-48110BF8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An official alert or evacuation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3CA66-D718-4DA5-A522-AB5A7159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F5611-B145-46E9-95EB-E25ED936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 flood depth or property-level probability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222C1-7C54-4DB7-A102-584CDD14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A2307-379E-470F-A664-57B0A5A1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Proof that a nearby river will affect a selected property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8C8C9-0A4A-4020-860B-EDA0666F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BE467-45C8-4570-9FC1-63C39425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Global coverage beyond imported regions and mounted terrain tiles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595CA-1938-4E87-BDFA-5EB1FC1D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966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E9E0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DAF6B-3BE7-4B6C-991F-EB166ACF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assessment circle is a user-selected area. It is different from a watershed.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E4044-8048-47C5-9991-665038C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22D47-2612-4DE1-92F3-ADD6D1AB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0083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053685-2D33-4CBC-8A70-DA0CEEC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875FE-34B7-4A91-B3BC-DB5A57A9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Data sources and their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EA175-067E-422E-988F-90CF5DAC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7C059-5B15-4310-817F-B0FA4BAF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042F5-728F-4264-950B-EFF70DD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A7FD0-16A0-4307-8E72-59D5B636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85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76762-AEDE-425C-B953-73AFA4D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859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IMPORTANT 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663CD-2142-4B3A-9977-3F3CDD69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DB080-2CF8-4495-8752-A58A477E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FABDEM v1.2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ED896-60A8-4DE3-BAF4-7D285D0E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66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30 m bare-earth elevation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DDB4C-8EE8-4246-BB97-8903CF5C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66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Misses drains, walls, culverts, and sewers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D0477-AA34-4443-8177-BB4FE4E8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HydroBASINS L8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E290B-830C-4A66-9202-392553FE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38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Containing and upstream basin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229D1-33DC-4401-91F4-CA5ED436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Basin membership does not prove property connectivity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C60A2-5B11-4687-9BAA-BFD96ABB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BA6F6-1B83-44F1-AFEC-78C66D11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HydroRIVERS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DD269-BE3E-486F-BAAB-114F3C70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Nearby mapped river and distance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CF682-5506-4264-9B61-B40D91D5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9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Generalised geometry; proximity is contextual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24B2F-8028-471C-9C6D-079894A7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Open-Meteo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5DF63-A477-4828-B5FE-9512B4B8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48-hour hourly rainfall 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E59B0-1CFC-41AD-99BC-F611CBF0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Forecast provider, not an official warning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C2CBD-8413-4E64-A18F-DD35859C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8E79A-80BA-4C7F-9068-2EE4226C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OpenStreetMap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54E7A-1F5C-4B38-957C-1D1DEB0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52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Location selection and basemap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7777E-4081-4CD6-8C25-A4348E27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52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Basemap only; no flood labels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04D57-7086-4A15-B40F-A266FAF0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Sen1Floods11 + CHIRPS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FC7181-09D8-4048-BEA0-A4649ED0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24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Historical labels, SAR, and rainfall research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5C6720-C822-4788-93F3-54DDFB22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24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Research only; labels may include permanent water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00E436-5A83-46E4-9881-ADEE3B9B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Current local demo coverage: Asia HydroSHEDS imports and Chennai-area FABDEM tiles.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6EA79-2B63-4AEF-854A-1A310F6B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DA3324-AC4A-44A6-84A2-A77A25BD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9792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BCE488-4357-4E25-BDB0-11B1BF9E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A9EAA-00C8-4CFC-91B0-ED512C04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F3756-7F46-44E1-A0E7-7693D4B3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resident app and historical-event lab share one local web service while keeping calculations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D50A1-A588-4FA1-9E9D-35EC40D4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558C4-ACD1-46CD-B11B-5967265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50D5C-607C-4936-AA01-5F74A176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FB78A-57C5-4879-8B7B-66A37CDA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+ Leaflet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75527-3B9E-4FC2-B482-B1F18060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E9292-A6BE-4253-9D33-A3A64333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898B8-49C6-4102-81FF-EBF7179A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8602A-3C6E-41B9-AE85-B000CA20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Validation, UUID jobs, polling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B4A93-A2A8-4663-BE70-5AE24CCF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99F91-94AF-4529-AB7A-9BD51808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E4CBD-0FFD-44B6-B5FF-C4700FAB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PostGIS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83F98-E0D6-477B-8B19-A6E80B10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Jobs, results, basin and river geometry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A795C-DDBD-459F-92E1-F271F26B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83581-3EBE-47A3-8A2F-B3FD066D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5CEFB-C7BA-4B9E-B4CD-ED036895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0D606-D4A9-4906-9299-22561287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Claims jobs and calculates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5F991-C41E-4774-9914-4DB4F447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D0254-28FC-42EC-8D7E-B3208861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98BDE-2108-47C2-8B8F-692F8B6D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Data providers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29E20-5FEB-4880-BB94-0FE50BF5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FABDEM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Open-Meteo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HydroSHEDS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E0D71-5975-46C1-B404-E45EF527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63817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9A0F9E-E655-4190-9213-9C29A931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Docker exposes the app on localhost. PostgreSQL stays private. The worker claims jobs transactionally.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514AFB-C98B-4B1C-B972-41E8EC78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Offline research never writes a flood probability into the resident assessment.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DC4044-3FA3-4219-844A-1E339F28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7B4CB0-1F1E-4AD9-BF4C-D671DF5E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137677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1BED85-0BEF-4AD4-91AD-D34A2D9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30C17-CA29-411A-B762-927FEC50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From map click to neighbourhood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97622-0B5F-4F28-B47C-BCF27882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784B8-9068-4A51-B376-9F89E601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6BFA0-7AFF-4F67-B95F-8500EC50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66878-64D4-4206-9652-A46F3C96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8AD89-0FDB-401A-A8C4-5D3BC6D1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Select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4A675-898C-44C6-9DDD-8A79F27D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Click the map, choose a city, or enter coordinates.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805A0-3283-4E14-A46E-2DE2E2F0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45DFC-E1A1-4AAB-A5DC-6F7C2B91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824FF-E7FF-4AC4-865F-7E949FC2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467CE-C4CA-4969-BEB8-39180315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Choose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5212A-58F9-47ED-9BD9-A23F5E4D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1 km, 2 km, or 5 km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F65AD-311C-4022-A09A-D546F8C8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CD6AC-7586-4D1E-8E14-C1914735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C5D2D-A0B3-489E-8575-B626D4CA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74F6C-1BA2-4575-9C90-83B6032F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Create job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68B81-47FB-454B-B639-211F5AEB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FastAPI validates input and stores a UUID job.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FD693-69BE-4246-839C-8EDF8536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7219F-72B1-4ACA-B422-91E8E96F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8FF01-2C3F-470B-B159-4013EB55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DE7CC-F4FD-469A-99EF-8CEAAD54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Collect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69DF0-97E7-4B3C-B3A3-B10BBEE1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Worker samples terrain, rain, and river-basin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B3A8F-9E3A-4AC7-BDED-11708760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9AA08-11D5-4F53-B877-2392F89C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51CB58-1B05-49EC-8A70-AF117994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4C8EF-A15F-42B6-9AA7-FCA93FF9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Persist 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4F094-3DDF-4067-8B6A-6E30409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PostGIS stores factors, provenance, and status.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571B4B-BE57-42CE-A649-35EBC6B1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56AE9C-1670-45EF-B17D-C7F809FB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EB30F7-1D02-422B-869C-8266FDFF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E8B4CD-AAE4-4A59-BCEE-A1998266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Explain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087F81-D0F6-43C5-B066-66D695D8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Frontend shows result cards or an unavailable state.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787B97-5B14-40CC-ABAF-B37C4564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068F7-8474-47DC-8174-4FDE6EB3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D6B5E"/>
                </a:solidFill>
              </a:defRPr>
            </a:defPPr>
            <a:lvl1pPr algn="ctr">
              <a:defRPr sz="1425" b="1">
                <a:solidFill>
                  <a:srgbClr val="0D6B5E"/>
                </a:solidFill>
              </a:defRPr>
            </a:lvl1pPr>
            <a:lvl2pPr algn="ctr">
              <a:defRPr sz="1425" b="1">
                <a:solidFill>
                  <a:srgbClr val="0D6B5E"/>
                </a:solidFill>
              </a:defRPr>
            </a:lvl2pPr>
            <a:lvl3pPr algn="ctr">
              <a:defRPr sz="1425" b="1">
                <a:solidFill>
                  <a:srgbClr val="0D6B5E"/>
                </a:solidFill>
              </a:defRPr>
            </a:lvl3pPr>
            <a:lvl4pPr algn="ctr">
              <a:defRPr sz="1425" b="1">
                <a:solidFill>
                  <a:srgbClr val="0D6B5E"/>
                </a:solidFill>
              </a:defRPr>
            </a:lvl4pPr>
            <a:lvl5pPr algn="ctr">
              <a:defRPr sz="1425" b="1">
                <a:solidFill>
                  <a:srgbClr val="0D6B5E"/>
                </a:solidFill>
              </a:defRPr>
            </a:lvl5pPr>
            <a:lvl6pPr algn="ctr">
              <a:defRPr sz="1425" b="1">
                <a:solidFill>
                  <a:srgbClr val="0D6B5E"/>
                </a:solidFill>
              </a:defRPr>
            </a:lvl6pPr>
            <a:lvl7pPr algn="ctr">
              <a:defRPr sz="1425" b="1">
                <a:solidFill>
                  <a:srgbClr val="0D6B5E"/>
                </a:solidFill>
              </a:defRPr>
            </a:lvl7pPr>
            <a:lvl8pPr algn="ctr">
              <a:defRPr sz="1425" b="1">
                <a:solidFill>
                  <a:srgbClr val="0D6B5E"/>
                </a:solidFill>
              </a:defRPr>
            </a:lvl8pPr>
            <a:lvl9pPr algn="ctr">
              <a:defRPr sz="14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D6B5E"/>
                </a:solidFill>
              </a:defRPr>
            </a:pPr>
            <a:r>
              <a:rPr sz="1425" b="1">
                <a:solidFill>
                  <a:srgbClr val="0D6B5E"/>
                </a:solidFill>
              </a:rPr>
              <a:t>queued  ›  running  ›  complete     or     waiting_for_data / outside_coverage / failed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E571DD-DF48-46F1-8B20-8FCFC566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816882-8C3D-45E9-BEA7-92B81F17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22106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87EB4-4093-411A-ACA8-CFA2509B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80DD9-936B-4696-A138-33A1ED49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Terrain score: deterministic, local, and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B6034-B61B-4082-BC1F-D35473FF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F605E-D5EA-4DE5-9EFB-DFEB8DAE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048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CD607-AC78-4F57-AB91-58CC8D9F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2A"/>
                </a:solidFill>
              </a:defRPr>
            </a:defPPr>
            <a:lvl1pPr algn="l">
              <a:defRPr sz="1650" b="1">
                <a:solidFill>
                  <a:srgbClr val="102A2A"/>
                </a:solidFill>
              </a:defRPr>
            </a:lvl1pPr>
            <a:lvl2pPr algn="l">
              <a:defRPr sz="1650" b="1">
                <a:solidFill>
                  <a:srgbClr val="102A2A"/>
                </a:solidFill>
              </a:defRPr>
            </a:lvl2pPr>
            <a:lvl3pPr algn="l">
              <a:defRPr sz="1650" b="1">
                <a:solidFill>
                  <a:srgbClr val="102A2A"/>
                </a:solidFill>
              </a:defRPr>
            </a:lvl3pPr>
            <a:lvl4pPr algn="l">
              <a:defRPr sz="1650" b="1">
                <a:solidFill>
                  <a:srgbClr val="102A2A"/>
                </a:solidFill>
              </a:defRPr>
            </a:lvl4pPr>
            <a:lvl5pPr algn="l">
              <a:defRPr sz="1650" b="1">
                <a:solidFill>
                  <a:srgbClr val="102A2A"/>
                </a:solidFill>
              </a:defRPr>
            </a:lvl5pPr>
            <a:lvl6pPr algn="l">
              <a:defRPr sz="1650" b="1">
                <a:solidFill>
                  <a:srgbClr val="102A2A"/>
                </a:solidFill>
              </a:defRPr>
            </a:lvl6pPr>
            <a:lvl7pPr algn="l">
              <a:defRPr sz="1650" b="1">
                <a:solidFill>
                  <a:srgbClr val="102A2A"/>
                </a:solidFill>
              </a:defRPr>
            </a:lvl7pPr>
            <a:lvl8pPr algn="l">
              <a:defRPr sz="1650" b="1">
                <a:solidFill>
                  <a:srgbClr val="102A2A"/>
                </a:solidFill>
              </a:defRPr>
            </a:lvl8pPr>
            <a:lvl9pPr algn="l">
              <a:defRPr sz="16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Relative terrain susceptibility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2CE9E-FC17-4F00-B7CB-F0109A95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55%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280C0-B9A8-409D-92E6-FB9BE694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relative elevation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C6411-6FB6-4A05-9BA3-26B491BD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050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25%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296ED-0E88-4A7B-9509-28952F76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flatness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BF2A3-F41B-4902-A326-C403D2F7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8CB3F-6CC6-4EE1-8DE4-F5F9B5C9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local relief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E6F29-0B5F-48B6-A2AD-2FFBC905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6262"/>
                </a:solidFill>
              </a:defRPr>
            </a:defPPr>
            <a:lvl1pPr algn="l">
              <a:defRPr sz="1125" b="1">
                <a:solidFill>
                  <a:srgbClr val="526262"/>
                </a:solidFill>
              </a:defRPr>
            </a:lvl1pPr>
            <a:lvl2pPr algn="l">
              <a:defRPr sz="1125" b="1">
                <a:solidFill>
                  <a:srgbClr val="526262"/>
                </a:solidFill>
              </a:defRPr>
            </a:lvl2pPr>
            <a:lvl3pPr algn="l">
              <a:defRPr sz="1125" b="1">
                <a:solidFill>
                  <a:srgbClr val="526262"/>
                </a:solidFill>
              </a:defRPr>
            </a:lvl3pPr>
            <a:lvl4pPr algn="l">
              <a:defRPr sz="1125" b="1">
                <a:solidFill>
                  <a:srgbClr val="526262"/>
                </a:solidFill>
              </a:defRPr>
            </a:lvl4pPr>
            <a:lvl5pPr algn="l">
              <a:defRPr sz="1125" b="1">
                <a:solidFill>
                  <a:srgbClr val="526262"/>
                </a:solidFill>
              </a:defRPr>
            </a:lvl5pPr>
            <a:lvl6pPr algn="l">
              <a:defRPr sz="1125" b="1">
                <a:solidFill>
                  <a:srgbClr val="526262"/>
                </a:solidFill>
              </a:defRPr>
            </a:lvl6pPr>
            <a:lvl7pPr algn="l">
              <a:defRPr sz="1125" b="1">
                <a:solidFill>
                  <a:srgbClr val="526262"/>
                </a:solidFill>
              </a:defRPr>
            </a:lvl7pPr>
            <a:lvl8pPr algn="l">
              <a:defRPr sz="1125" b="1">
                <a:solidFill>
                  <a:srgbClr val="526262"/>
                </a:solidFill>
              </a:defRPr>
            </a:lvl8pPr>
            <a:lvl9pPr algn="l">
              <a:defRPr sz="11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262"/>
                </a:solidFill>
              </a:defRPr>
            </a:pPr>
            <a:r>
              <a:rPr sz="1125" b="1">
                <a:solidFill>
                  <a:srgbClr val="526262"/>
                </a:solidFill>
              </a:rPr>
              <a:t>0–33 lower   •   34–66 moderate   •   67–100 higher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CFB80-DEB6-4AB7-9AFD-03BCAF76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429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97DE4-DC7F-44AE-9995-8ED08C70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</a:defRPr>
            </a:defPPr>
            <a:lvl1pPr algn="l">
              <a:defRPr sz="1725" b="1">
                <a:solidFill>
                  <a:srgbClr val="FFFFFF"/>
                </a:solidFill>
              </a:defRPr>
            </a:lvl1pPr>
            <a:lvl2pPr algn="l">
              <a:defRPr sz="1725" b="1">
                <a:solidFill>
                  <a:srgbClr val="FFFFFF"/>
                </a:solidFill>
              </a:defRPr>
            </a:lvl2pPr>
            <a:lvl3pPr algn="l">
              <a:defRPr sz="1725" b="1">
                <a:solidFill>
                  <a:srgbClr val="FFFFFF"/>
                </a:solidFill>
              </a:defRPr>
            </a:lvl3pPr>
            <a:lvl4pPr algn="l">
              <a:defRPr sz="1725" b="1">
                <a:solidFill>
                  <a:srgbClr val="FFFFFF"/>
                </a:solidFill>
              </a:defRPr>
            </a:lvl4pPr>
            <a:lvl5pPr algn="l">
              <a:defRPr sz="1725" b="1">
                <a:solidFill>
                  <a:srgbClr val="FFFFFF"/>
                </a:solidFill>
              </a:defRPr>
            </a:lvl5pPr>
            <a:lvl6pPr algn="l">
              <a:defRPr sz="1725" b="1">
                <a:solidFill>
                  <a:srgbClr val="FFFFFF"/>
                </a:solidFill>
              </a:defRPr>
            </a:lvl6pPr>
            <a:lvl7pPr algn="l">
              <a:defRPr sz="1725" b="1">
                <a:solidFill>
                  <a:srgbClr val="FFFFFF"/>
                </a:solidFill>
              </a:defRPr>
            </a:lvl7pPr>
            <a:lvl8pPr algn="l">
              <a:defRPr sz="1725" b="1">
                <a:solidFill>
                  <a:srgbClr val="FFFFFF"/>
                </a:solidFill>
              </a:defRPr>
            </a:lvl8pPr>
            <a:lvl9pPr algn="l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65/100 means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25927-A493-4416-AF96-10127BF9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8E5E2"/>
                </a:solidFill>
              </a:defRPr>
            </a:defPPr>
            <a:lvl1pPr algn="l">
              <a:defRPr sz="1725" b="0">
                <a:solidFill>
                  <a:srgbClr val="D8E5E2"/>
                </a:solidFill>
              </a:defRPr>
            </a:lvl1pPr>
            <a:lvl2pPr algn="l">
              <a:defRPr sz="1725" b="0">
                <a:solidFill>
                  <a:srgbClr val="D8E5E2"/>
                </a:solidFill>
              </a:defRPr>
            </a:lvl2pPr>
            <a:lvl3pPr algn="l">
              <a:defRPr sz="1725" b="0">
                <a:solidFill>
                  <a:srgbClr val="D8E5E2"/>
                </a:solidFill>
              </a:defRPr>
            </a:lvl3pPr>
            <a:lvl4pPr algn="l">
              <a:defRPr sz="1725" b="0">
                <a:solidFill>
                  <a:srgbClr val="D8E5E2"/>
                </a:solidFill>
              </a:defRPr>
            </a:lvl4pPr>
            <a:lvl5pPr algn="l">
              <a:defRPr sz="1725" b="0">
                <a:solidFill>
                  <a:srgbClr val="D8E5E2"/>
                </a:solidFill>
              </a:defRPr>
            </a:lvl5pPr>
            <a:lvl6pPr algn="l">
              <a:defRPr sz="1725" b="0">
                <a:solidFill>
                  <a:srgbClr val="D8E5E2"/>
                </a:solidFill>
              </a:defRPr>
            </a:lvl6pPr>
            <a:lvl7pPr algn="l">
              <a:defRPr sz="1725" b="0">
                <a:solidFill>
                  <a:srgbClr val="D8E5E2"/>
                </a:solidFill>
              </a:defRPr>
            </a:lvl7pPr>
            <a:lvl8pPr algn="l">
              <a:defRPr sz="1725" b="0">
                <a:solidFill>
                  <a:srgbClr val="D8E5E2"/>
                </a:solidFill>
              </a:defRPr>
            </a:lvl8pPr>
            <a:lvl9pPr algn="l">
              <a:defRPr sz="1725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8E5E2"/>
                </a:solidFill>
              </a:defRPr>
            </a:pPr>
            <a:r>
              <a:rPr sz="1725" b="0">
                <a:solidFill>
                  <a:srgbClr val="D8E5E2"/>
                </a:solidFill>
              </a:rPr>
              <a:t>Moderate relative terrain susceptibility within the sampled circle.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8C80C-263C-439A-97FE-85EAE49E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It does not mean a 65% chance of flooding and it does not estimate water depth.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277B3-4B4F-45EA-8876-2C479097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Terrain quality also reports valid-cell coverage and missing-data flags.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F62EB-59A4-43E7-BE14-C9721542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A42D3-29F4-4DC6-8CF0-C44EBE6F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30118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DDE12-CB32-4084-9EF9-485CA3F4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4818F-8261-4F9D-9D41-2A2AD545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Resident demo: a guided three-step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20E75-0E57-4021-A6C9-33878D6E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redesign clarifies the location, circle size, and result order before exposing technical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5E70B-EDAF-46A0-95F3-D8D582B9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B675D-A308-4652-80B7-E530DF536A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f0e5f79aa4e91"/>
          <a:stretch xmlns:a="http://schemas.openxmlformats.org/drawingml/2006/main"/>
        </p:blipFill>
        <p:spPr>
          <a:xfrm xmlns:a="http://schemas.openxmlformats.org/drawingml/2006/main">
            <a:off x="1793984" y="1285875"/>
            <a:ext cx="3612931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DE54C-F7C9-478E-95E1-71BBCD71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46101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C77EE-A170-46A5-A92B-5285D3BE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E86A3-2AF1-477E-A576-354C06C1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430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1. 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A0ACA-ABCB-4EDF-984C-CADC0198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City shortcut, map click, or exact coordinates.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9186E-5138-44A4-AF76-028C619F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AFA12-2509-4D1F-8AA0-D9D1E8A4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C709F-6AA9-4C5D-9535-A3B2402D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2. Assessment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9607E-E507-4D99-9D76-540B0AC6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Large 1 km, 2 km, and 5 km choices explain the local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EFBB0-AE91-4FCA-8546-A2172CA1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459EF-1EBA-40FB-A63D-BCA08300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E0731-BEC5-4E78-B2DE-50AB385C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624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3.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295D1-681E-4DE0-B3B5-1DD86768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Land, forecast-rain, and river-context cards appear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D03B6-A960-4380-B577-B4892101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1970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26262"/>
                </a:solidFill>
              </a:defRPr>
            </a:defPPr>
            <a:lvl1pPr algn="l">
              <a:defRPr sz="1200" b="0">
                <a:solidFill>
                  <a:srgbClr val="526262"/>
                </a:solidFill>
              </a:defRPr>
            </a:lvl1pPr>
            <a:lvl2pPr algn="l">
              <a:defRPr sz="1200" b="0">
                <a:solidFill>
                  <a:srgbClr val="526262"/>
                </a:solidFill>
              </a:defRPr>
            </a:lvl2pPr>
            <a:lvl3pPr algn="l">
              <a:defRPr sz="1200" b="0">
                <a:solidFill>
                  <a:srgbClr val="526262"/>
                </a:solidFill>
              </a:defRPr>
            </a:lvl3pPr>
            <a:lvl4pPr algn="l">
              <a:defRPr sz="1200" b="0">
                <a:solidFill>
                  <a:srgbClr val="526262"/>
                </a:solidFill>
              </a:defRPr>
            </a:lvl4pPr>
            <a:lvl5pPr algn="l">
              <a:defRPr sz="1200" b="0">
                <a:solidFill>
                  <a:srgbClr val="526262"/>
                </a:solidFill>
              </a:defRPr>
            </a:lvl5pPr>
            <a:lvl6pPr algn="l">
              <a:defRPr sz="1200" b="0">
                <a:solidFill>
                  <a:srgbClr val="526262"/>
                </a:solidFill>
              </a:defRPr>
            </a:lvl6pPr>
            <a:lvl7pPr algn="l">
              <a:defRPr sz="1200" b="0">
                <a:solidFill>
                  <a:srgbClr val="526262"/>
                </a:solidFill>
              </a:defRPr>
            </a:lvl7pPr>
            <a:lvl8pPr algn="l">
              <a:defRPr sz="1200" b="0">
                <a:solidFill>
                  <a:srgbClr val="526262"/>
                </a:solidFill>
              </a:defRPr>
            </a:lvl8pPr>
            <a:lvl9pPr algn="l">
              <a:defRPr sz="120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262"/>
                </a:solidFill>
              </a:defRPr>
            </a:pPr>
            <a:r>
              <a:rPr sz="1200" b="0">
                <a:solidFill>
                  <a:srgbClr val="526262"/>
                </a:solidFill>
              </a:rPr>
              <a:t>Technical evidence, source details, comparisons, and print output remain available in disclosures.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E8C18-0C3F-44A5-B448-E8754EA7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47E10-1BAE-4E58-AE7D-333EDE2A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467293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DE4AE-9BD9-4019-92DA-C7BB8E37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7E274-F620-4FB6-89D6-A72E8CFE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Verified live Chennai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24B7B-6621-4979-8844-D83F6A4C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complete 2 km run used mounted terrain tiles, imported HydroSHEDS data, and live Open-Meteo rainfall.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F7685-7368-4726-AA10-58EE0A8E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A299A-5D50-4D76-9CC5-12FFC2EA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65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8DC47-8E06-45F4-9D11-C790404D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relative terrain susceptibility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A6307-DF32-4236-8679-D3B86709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0.97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E3EEF-32FE-46FC-A9E8-455F0428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 terrain-cell ratio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65FC4-26DC-4FC6-8C16-65939F02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18.6 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371C8-5364-47BD-8FF8-AAE409AD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48-hour rainfall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CCE2C-3FF4-4D92-BD2F-4ECD14C5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0.26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04587-5082-434B-A005-E2EAF84F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nearest mapped river segment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201C7-B4F2-4848-A22B-6DF29FA7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4078F-7DA0-4D12-9620-AC245A48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000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2A"/>
                </a:solidFill>
              </a:defRPr>
            </a:defPPr>
            <a:lvl1pPr algn="l">
              <a:defRPr sz="1725" b="1">
                <a:solidFill>
                  <a:srgbClr val="102A2A"/>
                </a:solidFill>
              </a:defRPr>
            </a:lvl1pPr>
            <a:lvl2pPr algn="l">
              <a:defRPr sz="1725" b="1">
                <a:solidFill>
                  <a:srgbClr val="102A2A"/>
                </a:solidFill>
              </a:defRPr>
            </a:lvl2pPr>
            <a:lvl3pPr algn="l">
              <a:defRPr sz="1725" b="1">
                <a:solidFill>
                  <a:srgbClr val="102A2A"/>
                </a:solidFill>
              </a:defRPr>
            </a:lvl3pPr>
            <a:lvl4pPr algn="l">
              <a:defRPr sz="1725" b="1">
                <a:solidFill>
                  <a:srgbClr val="102A2A"/>
                </a:solidFill>
              </a:defRPr>
            </a:lvl4pPr>
            <a:lvl5pPr algn="l">
              <a:defRPr sz="1725" b="1">
                <a:solidFill>
                  <a:srgbClr val="102A2A"/>
                </a:solidFill>
              </a:defRPr>
            </a:lvl5pPr>
            <a:lvl6pPr algn="l">
              <a:defRPr sz="1725" b="1">
                <a:solidFill>
                  <a:srgbClr val="102A2A"/>
                </a:solidFill>
              </a:defRPr>
            </a:lvl6pPr>
            <a:lvl7pPr algn="l">
              <a:defRPr sz="1725" b="1">
                <a:solidFill>
                  <a:srgbClr val="102A2A"/>
                </a:solidFill>
              </a:defRPr>
            </a:lvl7pPr>
            <a:lvl8pPr algn="l">
              <a:defRPr sz="1725" b="1">
                <a:solidFill>
                  <a:srgbClr val="102A2A"/>
                </a:solidFill>
              </a:defRPr>
            </a:lvl8pPr>
            <a:lvl9pPr algn="l">
              <a:defRPr sz="17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Terrain, rainfall, containing basin, upstream context, and nearby river context all reached a complete result for the selected Chennai 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9A03A-1ADF-4ED6-9181-FE68BB8C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730FC-2585-44C4-BCCA-147786C9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0D6B5E"/>
                </a:solidFill>
              </a:defRPr>
            </a:defPPr>
            <a:lvl1pPr algn="ctr">
              <a:defRPr sz="975" b="1">
                <a:solidFill>
                  <a:srgbClr val="0D6B5E"/>
                </a:solidFill>
              </a:defRPr>
            </a:lvl1pPr>
            <a:lvl2pPr algn="ctr">
              <a:defRPr sz="975" b="1">
                <a:solidFill>
                  <a:srgbClr val="0D6B5E"/>
                </a:solidFill>
              </a:defRPr>
            </a:lvl2pPr>
            <a:lvl3pPr algn="ctr">
              <a:defRPr sz="975" b="1">
                <a:solidFill>
                  <a:srgbClr val="0D6B5E"/>
                </a:solidFill>
              </a:defRPr>
            </a:lvl3pPr>
            <a:lvl4pPr algn="ctr">
              <a:defRPr sz="975" b="1">
                <a:solidFill>
                  <a:srgbClr val="0D6B5E"/>
                </a:solidFill>
              </a:defRPr>
            </a:lvl4pPr>
            <a:lvl5pPr algn="ctr">
              <a:defRPr sz="975" b="1">
                <a:solidFill>
                  <a:srgbClr val="0D6B5E"/>
                </a:solidFill>
              </a:defRPr>
            </a:lvl5pPr>
            <a:lvl6pPr algn="ctr">
              <a:defRPr sz="975" b="1">
                <a:solidFill>
                  <a:srgbClr val="0D6B5E"/>
                </a:solidFill>
              </a:defRPr>
            </a:lvl6pPr>
            <a:lvl7pPr algn="ctr">
              <a:defRPr sz="975" b="1">
                <a:solidFill>
                  <a:srgbClr val="0D6B5E"/>
                </a:solidFill>
              </a:defRPr>
            </a:lvl7pPr>
            <a:lvl8pPr algn="ctr">
              <a:defRPr sz="975" b="1">
                <a:solidFill>
                  <a:srgbClr val="0D6B5E"/>
                </a:solidFill>
              </a:defRPr>
            </a:lvl8pPr>
            <a:lvl9pPr algn="ctr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28,907 basin polygons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64856-C11E-4C09-B045-9F712D88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6D356-C4FD-441A-AF7F-A5ED9CC5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407BC1"/>
                </a:solidFill>
              </a:defRPr>
            </a:defPPr>
            <a:lvl1pPr algn="ctr">
              <a:defRPr sz="975" b="1">
                <a:solidFill>
                  <a:srgbClr val="407BC1"/>
                </a:solidFill>
              </a:defRPr>
            </a:lvl1pPr>
            <a:lvl2pPr algn="ctr">
              <a:defRPr sz="975" b="1">
                <a:solidFill>
                  <a:srgbClr val="407BC1"/>
                </a:solidFill>
              </a:defRPr>
            </a:lvl2pPr>
            <a:lvl3pPr algn="ctr">
              <a:defRPr sz="975" b="1">
                <a:solidFill>
                  <a:srgbClr val="407BC1"/>
                </a:solidFill>
              </a:defRPr>
            </a:lvl3pPr>
            <a:lvl4pPr algn="ctr">
              <a:defRPr sz="975" b="1">
                <a:solidFill>
                  <a:srgbClr val="407BC1"/>
                </a:solidFill>
              </a:defRPr>
            </a:lvl4pPr>
            <a:lvl5pPr algn="ctr">
              <a:defRPr sz="975" b="1">
                <a:solidFill>
                  <a:srgbClr val="407BC1"/>
                </a:solidFill>
              </a:defRPr>
            </a:lvl5pPr>
            <a:lvl6pPr algn="ctr">
              <a:defRPr sz="975" b="1">
                <a:solidFill>
                  <a:srgbClr val="407BC1"/>
                </a:solidFill>
              </a:defRPr>
            </a:lvl6pPr>
            <a:lvl7pPr algn="ctr">
              <a:defRPr sz="975" b="1">
                <a:solidFill>
                  <a:srgbClr val="407BC1"/>
                </a:solidFill>
              </a:defRPr>
            </a:lvl7pPr>
            <a:lvl8pPr algn="ctr">
              <a:defRPr sz="975" b="1">
                <a:solidFill>
                  <a:srgbClr val="407BC1"/>
                </a:solidFill>
              </a:defRPr>
            </a:lvl8pPr>
            <a:lvl9pPr algn="ctr">
              <a:defRPr sz="97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407BC1"/>
                </a:solidFill>
              </a:defRPr>
            </a:pPr>
            <a:r>
              <a:rPr sz="975" b="1">
                <a:solidFill>
                  <a:srgbClr val="407BC1"/>
                </a:solidFill>
              </a:rPr>
              <a:t>1,428,959 river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06F19-73CF-462C-BE4A-FA7BA95C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5F8"/>
          </a:solidFill>
          <a:ln xmlns:a="http://schemas.openxmlformats.org/drawingml/2006/main" w="9525">
            <a:solidFill>
              <a:srgbClr val="E6F5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2E81C-4597-4A7F-8771-E8FC3725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6B6CF"/>
                </a:solidFill>
              </a:defRPr>
            </a:defPPr>
            <a:lvl1pPr algn="ctr">
              <a:defRPr sz="975" b="1">
                <a:solidFill>
                  <a:srgbClr val="26B6CF"/>
                </a:solidFill>
              </a:defRPr>
            </a:lvl1pPr>
            <a:lvl2pPr algn="ctr">
              <a:defRPr sz="975" b="1">
                <a:solidFill>
                  <a:srgbClr val="26B6CF"/>
                </a:solidFill>
              </a:defRPr>
            </a:lvl2pPr>
            <a:lvl3pPr algn="ctr">
              <a:defRPr sz="975" b="1">
                <a:solidFill>
                  <a:srgbClr val="26B6CF"/>
                </a:solidFill>
              </a:defRPr>
            </a:lvl3pPr>
            <a:lvl4pPr algn="ctr">
              <a:defRPr sz="975" b="1">
                <a:solidFill>
                  <a:srgbClr val="26B6CF"/>
                </a:solidFill>
              </a:defRPr>
            </a:lvl4pPr>
            <a:lvl5pPr algn="ctr">
              <a:defRPr sz="975" b="1">
                <a:solidFill>
                  <a:srgbClr val="26B6CF"/>
                </a:solidFill>
              </a:defRPr>
            </a:lvl5pPr>
            <a:lvl6pPr algn="ctr">
              <a:defRPr sz="975" b="1">
                <a:solidFill>
                  <a:srgbClr val="26B6CF"/>
                </a:solidFill>
              </a:defRPr>
            </a:lvl6pPr>
            <a:lvl7pPr algn="ctr">
              <a:defRPr sz="975" b="1">
                <a:solidFill>
                  <a:srgbClr val="26B6CF"/>
                </a:solidFill>
              </a:defRPr>
            </a:lvl7pPr>
            <a:lvl8pPr algn="ctr">
              <a:defRPr sz="975" b="1">
                <a:solidFill>
                  <a:srgbClr val="26B6CF"/>
                </a:solidFill>
              </a:defRPr>
            </a:lvl8pPr>
            <a:lvl9pPr algn="ctr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Docker app + DB + worker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912FA-043B-4428-9DD4-5DA8B6B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197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00F61-5357-421B-A690-EE092D6F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19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E86F51"/>
                </a:solidFill>
              </a:defRPr>
            </a:defPPr>
            <a:lvl1pPr algn="ctr">
              <a:defRPr sz="975" b="1">
                <a:solidFill>
                  <a:srgbClr val="E86F51"/>
                </a:solidFill>
              </a:defRPr>
            </a:lvl1pPr>
            <a:lvl2pPr algn="ctr">
              <a:defRPr sz="975" b="1">
                <a:solidFill>
                  <a:srgbClr val="E86F51"/>
                </a:solidFill>
              </a:defRPr>
            </a:lvl2pPr>
            <a:lvl3pPr algn="ctr">
              <a:defRPr sz="975" b="1">
                <a:solidFill>
                  <a:srgbClr val="E86F51"/>
                </a:solidFill>
              </a:defRPr>
            </a:lvl3pPr>
            <a:lvl4pPr algn="ctr">
              <a:defRPr sz="975" b="1">
                <a:solidFill>
                  <a:srgbClr val="E86F51"/>
                </a:solidFill>
              </a:defRPr>
            </a:lvl4pPr>
            <a:lvl5pPr algn="ctr">
              <a:defRPr sz="975" b="1">
                <a:solidFill>
                  <a:srgbClr val="E86F51"/>
                </a:solidFill>
              </a:defRPr>
            </a:lvl5pPr>
            <a:lvl6pPr algn="ctr">
              <a:defRPr sz="975" b="1">
                <a:solidFill>
                  <a:srgbClr val="E86F51"/>
                </a:solidFill>
              </a:defRPr>
            </a:lvl6pPr>
            <a:lvl7pPr algn="ctr">
              <a:defRPr sz="975" b="1">
                <a:solidFill>
                  <a:srgbClr val="E86F51"/>
                </a:solidFill>
              </a:defRPr>
            </a:lvl7pPr>
            <a:lvl8pPr algn="ctr">
              <a:defRPr sz="975" b="1">
                <a:solidFill>
                  <a:srgbClr val="E86F51"/>
                </a:solidFill>
              </a:defRPr>
            </a:lvl8pPr>
            <a:lvl9pPr algn="ctr">
              <a:defRPr sz="97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E86F51"/>
                </a:solidFill>
              </a:defRPr>
            </a:pPr>
            <a:r>
              <a:rPr sz="975" b="1">
                <a:solidFill>
                  <a:srgbClr val="E86F51"/>
                </a:solidFill>
              </a:rPr>
              <a:t>Explicit partial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65C91-65B9-4607-9BA7-2E33B6CC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A846A-0DE9-4F9C-B678-0870A95D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98769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57401-98A2-4FA5-B7D5-270C367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6978B-08E7-4ACD-A120-1F2E1C9E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Research lab: two related ML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59463-998B-4D84-BF9B-0D0798C7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models study historical observed water. They do not produce the resident terrain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A4FA3-741A-4E26-BD87-C920FC41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60481-5D6E-49B4-98E8-D632372A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91189-3E88-4849-8978-591F780F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BF3F5-E692-48F0-9541-627F81D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Whole-chip 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D421F-6047-4FA6-BE97-EDE87326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Does this 512 × 512 chip contain at least 5% labelled observed water?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spatial gradient baseline and rainfall LSTM.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one probability and a thresholded class.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9017A-E207-455E-97E5-140E5D00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6DA34-15DF-415F-A420-3FFA402E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73170-5687-4344-B513-6225737E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Pixel water segmentation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68AC8-D8F6-438E-8A2F-1FB27426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Which pixels match the verified observed-water label?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Extra Trees and a three-scale two-band U-Net.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a water mask plus error overlay.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D2AEE-74A3-48CE-BBB8-2C22631A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8966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A8FE2-CA1F-4B4B-8136-665E276D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Training and evaluation stay in research/. The resident API never treats these predictions as warnings or property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30A7A-F0C1-43DB-9CBE-7736E4D9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8DBE5-D005-4AAB-A457-C6F08CA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348096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74F7F-0473-4FFE-9F1B-0AD5057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E0D20-EF4E-4FC7-AE3F-5D0D35C6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Evaluation prevents same-event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AE151-FB57-4511-9585-4C87A242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Validation selects checkpoints and thresholds; the test events remain unseen.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CA8A7-69FC-4F2F-8187-33AD0556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2F3C7-F16D-4745-8904-8CA10152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3833E-E8E4-4A96-BC67-9D5031B8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D2F9D-5B8A-415F-B351-B8FE9322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242 chips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A6741-D640-4A1C-A540-BD9D4CFE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Six complete-rainfall events fit model weights.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E1B57-F304-49C8-9768-21DAB066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C32DB-79F7-4282-A68D-DD250BEB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743E1-9617-437B-AF71-6E753823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87 chips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51731-CA6B-46D6-95D2-145F18AA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USA and Sri Lanka select checkpoint and threshold.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0FF01-8462-425C-93D4-93D16E21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0C4A1-53C0-4470-A2BA-76899914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43132-EFAD-404F-8110-6DC2C19E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81 chips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54905-30A1-4BD3-BB13-9854DFA5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Bolivia and Paraguay form the held-out evaluation.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A482D-59EF-4E40-9D53-476FE302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Spain is excluded because its historical rainfall sequence is incomplete. Missing values are not imputed.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C29DB-E5F1-471E-8244-89990A17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D6B5E"/>
                </a:solidFill>
              </a:defRPr>
            </a:defPPr>
            <a:lvl1pPr algn="ctr">
              <a:defRPr sz="1650" b="1">
                <a:solidFill>
                  <a:srgbClr val="0D6B5E"/>
                </a:solidFill>
              </a:defRPr>
            </a:lvl1pPr>
            <a:lvl2pPr algn="ctr">
              <a:defRPr sz="1650" b="1">
                <a:solidFill>
                  <a:srgbClr val="0D6B5E"/>
                </a:solidFill>
              </a:defRPr>
            </a:lvl2pPr>
            <a:lvl3pPr algn="ctr">
              <a:defRPr sz="1650" b="1">
                <a:solidFill>
                  <a:srgbClr val="0D6B5E"/>
                </a:solidFill>
              </a:defRPr>
            </a:lvl3pPr>
            <a:lvl4pPr algn="ctr">
              <a:defRPr sz="1650" b="1">
                <a:solidFill>
                  <a:srgbClr val="0D6B5E"/>
                </a:solidFill>
              </a:defRPr>
            </a:lvl4pPr>
            <a:lvl5pPr algn="ctr">
              <a:defRPr sz="1650" b="1">
                <a:solidFill>
                  <a:srgbClr val="0D6B5E"/>
                </a:solidFill>
              </a:defRPr>
            </a:lvl5pPr>
            <a:lvl6pPr algn="ctr">
              <a:defRPr sz="1650" b="1">
                <a:solidFill>
                  <a:srgbClr val="0D6B5E"/>
                </a:solidFill>
              </a:defRPr>
            </a:lvl6pPr>
            <a:lvl7pPr algn="ctr">
              <a:defRPr sz="1650" b="1">
                <a:solidFill>
                  <a:srgbClr val="0D6B5E"/>
                </a:solidFill>
              </a:defRPr>
            </a:lvl7pPr>
            <a:lvl8pPr algn="ctr">
              <a:defRPr sz="1650" b="1">
                <a:solidFill>
                  <a:srgbClr val="0D6B5E"/>
                </a:solidFill>
              </a:defRPr>
            </a:lvl8pPr>
            <a:lvl9pPr algn="ctr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Event-held-out evaluation is harder and more honest than a random chip split.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D1CCE-5DBB-4760-A214-10737194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28C0A-428E-430A-A959-5FB69597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34396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B5AA0-461F-471D-9F5A-401E11C5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28C37-E779-427A-AE19-D0FEA508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How the models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3DAAE-3797-4008-818C-9A044CD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63EBA-D4BB-4BD3-A1FC-99D50A6D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BD37D-8F1D-4C64-9E7B-EF1A7E84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D1568-F5C5-4377-96E7-98BAB273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BE171-11C5-40E3-AAE4-456C979F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Historical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5292B-1C1B-45A3-B875-D674B606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Sentinel-1 VV/VH radar and 60 days of CHIRPS rain.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637B5-1193-4D4A-87F7-224D5157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B701B-2825-46C4-B46E-11900147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1BB26-9AB5-493D-8ECB-7C46FFDF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F7142-D8A0-43E9-8495-FE64F789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0147F-B4ED-4800-86B3-41901847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summaries or an LSTM estimate chip-level water.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AB0EF-11D6-4263-B8C7-229BBE42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EA68D-9084-42D1-9641-603CA39F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98096-0D80-4CD5-AB06-DDB06D0D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CBF6B-B2D1-4386-AC8B-7BF83484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Segmentation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8811D-C7BB-43C1-8071-D277D86C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label each valid pixel.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FCBA8-41ED-4705-B591-088DF68C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DE162-E5F6-4256-A98F-209B015A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8725A-1F19-48C6-A75B-0C6FCCD2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Spatial gradient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3448A-3BEF-40E5-82DE-C465AA04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VV/VH percentiles, distribution spread, cross-polarisation summaries, texture gradients, and transformed rainfall.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B38F2-34EE-4D7E-8903-2C9EFA21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C647E-A514-4D8A-97DB-22E4BBAD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FC754-8F02-4353-867F-6E54F2C8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Three-scale U-Net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64B23-3B95-4BB3-A839-E698D5E6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Two radar bands, augmented 128 × 128 crops, masked BCE plus Dice loss, and overlapping tiled inference.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A34F7-721E-4174-BB77-2E9D90B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lab places both tasks beside the same held-out event so users can inspect agreement and failure.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2F7B41-604B-4423-BA00-68C85D1E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2D032C-D55B-4546-9565-8900B7D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18250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D4196-6E8C-41B9-8B65-826800C8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625CD-B3F0-4277-815E-99815F74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Held-out results on Bolivia and Paraguay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91E7A-899F-4F0A-B4BE-EA03B081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Scores come from 81 chips across two unseen events and remain exploratory.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7D5D4-7EDF-4167-86F7-5B6F486F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DA43188-629F-47CC-8F7A-3E7B149CE4E5}"/>
              </a:ext>
            </a:extLst>
          </p:cNvPr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5334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776b9f08c1461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681DD-6117-4BFD-A34A-E16F962A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1244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F6338-6DC1-4A32-847A-9236E63F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0.725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88FE3-AA88-4041-A8C3-1FF8BA45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segmentation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6A59C-2BB6-48D9-A57F-907A33C5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0.569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E95C0-F81F-4862-AA1B-6715B0FA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intersection-over-union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31B06-6C5B-4A6B-8DDC-36E19907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E0CCC-2C60-43E2-92A5-C42BE5C1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classification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0BC90-233F-46ED-8CAF-0ED2A634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72043-E1C3-4F1B-A86F-00CA1116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8C7FB-F4B8-4CF9-8EB8-5CF2DACE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The LSTM reached PR-AUC 0.762, but threshold transfer reduced F1 to 0.293.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005D5-B226-47A3-88F6-180A74F1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526262"/>
                </a:solidFill>
              </a:defRPr>
            </a:defPPr>
            <a:lvl1pPr algn="ctr">
              <a:defRPr sz="1200" b="1">
                <a:solidFill>
                  <a:srgbClr val="526262"/>
                </a:solidFill>
              </a:defRPr>
            </a:lvl1pPr>
            <a:lvl2pPr algn="ctr">
              <a:defRPr sz="1200" b="1">
                <a:solidFill>
                  <a:srgbClr val="526262"/>
                </a:solidFill>
              </a:defRPr>
            </a:lvl2pPr>
            <a:lvl3pPr algn="ctr">
              <a:defRPr sz="1200" b="1">
                <a:solidFill>
                  <a:srgbClr val="526262"/>
                </a:solidFill>
              </a:defRPr>
            </a:lvl3pPr>
            <a:lvl4pPr algn="ctr">
              <a:defRPr sz="1200" b="1">
                <a:solidFill>
                  <a:srgbClr val="526262"/>
                </a:solidFill>
              </a:defRPr>
            </a:lvl4pPr>
            <a:lvl5pPr algn="ctr">
              <a:defRPr sz="1200" b="1">
                <a:solidFill>
                  <a:srgbClr val="526262"/>
                </a:solidFill>
              </a:defRPr>
            </a:lvl5pPr>
            <a:lvl6pPr algn="ctr">
              <a:defRPr sz="1200" b="1">
                <a:solidFill>
                  <a:srgbClr val="526262"/>
                </a:solidFill>
              </a:defRPr>
            </a:lvl6pPr>
            <a:lvl7pPr algn="ctr">
              <a:defRPr sz="1200" b="1">
                <a:solidFill>
                  <a:srgbClr val="526262"/>
                </a:solidFill>
              </a:defRPr>
            </a:lvl7pPr>
            <a:lvl8pPr algn="ctr">
              <a:defRPr sz="1200" b="1">
                <a:solidFill>
                  <a:srgbClr val="526262"/>
                </a:solidFill>
              </a:defRPr>
            </a:lvl8pPr>
            <a:lvl9pPr algn="ctr">
              <a:defRPr sz="120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26262"/>
                </a:solidFill>
              </a:defRPr>
            </a:pPr>
            <a:r>
              <a:rPr sz="1200" b="1">
                <a:solidFill>
                  <a:srgbClr val="526262"/>
                </a:solidFill>
              </a:rPr>
              <a:t>Classification and segmentation scores describe different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A176C-A816-4D2F-A621-453853B3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06F6A-D5C4-44D8-9F93-ACCF81F7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856654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1043C-2D8A-439C-B4A7-2E9A063D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80B8A-8896-4C01-A482-3C2F1A26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Historical Event Lab: comparison in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FDA01-4485-49A7-8313-35DD51FE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CBC8"/>
                </a:solidFill>
              </a:defRPr>
            </a:defPPr>
            <a:lvl1pPr algn="l">
              <a:defRPr sz="1125" b="0">
                <a:solidFill>
                  <a:srgbClr val="B9CBC8"/>
                </a:solidFill>
              </a:defRPr>
            </a:lvl1pPr>
            <a:lvl2pPr algn="l">
              <a:defRPr sz="1125" b="0">
                <a:solidFill>
                  <a:srgbClr val="B9CBC8"/>
                </a:solidFill>
              </a:defRPr>
            </a:lvl2pPr>
            <a:lvl3pPr algn="l">
              <a:defRPr sz="1125" b="0">
                <a:solidFill>
                  <a:srgbClr val="B9CBC8"/>
                </a:solidFill>
              </a:defRPr>
            </a:lvl3pPr>
            <a:lvl4pPr algn="l">
              <a:defRPr sz="1125" b="0">
                <a:solidFill>
                  <a:srgbClr val="B9CBC8"/>
                </a:solidFill>
              </a:defRPr>
            </a:lvl4pPr>
            <a:lvl5pPr algn="l">
              <a:defRPr sz="1125" b="0">
                <a:solidFill>
                  <a:srgbClr val="B9CBC8"/>
                </a:solidFill>
              </a:defRPr>
            </a:lvl5pPr>
            <a:lvl6pPr algn="l">
              <a:defRPr sz="1125" b="0">
                <a:solidFill>
                  <a:srgbClr val="B9CBC8"/>
                </a:solidFill>
              </a:defRPr>
            </a:lvl6pPr>
            <a:lvl7pPr algn="l">
              <a:defRPr sz="1125" b="0">
                <a:solidFill>
                  <a:srgbClr val="B9CBC8"/>
                </a:solidFill>
              </a:defRPr>
            </a:lvl7pPr>
            <a:lvl8pPr algn="l">
              <a:defRPr sz="1125" b="0">
                <a:solidFill>
                  <a:srgbClr val="B9CBC8"/>
                </a:solidFill>
              </a:defRPr>
            </a:lvl8pPr>
            <a:lvl9pPr algn="l">
              <a:defRPr sz="1125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BC8"/>
                </a:solidFill>
              </a:defRPr>
            </a:pPr>
            <a:r>
              <a:rPr sz="1125" b="0">
                <a:solidFill>
                  <a:srgbClr val="B9CBC8"/>
                </a:solidFill>
              </a:rPr>
              <a:t>Select an event and chip, change model, adjust opacity, and inspect run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53B94-E13D-471B-B202-F4BBC178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37D31-AD64-4AD2-9A29-36ED5792F0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4990dd6ef49aa"/>
          <a:stretch xmlns:a="http://schemas.openxmlformats.org/drawingml/2006/main"/>
        </p:blipFill>
        <p:spPr>
          <a:xfrm xmlns:a="http://schemas.openxmlformats.org/drawingml/2006/main">
            <a:off x="1785614" y="1257300"/>
            <a:ext cx="362967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4A75C-BA8D-4E4C-BC1A-2A951AFB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7D01E-DC1C-44EC-A048-595477CF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B4DA4-84F4-4C6D-BF6D-B2C0A36F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002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Held-out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D9823-7945-47B7-9D10-5D930CCB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IoU/F1 appear beside chip-level classification.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8E1E3-84A6-4D24-A10F-34CEB098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B3498-0FEB-4E33-B68E-47E0FB7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68DD8-FFE6-4580-8C89-FD796C87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Visible threshold transfer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853CD-C235-43B2-BD17-D0ADD363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original LSTM remains visible because weak transfer is useful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9A460-1910-41CE-8F25-203C1D11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7DA49-0835-4A9F-8D9C-82542A16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E5249-0986-4903-BB2A-B1A4D690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Reproducible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03D9D-F4A8-4A13-92B3-31FD0802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815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export points to the accepted baseline artifact and frozen segmentation run.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6ADE4-AC2D-4534-83AB-F5EAFF82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AA3A0"/>
                </a:solidFill>
              </a:defRPr>
            </a:defPPr>
            <a:lvl1pPr algn="l">
              <a:defRPr sz="825" b="0">
                <a:solidFill>
                  <a:srgbClr val="8AA3A0"/>
                </a:solidFill>
              </a:defRPr>
            </a:lvl1pPr>
            <a:lvl2pPr algn="l">
              <a:defRPr sz="825" b="0">
                <a:solidFill>
                  <a:srgbClr val="8AA3A0"/>
                </a:solidFill>
              </a:defRPr>
            </a:lvl2pPr>
            <a:lvl3pPr algn="l">
              <a:defRPr sz="825" b="0">
                <a:solidFill>
                  <a:srgbClr val="8AA3A0"/>
                </a:solidFill>
              </a:defRPr>
            </a:lvl3pPr>
            <a:lvl4pPr algn="l">
              <a:defRPr sz="825" b="0">
                <a:solidFill>
                  <a:srgbClr val="8AA3A0"/>
                </a:solidFill>
              </a:defRPr>
            </a:lvl4pPr>
            <a:lvl5pPr algn="l">
              <a:defRPr sz="825" b="0">
                <a:solidFill>
                  <a:srgbClr val="8AA3A0"/>
                </a:solidFill>
              </a:defRPr>
            </a:lvl5pPr>
            <a:lvl6pPr algn="l">
              <a:defRPr sz="825" b="0">
                <a:solidFill>
                  <a:srgbClr val="8AA3A0"/>
                </a:solidFill>
              </a:defRPr>
            </a:lvl6pPr>
            <a:lvl7pPr algn="l">
              <a:defRPr sz="825" b="0">
                <a:solidFill>
                  <a:srgbClr val="8AA3A0"/>
                </a:solidFill>
              </a:defRPr>
            </a:lvl7pPr>
            <a:lvl8pPr algn="l">
              <a:defRPr sz="825" b="0">
                <a:solidFill>
                  <a:srgbClr val="8AA3A0"/>
                </a:solidFill>
              </a:defRPr>
            </a:lvl8pPr>
            <a:lvl9pPr algn="l">
              <a:defRPr sz="825" b="0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8AA3A0"/>
                </a:solidFill>
              </a:defRPr>
            </a:pPr>
            <a:r>
              <a:rPr sz="825" b="0">
                <a:solidFill>
                  <a:srgbClr val="8AA3A0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E6540-1030-4673-B7FC-22F827E6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8AA3A0"/>
                </a:solidFill>
              </a:defRPr>
            </a:defPPr>
            <a:lvl1pPr algn="r">
              <a:defRPr sz="825" b="1">
                <a:solidFill>
                  <a:srgbClr val="8AA3A0"/>
                </a:solidFill>
              </a:defRPr>
            </a:lvl1pPr>
            <a:lvl2pPr algn="r">
              <a:defRPr sz="825" b="1">
                <a:solidFill>
                  <a:srgbClr val="8AA3A0"/>
                </a:solidFill>
              </a:defRPr>
            </a:lvl2pPr>
            <a:lvl3pPr algn="r">
              <a:defRPr sz="825" b="1">
                <a:solidFill>
                  <a:srgbClr val="8AA3A0"/>
                </a:solidFill>
              </a:defRPr>
            </a:lvl3pPr>
            <a:lvl4pPr algn="r">
              <a:defRPr sz="825" b="1">
                <a:solidFill>
                  <a:srgbClr val="8AA3A0"/>
                </a:solidFill>
              </a:defRPr>
            </a:lvl4pPr>
            <a:lvl5pPr algn="r">
              <a:defRPr sz="825" b="1">
                <a:solidFill>
                  <a:srgbClr val="8AA3A0"/>
                </a:solidFill>
              </a:defRPr>
            </a:lvl5pPr>
            <a:lvl6pPr algn="r">
              <a:defRPr sz="825" b="1">
                <a:solidFill>
                  <a:srgbClr val="8AA3A0"/>
                </a:solidFill>
              </a:defRPr>
            </a:lvl6pPr>
            <a:lvl7pPr algn="r">
              <a:defRPr sz="825" b="1">
                <a:solidFill>
                  <a:srgbClr val="8AA3A0"/>
                </a:solidFill>
              </a:defRPr>
            </a:lvl7pPr>
            <a:lvl8pPr algn="r">
              <a:defRPr sz="825" b="1">
                <a:solidFill>
                  <a:srgbClr val="8AA3A0"/>
                </a:solidFill>
              </a:defRPr>
            </a:lvl8pPr>
            <a:lvl9pPr algn="r">
              <a:defRPr sz="825" b="1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AA3A0"/>
                </a:solidFill>
              </a:defRPr>
            </a:pPr>
            <a:r>
              <a:rPr sz="825" b="1">
                <a:solidFill>
                  <a:srgbClr val="8AA3A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476293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E2BB8-3C79-4903-A0B8-61B3B08B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8ED87-89D4-4045-8A91-21176B68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Failure analysis on a held-out satellite chip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5AFD0-C7FC-4553-9CE6-1BB6C2C5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Bolivia_103757 separates radar input, verified water, prediction, and error.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9BBED-231E-486A-82AD-0910F342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45E50-80E7-4981-8E6B-519E4D35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Radar input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74DD8-BCDB-4070-8C52-63BE0F639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f00a6acf74912"/>
          <a:stretch xmlns:a="http://schemas.openxmlformats.org/drawingml/2006/main"/>
        </p:blipFill>
        <p:spPr>
          <a:xfrm xmlns:a="http://schemas.openxmlformats.org/drawingml/2006/main">
            <a:off x="647700" y="18478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1BAC8-146B-461C-88E6-F60C0177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Verified label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61986-CE2B-4E7E-B253-5797118D3F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0256c4b78413e"/>
          <a:stretch xmlns:a="http://schemas.openxmlformats.org/drawingml/2006/main"/>
        </p:blipFill>
        <p:spPr>
          <a:xfrm xmlns:a="http://schemas.openxmlformats.org/drawingml/2006/main">
            <a:off x="3371850" y="18478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91BE2-A660-479D-A5EE-B65CEACE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U-Net prediction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7DB55-397A-4ED7-8E83-6A2F9D8EA4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c380c056546f5"/>
          <a:stretch xmlns:a="http://schemas.openxmlformats.org/drawingml/2006/main"/>
        </p:blipFill>
        <p:spPr>
          <a:xfrm xmlns:a="http://schemas.openxmlformats.org/drawingml/2006/main">
            <a:off x="6096000" y="18478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BAECC-8509-4022-A274-85AE1ADD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False and missed water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8E3ED-FE0D-4DF8-A147-52FB6D3D48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662dd1fdb43d6"/>
          <a:stretch xmlns:a="http://schemas.openxmlformats.org/drawingml/2006/main"/>
        </p:blipFill>
        <p:spPr>
          <a:xfrm xmlns:a="http://schemas.openxmlformats.org/drawingml/2006/main">
            <a:off x="8820150" y="18478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DA944-3DFF-487A-8F1F-F6A13E70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966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BC688-7E79-4566-9017-4AEA9922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526262"/>
                </a:solidFill>
              </a:defRPr>
            </a:defPPr>
            <a:lvl1pPr algn="ctr">
              <a:defRPr sz="1275" b="1">
                <a:solidFill>
                  <a:srgbClr val="526262"/>
                </a:solidFill>
              </a:defRPr>
            </a:lvl1pPr>
            <a:lvl2pPr algn="ctr">
              <a:defRPr sz="1275" b="1">
                <a:solidFill>
                  <a:srgbClr val="526262"/>
                </a:solidFill>
              </a:defRPr>
            </a:lvl2pPr>
            <a:lvl3pPr algn="ctr">
              <a:defRPr sz="1275" b="1">
                <a:solidFill>
                  <a:srgbClr val="526262"/>
                </a:solidFill>
              </a:defRPr>
            </a:lvl3pPr>
            <a:lvl4pPr algn="ctr">
              <a:defRPr sz="1275" b="1">
                <a:solidFill>
                  <a:srgbClr val="526262"/>
                </a:solidFill>
              </a:defRPr>
            </a:lvl4pPr>
            <a:lvl5pPr algn="ctr">
              <a:defRPr sz="1275" b="1">
                <a:solidFill>
                  <a:srgbClr val="526262"/>
                </a:solidFill>
              </a:defRPr>
            </a:lvl5pPr>
            <a:lvl6pPr algn="ctr">
              <a:defRPr sz="1275" b="1">
                <a:solidFill>
                  <a:srgbClr val="526262"/>
                </a:solidFill>
              </a:defRPr>
            </a:lvl6pPr>
            <a:lvl7pPr algn="ctr">
              <a:defRPr sz="1275" b="1">
                <a:solidFill>
                  <a:srgbClr val="526262"/>
                </a:solidFill>
              </a:defRPr>
            </a:lvl7pPr>
            <a:lvl8pPr algn="ctr">
              <a:defRPr sz="1275" b="1">
                <a:solidFill>
                  <a:srgbClr val="526262"/>
                </a:solidFill>
              </a:defRPr>
            </a:lvl8pPr>
            <a:lvl9pPr algn="ctr">
              <a:defRPr sz="127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526262"/>
                </a:solidFill>
              </a:defRPr>
            </a:pPr>
            <a:r>
              <a:rPr sz="1275" b="1">
                <a:solidFill>
                  <a:srgbClr val="526262"/>
                </a:solidFill>
              </a:rPr>
              <a:t>False water marks predictions outside the label. Missed water marks labelled pixels the model failed to recover. Spatial errors reveal what aggregate F1 hides.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D2CF8-AC54-451E-8F9E-32108827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6654A-077B-42A1-81E4-16A5B6A3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152699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FC5E6-5EA7-47A8-A805-B14944BD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36E79-8457-477E-884A-BFA9D765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 higher F1 can still hide a bad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A189E-E91B-431D-B771-65059D36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event-balanced LSTM v2 reached F1 0.603 by predicting every held-out chip as positive.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56997-C093-43B1-BD4C-D367B019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3B28B-0FD8-4359-893D-469A17ED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51435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3C4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81CBC-3CBE-4E10-AF55-630CF2CB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Rejected LSTM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EEDD0-25C8-482C-810E-BFFC9908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81 / 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4F49E-D65D-4D60-89D1-B3959F47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chips predicted positive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D1CDF-926D-461B-9F7C-36B60744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E83B5-D7ED-4915-B0A1-7AA7A661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true negatives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95DD4-879D-4613-9130-2C803507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The apparent F1 improvement did not represent a useful decision rule.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10901-D5DA-4E8F-BC8A-00FD8AC8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52959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BE4B8-EBD9-46F7-8F39-9CE93BE9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Accepted spatial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7CEF7-F0AE-45D8-A0C8-5A608D07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6B463-B6F8-406B-90D1-375E67A8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E5C49-480B-4FBA-BDE0-4D7B10D2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0B246-5EAB-4831-A814-042D38D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precision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F9C38-58A1-44AF-A8BF-30B54E3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It preserves positive and negative decisions, with PR-AUC 0.871 and ROC-AUC 0.909.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5F453-A1C1-402D-8D46-8CB16ED0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D6B5E"/>
                </a:solidFill>
              </a:defRPr>
            </a:defPPr>
            <a:lvl1pPr algn="ctr">
              <a:defRPr sz="1575" b="1">
                <a:solidFill>
                  <a:srgbClr val="0D6B5E"/>
                </a:solidFill>
              </a:defRPr>
            </a:lvl1pPr>
            <a:lvl2pPr algn="ctr">
              <a:defRPr sz="1575" b="1">
                <a:solidFill>
                  <a:srgbClr val="0D6B5E"/>
                </a:solidFill>
              </a:defRPr>
            </a:lvl2pPr>
            <a:lvl3pPr algn="ctr">
              <a:defRPr sz="1575" b="1">
                <a:solidFill>
                  <a:srgbClr val="0D6B5E"/>
                </a:solidFill>
              </a:defRPr>
            </a:lvl3pPr>
            <a:lvl4pPr algn="ctr">
              <a:defRPr sz="1575" b="1">
                <a:solidFill>
                  <a:srgbClr val="0D6B5E"/>
                </a:solidFill>
              </a:defRPr>
            </a:lvl4pPr>
            <a:lvl5pPr algn="ctr">
              <a:defRPr sz="1575" b="1">
                <a:solidFill>
                  <a:srgbClr val="0D6B5E"/>
                </a:solidFill>
              </a:defRPr>
            </a:lvl5pPr>
            <a:lvl6pPr algn="ctr">
              <a:defRPr sz="1575" b="1">
                <a:solidFill>
                  <a:srgbClr val="0D6B5E"/>
                </a:solidFill>
              </a:defRPr>
            </a:lvl6pPr>
            <a:lvl7pPr algn="ctr">
              <a:defRPr sz="1575" b="1">
                <a:solidFill>
                  <a:srgbClr val="0D6B5E"/>
                </a:solidFill>
              </a:defRPr>
            </a:lvl7pPr>
            <a:lvl8pPr algn="ctr">
              <a:defRPr sz="1575" b="1">
                <a:solidFill>
                  <a:srgbClr val="0D6B5E"/>
                </a:solidFill>
              </a:defRPr>
            </a:lvl8pPr>
            <a:lvl9pPr algn="ctr">
              <a:defRPr sz="15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D6B5E"/>
                </a:solidFill>
              </a:defRPr>
            </a:pPr>
            <a:r>
              <a:rPr sz="1575" b="1">
                <a:solidFill>
                  <a:srgbClr val="0D6B5E"/>
                </a:solidFill>
              </a:rPr>
              <a:t>Model selection uses the confusion pattern and threshold-independent metrics, not F1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EC71F-560E-4A23-9042-078DF073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5A002-4ACC-4F35-AC13-B2875643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368265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6F152-459B-4F94-BB67-2C5E499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FDDE3-D8A5-4AAA-9B06-BAB77ABF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  <a:lvl1pPr algn="l">
              <a:defRPr sz="2400" b="1">
                <a:solidFill>
                  <a:srgbClr val="FFFFFF"/>
                </a:solidFill>
              </a:defRPr>
            </a:lvl1pPr>
            <a:lvl2pPr algn="l">
              <a:defRPr sz="2400" b="1">
                <a:solidFill>
                  <a:srgbClr val="FFFFFF"/>
                </a:solidFill>
              </a:defRPr>
            </a:lvl2pPr>
            <a:lvl3pPr algn="l">
              <a:defRPr sz="2400" b="1">
                <a:solidFill>
                  <a:srgbClr val="FFFFFF"/>
                </a:solidFill>
              </a:defRPr>
            </a:lvl3pPr>
            <a:lvl4pPr algn="l">
              <a:defRPr sz="2400" b="1">
                <a:solidFill>
                  <a:srgbClr val="FFFFFF"/>
                </a:solidFill>
              </a:defRPr>
            </a:lvl4pPr>
            <a:lvl5pPr algn="l">
              <a:defRPr sz="2400" b="1">
                <a:solidFill>
                  <a:srgbClr val="FFFFFF"/>
                </a:solidFill>
              </a:defRPr>
            </a:lvl5pPr>
            <a:lvl6pPr algn="l">
              <a:defRPr sz="2400" b="1">
                <a:solidFill>
                  <a:srgbClr val="FFFFFF"/>
                </a:solidFill>
              </a:defRPr>
            </a:lvl6pPr>
            <a:lvl7pPr algn="l">
              <a:defRPr sz="2400" b="1">
                <a:solidFill>
                  <a:srgbClr val="FFFFFF"/>
                </a:solidFill>
              </a:defRPr>
            </a:lvl7pPr>
            <a:lvl8pPr algn="l">
              <a:defRPr sz="2400" b="1">
                <a:solidFill>
                  <a:srgbClr val="FFFFFF"/>
                </a:solidFill>
              </a:defRPr>
            </a:lvl8pPr>
            <a:lvl9pPr algn="l"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What the project now demonstrates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B7BE1-BFA0-4559-A308-B70656F6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3333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EFFF2-0A80-4E59-90B7-61C458D9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0B7D2-91E7-47D9-8553-7FF9BBF2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Working resident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B3254-A897-424D-8C1E-47FE2821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9337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Map-based local assessment, real coverage states, terrain and hydrological context, Docker deployment, and clear explanations.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1AAB3-CCCA-4731-9524-3DE0D136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57300"/>
            <a:ext cx="3333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06604-6649-4764-AC08-F0557414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573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0998C-3EFB-44AE-976C-2DD8B712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3906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Stronger ML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303AF-F587-4355-A2EA-982E9964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90700"/>
            <a:ext cx="29337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Event-held-out classification, pixel segmentation, model comparison, saved artifacts, and visible failure analysis.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EB077-93D5-4B72-AF35-5C19A8EE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57300"/>
            <a:ext cx="3333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A7F7C-24A5-4260-883A-00A53925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573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07DB6-8557-42EC-A06B-AA94F9DF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906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Responsible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01D3D-46A3-4ECD-88E9-9DA2E2F1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90700"/>
            <a:ext cx="29337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Partial coverage, exploratory metrics, label uncertainty, and no conversion of model output into a resident warning.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0BF77-AF2F-40F3-B404-81ADEB36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Recommended next phase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7D217-637F-4275-B4AE-70095448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Add more independent events and India-focused validation, then run geography-held-out folds and local hydrological validation before resident-facing ML integration.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99D03-FD9A-4BF8-BB75-5C54827C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B9CBC8"/>
                </a:solidFill>
              </a:defRPr>
            </a:defPPr>
            <a:lvl1pPr algn="ctr">
              <a:defRPr sz="1275" b="0">
                <a:solidFill>
                  <a:srgbClr val="B9CBC8"/>
                </a:solidFill>
              </a:defRPr>
            </a:lvl1pPr>
            <a:lvl2pPr algn="ctr">
              <a:defRPr sz="1275" b="0">
                <a:solidFill>
                  <a:srgbClr val="B9CBC8"/>
                </a:solidFill>
              </a:defRPr>
            </a:lvl2pPr>
            <a:lvl3pPr algn="ctr">
              <a:defRPr sz="1275" b="0">
                <a:solidFill>
                  <a:srgbClr val="B9CBC8"/>
                </a:solidFill>
              </a:defRPr>
            </a:lvl3pPr>
            <a:lvl4pPr algn="ctr">
              <a:defRPr sz="1275" b="0">
                <a:solidFill>
                  <a:srgbClr val="B9CBC8"/>
                </a:solidFill>
              </a:defRPr>
            </a:lvl4pPr>
            <a:lvl5pPr algn="ctr">
              <a:defRPr sz="1275" b="0">
                <a:solidFill>
                  <a:srgbClr val="B9CBC8"/>
                </a:solidFill>
              </a:defRPr>
            </a:lvl5pPr>
            <a:lvl6pPr algn="ctr">
              <a:defRPr sz="1275" b="0">
                <a:solidFill>
                  <a:srgbClr val="B9CBC8"/>
                </a:solidFill>
              </a:defRPr>
            </a:lvl6pPr>
            <a:lvl7pPr algn="ctr">
              <a:defRPr sz="1275" b="0">
                <a:solidFill>
                  <a:srgbClr val="B9CBC8"/>
                </a:solidFill>
              </a:defRPr>
            </a:lvl7pPr>
            <a:lvl8pPr algn="ctr">
              <a:defRPr sz="1275" b="0">
                <a:solidFill>
                  <a:srgbClr val="B9CBC8"/>
                </a:solidFill>
              </a:defRPr>
            </a:lvl8pPr>
            <a:lvl9pPr algn="ctr">
              <a:defRPr sz="1275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B9CBC8"/>
                </a:solidFill>
              </a:defRPr>
            </a:pPr>
            <a:r>
              <a:rPr sz="1275" b="0">
                <a:solidFill>
                  <a:srgbClr val="B9CBC8"/>
                </a:solidFill>
              </a:rPr>
              <a:t>FloodLens is ready as a final academic, portfolio, and research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232946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2026-10-19T13:19:38.1750000Z</dcterms:created>
  <dcterms:modified xsi:type="dcterms:W3CDTF">2026-10-19T13:19:38.1750000Z</dcterms:modified>
</coreProperties>
</file>