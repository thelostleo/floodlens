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4ff6cb46c458a" /><Relationship Type="http://schemas.openxmlformats.org/officeDocument/2006/relationships/extended-properties" Target="/docProps/app.xml" Id="R3e9e1fde4af84dff" /><Relationship Type="http://schemas.openxmlformats.org/officeDocument/2006/relationships/officeDocument" Target="/ppt/presentation.xml" Id="R5f4c05c99826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b03d48ed8458a"/>
  </p:sldMasterIdLst>
  <p:notesMasterIdLst>
    <p:notesMasterId xmlns:r="http://schemas.openxmlformats.org/officeDocument/2006/relationships" r:id="R50023b78199b418d"/>
  </p:notesMasterIdLst>
  <p:sldIdLst>
    <p:sldId xmlns:r="http://schemas.openxmlformats.org/officeDocument/2006/relationships" id="256" r:id="R992d8459a6804258"/>
    <p:sldId xmlns:r="http://schemas.openxmlformats.org/officeDocument/2006/relationships" id="257" r:id="R248aee006ff54a39"/>
    <p:sldId xmlns:r="http://schemas.openxmlformats.org/officeDocument/2006/relationships" id="258" r:id="R7415e68166334ee3"/>
    <p:sldId xmlns:r="http://schemas.openxmlformats.org/officeDocument/2006/relationships" id="259" r:id="R00ac77ff5d594b11"/>
    <p:sldId xmlns:r="http://schemas.openxmlformats.org/officeDocument/2006/relationships" id="260" r:id="Rb15edfe6620c4ea0"/>
    <p:sldId xmlns:r="http://schemas.openxmlformats.org/officeDocument/2006/relationships" id="261" r:id="Rd86bbfc80ac848b6"/>
    <p:sldId xmlns:r="http://schemas.openxmlformats.org/officeDocument/2006/relationships" id="262" r:id="R82dd066b38aa4693"/>
    <p:sldId xmlns:r="http://schemas.openxmlformats.org/officeDocument/2006/relationships" id="263" r:id="Rc7561cc8ca6a4b6d"/>
    <p:sldId xmlns:r="http://schemas.openxmlformats.org/officeDocument/2006/relationships" id="264" r:id="Radc415681e1349a0"/>
    <p:sldId xmlns:r="http://schemas.openxmlformats.org/officeDocument/2006/relationships" id="265" r:id="R7815057b56134b0d"/>
    <p:sldId xmlns:r="http://schemas.openxmlformats.org/officeDocument/2006/relationships" id="266" r:id="Ra157beb341cf47a9"/>
    <p:sldId xmlns:r="http://schemas.openxmlformats.org/officeDocument/2006/relationships" id="267" r:id="Rdeeffdc4dc704335"/>
    <p:sldId xmlns:r="http://schemas.openxmlformats.org/officeDocument/2006/relationships" id="268" r:id="Rd4d1784e7f694de6"/>
    <p:sldId xmlns:r="http://schemas.openxmlformats.org/officeDocument/2006/relationships" id="269" r:id="Rcc090779e2ab493c"/>
    <p:sldId xmlns:r="http://schemas.openxmlformats.org/officeDocument/2006/relationships" id="270" r:id="R7a0ca33950114482"/>
    <p:sldId xmlns:r="http://schemas.openxmlformats.org/officeDocument/2006/relationships" id="271" r:id="Rea3df9df3efb4540"/>
    <p:sldId xmlns:r="http://schemas.openxmlformats.org/officeDocument/2006/relationships" id="272" r:id="Rb3b3f9883f61432e"/>
    <p:sldId xmlns:r="http://schemas.openxmlformats.org/officeDocument/2006/relationships" id="273" r:id="Rd3c4b41208c44de2"/>
    <p:sldId xmlns:r="http://schemas.openxmlformats.org/officeDocument/2006/relationships" id="274" r:id="R48c05f9c4bd74471"/>
    <p:sldId xmlns:r="http://schemas.openxmlformats.org/officeDocument/2006/relationships" id="275" r:id="R4bd70d5899d343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2db77a16544eb" /><Relationship Type="http://schemas.openxmlformats.org/officeDocument/2006/relationships/slideMaster" Target="/ppt/slideMasters/slideMaster1.xml" Id="R1e8b03d48ed8458a" /><Relationship Type="http://schemas.openxmlformats.org/officeDocument/2006/relationships/notesMaster" Target="/ppt/notesMasters/notesMaster1.xml" Id="R50023b78199b418d" /><Relationship Type="http://schemas.openxmlformats.org/officeDocument/2006/relationships/presProps" Target="/ppt/presProps.xml" Id="R01d122b79c4c4d63" /><Relationship Type="http://schemas.openxmlformats.org/officeDocument/2006/relationships/tableStyles" Target="/ppt/tableStyles.xml" Id="Rac99758eeb9d4ef8" /><Relationship Type="http://schemas.openxmlformats.org/officeDocument/2006/relationships/slide" Target="/ppt/slides/slide1.xml" Id="R992d8459a6804258" /><Relationship Type="http://schemas.openxmlformats.org/officeDocument/2006/relationships/slide" Target="/ppt/slides/slide2.xml" Id="R248aee006ff54a39" /><Relationship Type="http://schemas.openxmlformats.org/officeDocument/2006/relationships/slide" Target="/ppt/slides/slide3.xml" Id="R7415e68166334ee3" /><Relationship Type="http://schemas.openxmlformats.org/officeDocument/2006/relationships/slide" Target="/ppt/slides/slide4.xml" Id="R00ac77ff5d594b11" /><Relationship Type="http://schemas.openxmlformats.org/officeDocument/2006/relationships/slide" Target="/ppt/slides/slide5.xml" Id="Rb15edfe6620c4ea0" /><Relationship Type="http://schemas.openxmlformats.org/officeDocument/2006/relationships/slide" Target="/ppt/slides/slide6.xml" Id="Rd86bbfc80ac848b6" /><Relationship Type="http://schemas.openxmlformats.org/officeDocument/2006/relationships/slide" Target="/ppt/slides/slide7.xml" Id="R82dd066b38aa4693" /><Relationship Type="http://schemas.openxmlformats.org/officeDocument/2006/relationships/slide" Target="/ppt/slides/slide8.xml" Id="Rc7561cc8ca6a4b6d" /><Relationship Type="http://schemas.openxmlformats.org/officeDocument/2006/relationships/slide" Target="/ppt/slides/slide9.xml" Id="Radc415681e1349a0" /><Relationship Type="http://schemas.openxmlformats.org/officeDocument/2006/relationships/slide" Target="/ppt/slides/slide10.xml" Id="R7815057b56134b0d" /><Relationship Type="http://schemas.openxmlformats.org/officeDocument/2006/relationships/slide" Target="/ppt/slides/slide11.xml" Id="Ra157beb341cf47a9" /><Relationship Type="http://schemas.openxmlformats.org/officeDocument/2006/relationships/slide" Target="/ppt/slides/slide12.xml" Id="Rdeeffdc4dc704335" /><Relationship Type="http://schemas.openxmlformats.org/officeDocument/2006/relationships/slide" Target="/ppt/slides/slide13.xml" Id="Rd4d1784e7f694de6" /><Relationship Type="http://schemas.openxmlformats.org/officeDocument/2006/relationships/slide" Target="/ppt/slides/slide14.xml" Id="Rcc090779e2ab493c" /><Relationship Type="http://schemas.openxmlformats.org/officeDocument/2006/relationships/slide" Target="/ppt/slides/slide15.xml" Id="R7a0ca33950114482" /><Relationship Type="http://schemas.openxmlformats.org/officeDocument/2006/relationships/slide" Target="/ppt/slides/slide16.xml" Id="Rea3df9df3efb4540" /><Relationship Type="http://schemas.openxmlformats.org/officeDocument/2006/relationships/slide" Target="/ppt/slides/slide17.xml" Id="Rb3b3f9883f61432e" /><Relationship Type="http://schemas.openxmlformats.org/officeDocument/2006/relationships/slide" Target="/ppt/slides/slide18.xml" Id="Rd3c4b41208c44de2" /><Relationship Type="http://schemas.openxmlformats.org/officeDocument/2006/relationships/slide" Target="/ppt/slides/slide19.xml" Id="R48c05f9c4bd74471" /><Relationship Type="http://schemas.openxmlformats.org/officeDocument/2006/relationships/slide" Target="/ppt/slides/slide20.xml" Id="R4bd70d5899d3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645895eb66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a433def81b4b43" /><Relationship Type="http://schemas.openxmlformats.org/officeDocument/2006/relationships/notesMaster" Target="/ppt/notesMasters/notesMaster1.xml" Id="R35fe85a3fa0a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b4491ecd943d7" /><Relationship Type="http://schemas.openxmlformats.org/officeDocument/2006/relationships/notesMaster" Target="/ppt/notesMasters/notesMaster1.xml" Id="Rf534baee609f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bfbf38ab44285" /><Relationship Type="http://schemas.openxmlformats.org/officeDocument/2006/relationships/notesMaster" Target="/ppt/notesMasters/notesMaster1.xml" Id="R5259194a83af41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1befe7c03c4faa" /><Relationship Type="http://schemas.openxmlformats.org/officeDocument/2006/relationships/notesMaster" Target="/ppt/notesMasters/notesMaster1.xml" Id="R08f5d455089e44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a8b5b3eaf4850" /><Relationship Type="http://schemas.openxmlformats.org/officeDocument/2006/relationships/notesMaster" Target="/ppt/notesMasters/notesMaster1.xml" Id="Rd85cf2f81f10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de33f92e4149f5" /><Relationship Type="http://schemas.openxmlformats.org/officeDocument/2006/relationships/notesMaster" Target="/ppt/notesMasters/notesMaster1.xml" Id="Rc958a7f02a87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5069ab4704d56" /><Relationship Type="http://schemas.openxmlformats.org/officeDocument/2006/relationships/notesMaster" Target="/ppt/notesMasters/notesMaster1.xml" Id="R3229897c532f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1b899d85774b3d" /><Relationship Type="http://schemas.openxmlformats.org/officeDocument/2006/relationships/notesMaster" Target="/ppt/notesMasters/notesMaster1.xml" Id="R2173c763351c41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1e542aee884889" /><Relationship Type="http://schemas.openxmlformats.org/officeDocument/2006/relationships/notesMaster" Target="/ppt/notesMasters/notesMaster1.xml" Id="R0dd6aacc45cc48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e640c39e724c98" /><Relationship Type="http://schemas.openxmlformats.org/officeDocument/2006/relationships/notesMaster" Target="/ppt/notesMasters/notesMaster1.xml" Id="R78ae161e30f34d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f6a00ee504773" /><Relationship Type="http://schemas.openxmlformats.org/officeDocument/2006/relationships/notesMaster" Target="/ppt/notesMasters/notesMaster1.xml" Id="Rd574ff67539d41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93da6acaa84f4f" /><Relationship Type="http://schemas.openxmlformats.org/officeDocument/2006/relationships/notesMaster" Target="/ppt/notesMasters/notesMaster1.xml" Id="R943688ac0c7e43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c2a8fe36494eb6" /><Relationship Type="http://schemas.openxmlformats.org/officeDocument/2006/relationships/notesMaster" Target="/ppt/notesMasters/notesMaster1.xml" Id="R3f5a191fd17841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a731827272470a" /><Relationship Type="http://schemas.openxmlformats.org/officeDocument/2006/relationships/notesMaster" Target="/ppt/notesMasters/notesMaster1.xml" Id="R83be2efc1a8946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a085e41f244ff3" /><Relationship Type="http://schemas.openxmlformats.org/officeDocument/2006/relationships/notesMaster" Target="/ppt/notesMasters/notesMaster1.xml" Id="Rd38ce5d6bedd4f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df53bad92a42c0" /><Relationship Type="http://schemas.openxmlformats.org/officeDocument/2006/relationships/notesMaster" Target="/ppt/notesMasters/notesMaster1.xml" Id="Rb3d1ae88cc3e41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c8e2cb55b746a4" /><Relationship Type="http://schemas.openxmlformats.org/officeDocument/2006/relationships/notesMaster" Target="/ppt/notesMasters/notesMaster1.xml" Id="R950e1762cd874d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d82107f56a4c6f" /><Relationship Type="http://schemas.openxmlformats.org/officeDocument/2006/relationships/notesMaster" Target="/ppt/notesMasters/notesMaster1.xml" Id="R66c9dc39fd2c4f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a9a3c41e2243bb" /><Relationship Type="http://schemas.openxmlformats.org/officeDocument/2006/relationships/notesMaster" Target="/ppt/notesMasters/notesMaster1.xml" Id="R2f766259bfcd44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edda2b8acb424d" /><Relationship Type="http://schemas.openxmlformats.org/officeDocument/2006/relationships/notesMaster" Target="/ppt/notesMasters/notesMaster1.xml" Id="R8ffc74f4f0a448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3e006ca04b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33fc9697b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14959ac3147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fcf6233494c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0b4a933334d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651f78c6e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ACE0DF-BF86-4F47-9D1D-BC86EC2B7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814DED-965D-4998-B69F-AB6ECBD86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34C185-697C-4542-B34F-C2040C931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053560-121C-47B2-924A-B3A86AC1D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6FCBC2-14BD-4663-9C77-4CB43D9F7B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7A39CA-D540-4231-9296-2D03EC690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592690-F41D-4D90-97AB-A2E5A13D4B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089D33-3909-4A9C-84AA-4CC9BB6B1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39421D-765C-4633-BF83-40D200BF8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3A1917-5A6D-4F7A-8B33-56542BB6F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92097a7324690" /><Relationship Type="http://schemas.openxmlformats.org/officeDocument/2006/relationships/slideLayout" Target="/ppt/slideLayouts/slideLayout1.xml" Id="R34c3c1b831cb4662" /><Relationship Type="http://schemas.openxmlformats.org/officeDocument/2006/relationships/slideLayout" Target="/ppt/slideLayouts/slideLayout2.xml" Id="R07e2e7113cb84d9d" /><Relationship Type="http://schemas.openxmlformats.org/officeDocument/2006/relationships/slideLayout" Target="/ppt/slideLayouts/slideLayout3.xml" Id="Rc301277ddd6c478d" /><Relationship Type="http://schemas.openxmlformats.org/officeDocument/2006/relationships/slideLayout" Target="/ppt/slideLayouts/slideLayout4.xml" Id="Rf71a115e5e594d7d" /><Relationship Type="http://schemas.openxmlformats.org/officeDocument/2006/relationships/slideLayout" Target="/ppt/slideLayouts/slideLayout5.xml" Id="Re6edb2f510174b16" /><Relationship Type="http://schemas.openxmlformats.org/officeDocument/2006/relationships/slideLayout" Target="/ppt/slideLayouts/slideLayout6.xml" Id="Raed78bbd39f4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c3c1b831cb4662"/>
    <p:sldLayoutId xmlns:r="http://schemas.openxmlformats.org/officeDocument/2006/relationships" id="2147483650" r:id="R07e2e7113cb84d9d"/>
    <p:sldLayoutId xmlns:r="http://schemas.openxmlformats.org/officeDocument/2006/relationships" id="2147483651" r:id="Rc301277ddd6c478d"/>
    <p:sldLayoutId xmlns:r="http://schemas.openxmlformats.org/officeDocument/2006/relationships" id="2147483652" r:id="Rf71a115e5e594d7d"/>
    <p:sldLayoutId xmlns:r="http://schemas.openxmlformats.org/officeDocument/2006/relationships" id="2147483653" r:id="Re6edb2f510174b16"/>
    <p:sldLayoutId xmlns:r="http://schemas.openxmlformats.org/officeDocument/2006/relationships" id="2147483654" r:id="Raed78bbd39f4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d29fb963a4ddd" /><Relationship Type="http://schemas.openxmlformats.org/officeDocument/2006/relationships/notesSlide" Target="/ppt/notesSlides/notesSlide1.xml" Id="R80b9c31de0dd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2541b522d410c" /><Relationship Type="http://schemas.openxmlformats.org/officeDocument/2006/relationships/notesSlide" Target="/ppt/notesSlides/notesSlide2.xml" Id="R6d0ca4e01459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1f2ee8bd646bd" /><Relationship Type="http://schemas.openxmlformats.org/officeDocument/2006/relationships/notesSlide" Target="/ppt/notesSlides/notesSlide3.xml" Id="R3448baaedb08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d73ea8e0c45b8" /><Relationship Type="http://schemas.openxmlformats.org/officeDocument/2006/relationships/notesSlide" Target="/ppt/notesSlides/notesSlide4.xml" Id="R803fa8441b4443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27264b2704f27" /><Relationship Type="http://schemas.openxmlformats.org/officeDocument/2006/relationships/notesSlide" Target="/ppt/notesSlides/notesSlide5.xml" Id="R501b910d8fcf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f11f8903e4ef2" /><Relationship Type="http://schemas.openxmlformats.org/officeDocument/2006/relationships/notesSlide" Target="/ppt/notesSlides/notesSlide6.xml" Id="Ra28e308db1ba41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f5bcdeece4b43" /><Relationship Type="http://schemas.openxmlformats.org/officeDocument/2006/relationships/notesSlide" Target="/ppt/notesSlides/notesSlide7.xml" Id="Re0b3b7e3a7e345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7f9543fea47cf" /><Relationship Type="http://schemas.openxmlformats.org/officeDocument/2006/relationships/notesSlide" Target="/ppt/notesSlides/notesSlide8.xml" Id="R970bc880102d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f46916caa470c" /><Relationship Type="http://schemas.openxmlformats.org/officeDocument/2006/relationships/image" Target="/ppt/media/image.jpeg" Id="R33c8c109d4be4fc3" /><Relationship Type="http://schemas.openxmlformats.org/officeDocument/2006/relationships/notesSlide" Target="/ppt/notesSlides/notesSlide9.xml" Id="R081d16a12faf46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236200da2412a" /><Relationship Type="http://schemas.openxmlformats.org/officeDocument/2006/relationships/notesSlide" Target="/ppt/notesSlides/notesSlide10.xml" Id="R5638285d71c94f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f99692d0b4193" /><Relationship Type="http://schemas.openxmlformats.org/officeDocument/2006/relationships/notesSlide" Target="/ppt/notesSlides/notesSlide11.xml" Id="R1b4aa9174c7d40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fdc3ed7404d64" /><Relationship Type="http://schemas.openxmlformats.org/officeDocument/2006/relationships/notesSlide" Target="/ppt/notesSlides/notesSlide12.xml" Id="Rd16901092dde4a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6e8d51ab846b2" /><Relationship Type="http://schemas.openxmlformats.org/officeDocument/2006/relationships/notesSlide" Target="/ppt/notesSlides/notesSlide13.xml" Id="Re77818dfb29e43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08a7357b34650" /><Relationship Type="http://schemas.openxmlformats.org/officeDocument/2006/relationships/chart" Target="/ppt/slides/charts/chart1.xml" Id="R5dc90656c66742b3" /><Relationship Type="http://schemas.openxmlformats.org/officeDocument/2006/relationships/notesSlide" Target="/ppt/notesSlides/notesSlide14.xml" Id="R223ddd617d334b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df93ed5ab42c8" /><Relationship Type="http://schemas.openxmlformats.org/officeDocument/2006/relationships/image" Target="/ppt/media/image2.jpeg" Id="Rcb78f3ce4a3a48e0" /><Relationship Type="http://schemas.openxmlformats.org/officeDocument/2006/relationships/notesSlide" Target="/ppt/notesSlides/notesSlide15.xml" Id="R0699008fc0e249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b4eb0414d4beb" /><Relationship Type="http://schemas.openxmlformats.org/officeDocument/2006/relationships/image" Target="/ppt/media/image.png" Id="Rb2f010ac58ad4708" /><Relationship Type="http://schemas.openxmlformats.org/officeDocument/2006/relationships/image" Target="/ppt/media/image2.png" Id="Rd0389c63c30741a4" /><Relationship Type="http://schemas.openxmlformats.org/officeDocument/2006/relationships/image" Target="/ppt/media/image3.png" Id="R4038cdd0b14743e6" /><Relationship Type="http://schemas.openxmlformats.org/officeDocument/2006/relationships/image" Target="/ppt/media/image4.png" Id="Rd3de1ee108644f8a" /><Relationship Type="http://schemas.openxmlformats.org/officeDocument/2006/relationships/notesSlide" Target="/ppt/notesSlides/notesSlide16.xml" Id="Rd8efb59b739c4b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2932005e04e44" /><Relationship Type="http://schemas.openxmlformats.org/officeDocument/2006/relationships/notesSlide" Target="/ppt/notesSlides/notesSlide17.xml" Id="Re6fad79e915e46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6ee08ae154249" /><Relationship Type="http://schemas.openxmlformats.org/officeDocument/2006/relationships/notesSlide" Target="/ppt/notesSlides/notesSlide18.xml" Id="R5c463feafc0448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59b3828374a83" /><Relationship Type="http://schemas.openxmlformats.org/officeDocument/2006/relationships/notesSlide" Target="/ppt/notesSlides/notesSlide19.xml" Id="Rb778c254395e4b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bcd8f296b47f8" /><Relationship Type="http://schemas.openxmlformats.org/officeDocument/2006/relationships/notesSlide" Target="/ppt/notesSlides/notesSlide20.xml" Id="R987ae86452b54f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Held-out F1</c:v>
          </c:tx>
          <c:spPr>
            <a:solidFill xmlns:a="http://schemas.openxmlformats.org/drawingml/2006/main">
              <a:srgbClr val="0D6B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Spatial baseline</c:v>
                </c:pt>
                <c:pt idx="1">
                  <c:v>Rainfall LSTM</c:v>
                </c:pt>
                <c:pt idx="2">
                  <c:v>Extra Trees</c:v>
                </c:pt>
                <c:pt idx="3">
                  <c:v>U-Net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0.667</c:v>
                </c:pt>
                <c:pt idx="1">
                  <c:v>0.293</c:v>
                </c:pt>
                <c:pt idx="2">
                  <c:v>0.647</c:v>
                </c:pt>
                <c:pt idx="3">
                  <c:v>0.725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E551F-10C9-4C5A-BF44-C368D194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FLOODLENS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ACAFA-D88C-4C20-9D1A-1E4FEDB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Transparent neighbourhood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flood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CD64B-3F6D-4625-B72B-F7628F2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9CBC8"/>
                </a:solidFill>
              </a:defRPr>
            </a:defPPr>
            <a:lvl1pPr algn="l">
              <a:defRPr sz="1575" b="0">
                <a:solidFill>
                  <a:srgbClr val="B9CBC8"/>
                </a:solidFill>
              </a:defRPr>
            </a:lvl1pPr>
            <a:lvl2pPr algn="l">
              <a:defRPr sz="1575" b="0">
                <a:solidFill>
                  <a:srgbClr val="B9CBC8"/>
                </a:solidFill>
              </a:defRPr>
            </a:lvl2pPr>
            <a:lvl3pPr algn="l">
              <a:defRPr sz="1575" b="0">
                <a:solidFill>
                  <a:srgbClr val="B9CBC8"/>
                </a:solidFill>
              </a:defRPr>
            </a:lvl3pPr>
            <a:lvl4pPr algn="l">
              <a:defRPr sz="1575" b="0">
                <a:solidFill>
                  <a:srgbClr val="B9CBC8"/>
                </a:solidFill>
              </a:defRPr>
            </a:lvl4pPr>
            <a:lvl5pPr algn="l">
              <a:defRPr sz="1575" b="0">
                <a:solidFill>
                  <a:srgbClr val="B9CBC8"/>
                </a:solidFill>
              </a:defRPr>
            </a:lvl5pPr>
            <a:lvl6pPr algn="l">
              <a:defRPr sz="1575" b="0">
                <a:solidFill>
                  <a:srgbClr val="B9CBC8"/>
                </a:solidFill>
              </a:defRPr>
            </a:lvl6pPr>
            <a:lvl7pPr algn="l">
              <a:defRPr sz="1575" b="0">
                <a:solidFill>
                  <a:srgbClr val="B9CBC8"/>
                </a:solidFill>
              </a:defRPr>
            </a:lvl7pPr>
            <a:lvl8pPr algn="l">
              <a:defRPr sz="1575" b="0">
                <a:solidFill>
                  <a:srgbClr val="B9CBC8"/>
                </a:solidFill>
              </a:defRPr>
            </a:lvl8pPr>
            <a:lvl9pPr algn="l">
              <a:defRPr sz="157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9CBC8"/>
                </a:solidFill>
              </a:defRPr>
            </a:pPr>
            <a:r>
              <a:rPr sz="1575" b="0">
                <a:solidFill>
                  <a:srgbClr val="B9CBC8"/>
                </a:solidFill>
              </a:rPr>
              <a:t>Final project report and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EECCC-D7C4-478A-BAEB-DB73077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8E5E2"/>
                </a:solidFill>
              </a:defRPr>
            </a:defPPr>
            <a:lvl1pPr algn="l">
              <a:defRPr sz="1275" b="0">
                <a:solidFill>
                  <a:srgbClr val="D8E5E2"/>
                </a:solidFill>
              </a:defRPr>
            </a:lvl1pPr>
            <a:lvl2pPr algn="l">
              <a:defRPr sz="1275" b="0">
                <a:solidFill>
                  <a:srgbClr val="D8E5E2"/>
                </a:solidFill>
              </a:defRPr>
            </a:lvl2pPr>
            <a:lvl3pPr algn="l">
              <a:defRPr sz="1275" b="0">
                <a:solidFill>
                  <a:srgbClr val="D8E5E2"/>
                </a:solidFill>
              </a:defRPr>
            </a:lvl3pPr>
            <a:lvl4pPr algn="l">
              <a:defRPr sz="1275" b="0">
                <a:solidFill>
                  <a:srgbClr val="D8E5E2"/>
                </a:solidFill>
              </a:defRPr>
            </a:lvl4pPr>
            <a:lvl5pPr algn="l">
              <a:defRPr sz="1275" b="0">
                <a:solidFill>
                  <a:srgbClr val="D8E5E2"/>
                </a:solidFill>
              </a:defRPr>
            </a:lvl5pPr>
            <a:lvl6pPr algn="l">
              <a:defRPr sz="1275" b="0">
                <a:solidFill>
                  <a:srgbClr val="D8E5E2"/>
                </a:solidFill>
              </a:defRPr>
            </a:lvl6pPr>
            <a:lvl7pPr algn="l">
              <a:defRPr sz="1275" b="0">
                <a:solidFill>
                  <a:srgbClr val="D8E5E2"/>
                </a:solidFill>
              </a:defRPr>
            </a:lvl7pPr>
            <a:lvl8pPr algn="l">
              <a:defRPr sz="1275" b="0">
                <a:solidFill>
                  <a:srgbClr val="D8E5E2"/>
                </a:solidFill>
              </a:defRPr>
            </a:lvl8pPr>
            <a:lvl9pPr algn="l">
              <a:defRPr sz="127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5E2"/>
                </a:solidFill>
              </a:defRPr>
            </a:pPr>
            <a:r>
              <a:rPr sz="1275" b="0">
                <a:solidFill>
                  <a:srgbClr val="D8E5E2"/>
                </a:solidFill>
              </a:rPr>
              <a:t>Terrain, forecast rainfall, river-basin context, and historical-event ML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7D196-415C-4610-B539-95A80C5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PRESENTED 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056E7-ED2F-438B-8416-B10E7786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3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76F59-2AFE-4A30-B70C-0EFD4D1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Joel Anto (23BRS1165)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EF598-2F2C-4520-9966-7F7DC5DC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33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E56F5-D1B7-4FC1-B5F7-0BF5730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AA3A0"/>
                </a:solidFill>
              </a:defRPr>
            </a:defPPr>
            <a:lvl1pPr algn="l">
              <a:defRPr sz="1125" b="0">
                <a:solidFill>
                  <a:srgbClr val="8AA3A0"/>
                </a:solidFill>
              </a:defRPr>
            </a:lvl1pPr>
            <a:lvl2pPr algn="l">
              <a:defRPr sz="1125" b="0">
                <a:solidFill>
                  <a:srgbClr val="8AA3A0"/>
                </a:solidFill>
              </a:defRPr>
            </a:lvl2pPr>
            <a:lvl3pPr algn="l">
              <a:defRPr sz="1125" b="0">
                <a:solidFill>
                  <a:srgbClr val="8AA3A0"/>
                </a:solidFill>
              </a:defRPr>
            </a:lvl3pPr>
            <a:lvl4pPr algn="l">
              <a:defRPr sz="1125" b="0">
                <a:solidFill>
                  <a:srgbClr val="8AA3A0"/>
                </a:solidFill>
              </a:defRPr>
            </a:lvl4pPr>
            <a:lvl5pPr algn="l">
              <a:defRPr sz="1125" b="0">
                <a:solidFill>
                  <a:srgbClr val="8AA3A0"/>
                </a:solidFill>
              </a:defRPr>
            </a:lvl5pPr>
            <a:lvl6pPr algn="l">
              <a:defRPr sz="1125" b="0">
                <a:solidFill>
                  <a:srgbClr val="8AA3A0"/>
                </a:solidFill>
              </a:defRPr>
            </a:lvl6pPr>
            <a:lvl7pPr algn="l">
              <a:defRPr sz="1125" b="0">
                <a:solidFill>
                  <a:srgbClr val="8AA3A0"/>
                </a:solidFill>
              </a:defRPr>
            </a:lvl7pPr>
            <a:lvl8pPr algn="l">
              <a:defRPr sz="1125" b="0">
                <a:solidFill>
                  <a:srgbClr val="8AA3A0"/>
                </a:solidFill>
              </a:defRPr>
            </a:lvl8pPr>
            <a:lvl9pPr algn="l">
              <a:defRPr sz="11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AA3A0"/>
                </a:solidFill>
              </a:defRPr>
            </a:pPr>
            <a:r>
              <a:rPr sz="1125" b="0">
                <a:solidFill>
                  <a:srgbClr val="8AA3A0"/>
                </a:solidFill>
              </a:rPr>
              <a:t>Name 2 (Registration No.)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5C93E-4937-48A3-857E-51AA771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33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4B05B-2D75-477B-BFCC-B23713F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AA3A0"/>
                </a:solidFill>
              </a:defRPr>
            </a:defPPr>
            <a:lvl1pPr algn="l">
              <a:defRPr sz="1125" b="0">
                <a:solidFill>
                  <a:srgbClr val="8AA3A0"/>
                </a:solidFill>
              </a:defRPr>
            </a:lvl1pPr>
            <a:lvl2pPr algn="l">
              <a:defRPr sz="1125" b="0">
                <a:solidFill>
                  <a:srgbClr val="8AA3A0"/>
                </a:solidFill>
              </a:defRPr>
            </a:lvl2pPr>
            <a:lvl3pPr algn="l">
              <a:defRPr sz="1125" b="0">
                <a:solidFill>
                  <a:srgbClr val="8AA3A0"/>
                </a:solidFill>
              </a:defRPr>
            </a:lvl3pPr>
            <a:lvl4pPr algn="l">
              <a:defRPr sz="1125" b="0">
                <a:solidFill>
                  <a:srgbClr val="8AA3A0"/>
                </a:solidFill>
              </a:defRPr>
            </a:lvl4pPr>
            <a:lvl5pPr algn="l">
              <a:defRPr sz="1125" b="0">
                <a:solidFill>
                  <a:srgbClr val="8AA3A0"/>
                </a:solidFill>
              </a:defRPr>
            </a:lvl5pPr>
            <a:lvl6pPr algn="l">
              <a:defRPr sz="1125" b="0">
                <a:solidFill>
                  <a:srgbClr val="8AA3A0"/>
                </a:solidFill>
              </a:defRPr>
            </a:lvl6pPr>
            <a:lvl7pPr algn="l">
              <a:defRPr sz="1125" b="0">
                <a:solidFill>
                  <a:srgbClr val="8AA3A0"/>
                </a:solidFill>
              </a:defRPr>
            </a:lvl7pPr>
            <a:lvl8pPr algn="l">
              <a:defRPr sz="1125" b="0">
                <a:solidFill>
                  <a:srgbClr val="8AA3A0"/>
                </a:solidFill>
              </a:defRPr>
            </a:lvl8pPr>
            <a:lvl9pPr algn="l">
              <a:defRPr sz="11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AA3A0"/>
                </a:solidFill>
              </a:defRPr>
            </a:pPr>
            <a:r>
              <a:rPr sz="1125" b="0">
                <a:solidFill>
                  <a:srgbClr val="8AA3A0"/>
                </a:solidFill>
              </a:rPr>
              <a:t>Name 3 (Registration No.)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04E63-B8DC-4A97-B43A-BA837C9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2197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5584A-CF14-45D3-A596-30858B7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LIVE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E9993-3BDB-49D1-9F22-BE01F25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 / 2 / 5 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482AB-2EAF-49B0-B326-236B1E7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resident-selected assessment circle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ECE1D-6111-453F-BD51-0C4E964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28,907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2D463-5B2A-47F4-8FC6-F79B2B47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HydroBASINS polygons imported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16C3C-BA4A-4D1A-9F11-A0FF2CF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1,428,959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B41DB-63FD-4659-ADEC-2228D26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HydroRIVERS features imported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63453-327C-47BE-AFC1-B9E8AA1A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9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BC8"/>
                </a:solidFill>
              </a:defRPr>
            </a:defPPr>
            <a:lvl1pPr algn="l">
              <a:defRPr sz="1050" b="0">
                <a:solidFill>
                  <a:srgbClr val="B9CBC8"/>
                </a:solidFill>
              </a:defRPr>
            </a:lvl1pPr>
            <a:lvl2pPr algn="l">
              <a:defRPr sz="1050" b="0">
                <a:solidFill>
                  <a:srgbClr val="B9CBC8"/>
                </a:solidFill>
              </a:defRPr>
            </a:lvl2pPr>
            <a:lvl3pPr algn="l">
              <a:defRPr sz="1050" b="0">
                <a:solidFill>
                  <a:srgbClr val="B9CBC8"/>
                </a:solidFill>
              </a:defRPr>
            </a:lvl3pPr>
            <a:lvl4pPr algn="l">
              <a:defRPr sz="1050" b="0">
                <a:solidFill>
                  <a:srgbClr val="B9CBC8"/>
                </a:solidFill>
              </a:defRPr>
            </a:lvl4pPr>
            <a:lvl5pPr algn="l">
              <a:defRPr sz="1050" b="0">
                <a:solidFill>
                  <a:srgbClr val="B9CBC8"/>
                </a:solidFill>
              </a:defRPr>
            </a:lvl5pPr>
            <a:lvl6pPr algn="l">
              <a:defRPr sz="1050" b="0">
                <a:solidFill>
                  <a:srgbClr val="B9CBC8"/>
                </a:solidFill>
              </a:defRPr>
            </a:lvl6pPr>
            <a:lvl7pPr algn="l">
              <a:defRPr sz="1050" b="0">
                <a:solidFill>
                  <a:srgbClr val="B9CBC8"/>
                </a:solidFill>
              </a:defRPr>
            </a:lvl7pPr>
            <a:lvl8pPr algn="l">
              <a:defRPr sz="1050" b="0">
                <a:solidFill>
                  <a:srgbClr val="B9CBC8"/>
                </a:solidFill>
              </a:defRPr>
            </a:lvl8pPr>
            <a:lvl9pPr algn="l">
              <a:defRPr sz="10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BC8"/>
                </a:solidFill>
              </a:defRPr>
            </a:pPr>
            <a:r>
              <a:rPr sz="1050" b="0">
                <a:solidFill>
                  <a:srgbClr val="B9CBC8"/>
                </a:solidFill>
              </a:rPr>
              <a:t>Local Docker demonstration •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5710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D9964-5AC3-4227-94AB-D675B88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C904F-BEA2-4480-8D4A-6793256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3F26-6769-4534-8DB1-F43D523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usable resident interface backed by real spatial data, with research ML kept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8D829-FBBB-4E01-A8AF-970D93F7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7CACC-BD41-4020-8280-8E724599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6B325-CAAF-4624-B3DB-2B318146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2D7F4-B704-4E2C-9E35-AD191AEA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A898-1842-4428-8087-51D1212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neighbourhood and a 1, 2, or 5 km circle. Read terrain, forecast rainfall, and river-basin context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54C67-5296-4DB9-B98C-9D13925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58589-AB06-42A2-B58E-FD74E98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E04E9-985D-48B9-859D-200E6F9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Operational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DE6C2-327F-4E64-978C-696CF798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and Leaflet call FastAPI. A PostGIS-backed worker samples FABDEM, reads HydroSHEDS, and fetches Open-Meteo rainfall.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3D93B-401A-428D-9003-250A135D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C6B01-3290-4671-B261-CA893C3E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58BED-11F9-44F5-93BD-88FDAEA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Research laboratory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7B695-2602-4A49-BC39-DEAF912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Compare real labels with Extra Trees and U-Net masks on held-out events. Classification models add event-level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4CCF1-84B8-4448-BE34-DEEB29B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D6B5E"/>
                </a:solidFill>
              </a:defRPr>
            </a:defPPr>
            <a:lvl1pPr algn="l">
              <a:defRPr sz="2100" b="1">
                <a:solidFill>
                  <a:srgbClr val="0D6B5E"/>
                </a:solidFill>
              </a:defRPr>
            </a:lvl1pPr>
            <a:lvl2pPr algn="l">
              <a:defRPr sz="2100" b="1">
                <a:solidFill>
                  <a:srgbClr val="0D6B5E"/>
                </a:solidFill>
              </a:defRPr>
            </a:lvl2pPr>
            <a:lvl3pPr algn="l">
              <a:defRPr sz="2100" b="1">
                <a:solidFill>
                  <a:srgbClr val="0D6B5E"/>
                </a:solidFill>
              </a:defRPr>
            </a:lvl3pPr>
            <a:lvl4pPr algn="l">
              <a:defRPr sz="2100" b="1">
                <a:solidFill>
                  <a:srgbClr val="0D6B5E"/>
                </a:solidFill>
              </a:defRPr>
            </a:lvl4pPr>
            <a:lvl5pPr algn="l">
              <a:defRPr sz="2100" b="1">
                <a:solidFill>
                  <a:srgbClr val="0D6B5E"/>
                </a:solidFill>
              </a:defRPr>
            </a:lvl5pPr>
            <a:lvl6pPr algn="l">
              <a:defRPr sz="2100" b="1">
                <a:solidFill>
                  <a:srgbClr val="0D6B5E"/>
                </a:solidFill>
              </a:defRPr>
            </a:lvl6pPr>
            <a:lvl7pPr algn="l">
              <a:defRPr sz="2100" b="1">
                <a:solidFill>
                  <a:srgbClr val="0D6B5E"/>
                </a:solidFill>
              </a:defRPr>
            </a:lvl7pPr>
            <a:lvl8pPr algn="l">
              <a:defRPr sz="2100" b="1">
                <a:solidFill>
                  <a:srgbClr val="0D6B5E"/>
                </a:solidFill>
              </a:defRPr>
            </a:lvl8pPr>
            <a:lvl9pPr algn="l">
              <a:defRPr sz="21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6B5E"/>
                </a:solidFill>
              </a:defRPr>
            </a:pPr>
            <a:r>
              <a:rPr sz="2100" b="1">
                <a:solidFill>
                  <a:srgbClr val="0D6B5E"/>
                </a:solidFill>
              </a:rPr>
              <a:t>A complete local demonstrator with transparent coverage states, reproducible deployment, visible model failures, and measured held-out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23A4A-3EEA-46B5-B6D7-3778B4A0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Neighbourhood awareness only: no official warning, evacuation advice, depth estimate, or property flood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DD953-E05B-4093-B801-500E66D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C1DD5-72BA-4C54-8A88-0BC5CF3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4930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19D31-2AC4-4F0B-A29D-580B6180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5E4AF-EEA0-4BFF-BB2A-449679B0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Why local flood information is easy to misread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838D0-5E56-43F2-854E-8D408D3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ADC26-DD24-4875-9CD7-AF45F2F8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DB5A-4406-4322-AFE3-40249D5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5D5DF-1F30-4A0E-A5FA-ACEF06A2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Terrain maps can mislead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2CFC0-C9E1-442B-87BF-A6C9C21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Raw surface elevation may treat buildings and trees as barriers. FloodLens uses bare-earth terrain and still reports its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9CC6F-190E-428F-BB8E-FC52A1C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C0C4-0289-4D07-996A-0772E46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AF96D-19E0-4C4C-9BAE-A7E92BC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River proximity is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509DC-8E6B-4513-877A-B055B1B5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mapped river near a point does not prove hydraulic connectivity to a street or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AD6D-2A7A-42DF-B616-A6973D2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F1E7D-AC0A-43DB-AEDC-77957B1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3CF97-2689-4FEE-8423-D500B1E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A score can look official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96382-8C7A-4015-88A8-04F82723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simple number may be mistaken for a warning or probability. FloodLens labels its terrain score as a relative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88E2C-B1B9-4EC3-95A0-6C69CF0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C0F84-A784-4F76-BDBF-B465D16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Design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BF73E-ECA2-4E1F-A711-EBBA617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Help residents understand the water around them while showing what the data cannot establish.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8391-B24B-44EF-80B5-8282D700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74B0F-2827-471F-A958-A39755F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6878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EF023-5749-4D64-A7EA-8064619C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3D9A-8E49-4435-BB22-57CCD1F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Aim, users, and scientific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A4006-80A1-4625-89F4-A1FB15CD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8F30A-BECC-4D98-90E3-1E0EF594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What FloodLens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2DC1D-0A37-4FCE-A74D-3FF502A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C2C59-3AA9-481F-9F8D-8B96D67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Relative terrain susceptibility inside a selected local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97BA1-8F4E-4C4D-A4A2-C9DDF18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A0A65-1DBF-4386-86F1-56EFB1E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48-hour forecast rainfall context from Open-Meteo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D2510-675F-4095-9806-65BF9EB9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171EB-73F8-4B10-B695-25BE7107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Containing basin, upstream basin, and nearby mapped-river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ADE53-4A7E-4A18-9C44-BCB363F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C2488-8BB9-4367-9E02-08A65137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Explicit unavailable and outside-coverage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349D4-C47A-4DCE-B76D-2016821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What the project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0C8A5-E98F-4DF9-8D2D-51E95D4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4110C-81EE-4969-BCEE-7F0513A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An official alert or evacuation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6835C-739F-4EF8-A6E5-8FB4A845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6428A-863D-48DF-A129-0799AFF6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 flood depth or property-level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8D4C5-C382-46BF-9564-587B8B9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C4914-8432-45B9-BD27-DB00A2A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Proof that a nearby river will affect a selected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A0CE3-AE36-4D02-8B42-322D451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4DDC2-07D8-458B-82CA-A56F8E4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Global coverage beyond imported regions and mounted terrain tiles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D9C72-CB96-44AE-B988-3F8F0AFF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E9E0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B40B8-704C-453B-A2EF-5C64F6FC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assessment circle is a user-selected area. It is different from a watershed.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440FB-B51C-4872-B78C-4B85AB8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7D5F3-305F-4291-9D4E-C79F9D7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7013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DD02C-C2C4-492E-AE3A-D69AF29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25B3-C6D1-460B-B4A5-4424977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Data sources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52963-AD92-4A12-AC29-C5C56A2C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585B-5FAF-4757-BF68-4CEBB3F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73797-F276-4649-BCE9-EE0B6ED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0D171-3262-4DF4-873C-86DFBB2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07DD2-1E88-4CE6-9A6E-0C44A67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IMPORTANT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2D205-29FE-40BB-84EF-40FB315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BFE84-CC44-4669-89DE-9052429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FABDEM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81A39-8648-40D1-850D-12202DB3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30 m bare-earth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7F564-0537-4927-82E5-3F6341A5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66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Misses drains, walls, culverts, and sewers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2459B-E108-4FF5-80F6-A43AE24C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HydroBASINS L8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FFEF5-A4E7-4B5C-BF05-38E1919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Containing and upstream basin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6D06D-BEA1-46BE-A217-65F433B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Basin membership does not prove property connectivity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4561D-E614-4C04-BCD2-CF2ABBC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A56AF-E8B1-4D44-8268-2EF9938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2A373-87B6-4E41-BC65-23731DD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Nearby mapped river and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40E33-C6B1-4232-BD0E-1D4C2316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Generalised geometry; proximity is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79042-8940-4FF9-8053-17625CF0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Open-Meteo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C8936-0272-4441-A4B4-7C8500B2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48-hour hourly rainfall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BE62B-73E1-4D72-A2CB-29C1E89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Forecast provider, not an official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49315-2A20-4721-982F-F266D31F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74941-8082-48C5-8A52-06BC1129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OpenStreetMap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91BED-0E70-4E0D-BD53-78750424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Location selection and basemap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BF860-7E1C-4EC5-9808-9F030F79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Basemap only; no flood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9D32C-9D7B-43F1-A8D4-18D6E18B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Sen1Floods11 + CHIRPS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C58729-CADA-4DC4-A4A2-0239B46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Historical labels, SAR, and rainfall research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0FF0A-290B-45C5-B380-EFCF7FF6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Research only; labels may include permanent water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410C0-1C71-49A3-B42C-E6F951FD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Current local demo coverage: Asia HydroSHEDS imports and Chennai-area FABDEM 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C17E9D-90CA-4E25-B5ED-6A7DF25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DCBF07-3B59-4266-B99E-F1D3113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4226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5D7729-EC74-4C13-A549-7FCDA85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53293-DCDE-46D0-AC85-F818311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FCBC-A9D3-4E12-ABA4-96BD738E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resident app and historical-event lab share one local web service while keeping calculations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10C44-AE03-4109-92E8-978A2D61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0423B-E5A7-4538-BD1C-E0B278DE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A9C3F-EAC1-4A0D-9F73-D55C05F6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90E82-3482-4D3A-90D4-20A6855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+ Leaflet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00A1E-7246-4584-BEF8-55629FA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2473A-71A6-48A8-8599-EA1FBEE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A6CF8-A4E7-49EF-A305-3D34633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5C2B4-1202-4506-A003-1A932EB0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Validation, UUID jobs,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BB605-49CE-49D0-976B-251E8BB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DFA8D-853A-4500-9194-D40DEB05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436E0-E367-4444-A9E2-472D6A47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2B7BD-6FFA-428C-94EB-AF52746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Jobs, results, basin and river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2C7E2-D901-40AC-8651-BBA65F7B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4C11F-276A-4269-BA11-2CD34D5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6F4F9-C9C8-48AB-B3C3-A48BF1AB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D2466-B698-4E44-801A-1525BB13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Claims jobs and calculates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3BF7E-9898-4E42-A08F-E66FA9F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E8EDB-DD0B-4B09-B844-0D4644A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13F30-214E-4F50-883E-D43A7106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Data 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97298-9302-4FAE-B310-B3DDBE6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FABDEM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Open-Meteo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HydroSHEDS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21FAC-547C-474A-B291-03B6C72A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6381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2DB74-C508-4ADA-B3B7-8E3379A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Docker exposes the app on localhost. PostgreSQL stays private. The worker claims jobs transactionally.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A20EE-FF4E-4DF8-8C76-E33ECAFD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Offline research never writes a flood probability into the resident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090F5-30A5-4D3C-A0A1-DAACB12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142189-E685-4989-B447-CB7F489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9477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6B6A5-0B92-4F8E-B78B-E92C2A00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0EB65-FA83-4BD1-80FE-493AC8E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From map click to neighbourhood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56AA7-99D0-4E55-9F46-BA3A8E9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AF10-99D2-428F-B44D-CCE11365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4D107-FB28-4F7A-A5CF-15909EB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FB636-1256-40C1-B321-E44C680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41FD5-1DE8-4A32-9797-28FD7A1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Select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6892A-3440-4153-9DE4-E49A65F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Click the map, choose a city, or enter coordinates.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D34BB-45B9-4AC6-9140-C515CEC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AA425-BE97-49FB-AF0C-D61DD05A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34881-C987-490D-9EC3-EF188FA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B91B5-61C5-4383-B970-39FA3A02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Choose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8B2CB-55C3-494B-9DDE-9E53A79D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1 km, 2 km, or 5 km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DC686-9B8D-4F4C-8036-12DF0E5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53118-52E7-4EAB-ADAB-3CAF2AD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4E2D0-375A-4576-9713-CE24B53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41DB5-ABAD-49FB-A416-27B108EA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Create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97315-E3EF-4239-9CA4-5154DFAD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FastAPI validates input and stores a UUID job.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224A3-C8E8-4B07-844B-5F52EE0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D3E4F-503E-4649-BEE8-4EA7902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DBC0C-55A0-4E50-8B0E-4A451CD9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C9139-4A7F-448B-B585-AE435C4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Collect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1C2C9-47FE-40F8-93C9-5598BD0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Worker samples terrain, rain, and river-basin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197E8-1920-4C47-AA7F-7C96E4C8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BA607-C37E-4691-866D-5B3A028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5DDE7-F4D1-40B9-9C92-BA717CFE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0B6C3-11DF-471E-9510-2EB8AB79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Persist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E5682-28D5-4888-9A9F-7FCFCBC8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PostGIS stores factors, provenance, and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81AD9-8876-4633-9962-11EDE5F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08900-6401-46D0-93BC-4524B348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74D7-9277-49D8-951F-7992E4C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34C10-16DC-44C4-9571-C0F8126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Explain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705538-BFD9-42EA-B17C-B253A7D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Frontend shows result cards or an unavailable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B32BC-C76F-48E2-B4A2-FA442A12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126551-3F92-4A94-90EF-211C569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D6B5E"/>
                </a:solidFill>
              </a:defRPr>
            </a:defPPr>
            <a:lvl1pPr algn="ctr">
              <a:defRPr sz="1425" b="1">
                <a:solidFill>
                  <a:srgbClr val="0D6B5E"/>
                </a:solidFill>
              </a:defRPr>
            </a:lvl1pPr>
            <a:lvl2pPr algn="ctr">
              <a:defRPr sz="1425" b="1">
                <a:solidFill>
                  <a:srgbClr val="0D6B5E"/>
                </a:solidFill>
              </a:defRPr>
            </a:lvl2pPr>
            <a:lvl3pPr algn="ctr">
              <a:defRPr sz="1425" b="1">
                <a:solidFill>
                  <a:srgbClr val="0D6B5E"/>
                </a:solidFill>
              </a:defRPr>
            </a:lvl3pPr>
            <a:lvl4pPr algn="ctr">
              <a:defRPr sz="1425" b="1">
                <a:solidFill>
                  <a:srgbClr val="0D6B5E"/>
                </a:solidFill>
              </a:defRPr>
            </a:lvl4pPr>
            <a:lvl5pPr algn="ctr">
              <a:defRPr sz="1425" b="1">
                <a:solidFill>
                  <a:srgbClr val="0D6B5E"/>
                </a:solidFill>
              </a:defRPr>
            </a:lvl5pPr>
            <a:lvl6pPr algn="ctr">
              <a:defRPr sz="1425" b="1">
                <a:solidFill>
                  <a:srgbClr val="0D6B5E"/>
                </a:solidFill>
              </a:defRPr>
            </a:lvl6pPr>
            <a:lvl7pPr algn="ctr">
              <a:defRPr sz="1425" b="1">
                <a:solidFill>
                  <a:srgbClr val="0D6B5E"/>
                </a:solidFill>
              </a:defRPr>
            </a:lvl7pPr>
            <a:lvl8pPr algn="ctr">
              <a:defRPr sz="1425" b="1">
                <a:solidFill>
                  <a:srgbClr val="0D6B5E"/>
                </a:solidFill>
              </a:defRPr>
            </a:lvl8pPr>
            <a:lvl9pPr algn="ctr">
              <a:defRPr sz="14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D6B5E"/>
                </a:solidFill>
              </a:defRPr>
            </a:pPr>
            <a:r>
              <a:rPr sz="1425" b="1">
                <a:solidFill>
                  <a:srgbClr val="0D6B5E"/>
                </a:solidFill>
              </a:rPr>
              <a:t>queued  ›  running  ›  complete     or     waiting_for_data / outside_coverage / 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39029-0C4B-4D15-8638-9D9FE90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6C6D6-318D-417B-BCCF-643C6CB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40164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5FDD6-6484-4C27-A76C-8691156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101F8-119A-4E01-90D3-9E64D57E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Terrain score: deterministic, local,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21CC2-0D05-4473-BC85-93A233D4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EB565-2249-4F1A-9AE1-2B3495E6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7B3DA-BF1E-49BE-846D-7C65984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2A"/>
                </a:solidFill>
              </a:defRPr>
            </a:defPPr>
            <a:lvl1pPr algn="l">
              <a:defRPr sz="1650" b="1">
                <a:solidFill>
                  <a:srgbClr val="102A2A"/>
                </a:solidFill>
              </a:defRPr>
            </a:lvl1pPr>
            <a:lvl2pPr algn="l">
              <a:defRPr sz="1650" b="1">
                <a:solidFill>
                  <a:srgbClr val="102A2A"/>
                </a:solidFill>
              </a:defRPr>
            </a:lvl2pPr>
            <a:lvl3pPr algn="l">
              <a:defRPr sz="1650" b="1">
                <a:solidFill>
                  <a:srgbClr val="102A2A"/>
                </a:solidFill>
              </a:defRPr>
            </a:lvl3pPr>
            <a:lvl4pPr algn="l">
              <a:defRPr sz="1650" b="1">
                <a:solidFill>
                  <a:srgbClr val="102A2A"/>
                </a:solidFill>
              </a:defRPr>
            </a:lvl4pPr>
            <a:lvl5pPr algn="l">
              <a:defRPr sz="1650" b="1">
                <a:solidFill>
                  <a:srgbClr val="102A2A"/>
                </a:solidFill>
              </a:defRPr>
            </a:lvl5pPr>
            <a:lvl6pPr algn="l">
              <a:defRPr sz="1650" b="1">
                <a:solidFill>
                  <a:srgbClr val="102A2A"/>
                </a:solidFill>
              </a:defRPr>
            </a:lvl6pPr>
            <a:lvl7pPr algn="l">
              <a:defRPr sz="1650" b="1">
                <a:solidFill>
                  <a:srgbClr val="102A2A"/>
                </a:solidFill>
              </a:defRPr>
            </a:lvl7pPr>
            <a:lvl8pPr algn="l">
              <a:defRPr sz="1650" b="1">
                <a:solidFill>
                  <a:srgbClr val="102A2A"/>
                </a:solidFill>
              </a:defRPr>
            </a:lvl8pPr>
            <a:lvl9pPr algn="l">
              <a:defRPr sz="16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Relative terrain susceptibility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8209-00BF-4970-AEC0-FC25A4A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220A-8171-4712-8518-0495D257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relative elevation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1427-465B-4A3A-94C9-0D79E71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ED984-22D9-42C8-A961-9B5EC8E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flatness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0D99C-56D6-4215-BDCB-1CB1731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F1BBD-42D4-46EB-BD0C-7DEA1C10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local relief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20903-EF5D-402D-8B8E-458F888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262"/>
                </a:solidFill>
              </a:defRPr>
            </a:defPPr>
            <a:lvl1pPr algn="l">
              <a:defRPr sz="1125" b="1">
                <a:solidFill>
                  <a:srgbClr val="526262"/>
                </a:solidFill>
              </a:defRPr>
            </a:lvl1pPr>
            <a:lvl2pPr algn="l">
              <a:defRPr sz="1125" b="1">
                <a:solidFill>
                  <a:srgbClr val="526262"/>
                </a:solidFill>
              </a:defRPr>
            </a:lvl2pPr>
            <a:lvl3pPr algn="l">
              <a:defRPr sz="1125" b="1">
                <a:solidFill>
                  <a:srgbClr val="526262"/>
                </a:solidFill>
              </a:defRPr>
            </a:lvl3pPr>
            <a:lvl4pPr algn="l">
              <a:defRPr sz="1125" b="1">
                <a:solidFill>
                  <a:srgbClr val="526262"/>
                </a:solidFill>
              </a:defRPr>
            </a:lvl4pPr>
            <a:lvl5pPr algn="l">
              <a:defRPr sz="1125" b="1">
                <a:solidFill>
                  <a:srgbClr val="526262"/>
                </a:solidFill>
              </a:defRPr>
            </a:lvl5pPr>
            <a:lvl6pPr algn="l">
              <a:defRPr sz="1125" b="1">
                <a:solidFill>
                  <a:srgbClr val="526262"/>
                </a:solidFill>
              </a:defRPr>
            </a:lvl6pPr>
            <a:lvl7pPr algn="l">
              <a:defRPr sz="1125" b="1">
                <a:solidFill>
                  <a:srgbClr val="526262"/>
                </a:solidFill>
              </a:defRPr>
            </a:lvl7pPr>
            <a:lvl8pPr algn="l">
              <a:defRPr sz="1125" b="1">
                <a:solidFill>
                  <a:srgbClr val="526262"/>
                </a:solidFill>
              </a:defRPr>
            </a:lvl8pPr>
            <a:lvl9pPr algn="l">
              <a:defRPr sz="11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262"/>
                </a:solidFill>
              </a:defRPr>
            </a:pPr>
            <a:r>
              <a:rPr sz="1125" b="1">
                <a:solidFill>
                  <a:srgbClr val="526262"/>
                </a:solidFill>
              </a:rPr>
              <a:t>0–33 lower   •   34–66 moderate   •   67–100 higher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60C20-11FC-4FB6-A073-7590E452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D732D-4F6F-44E1-B374-F275A33A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65/100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12FA0-349B-4382-9D5C-FF6F135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5E2"/>
                </a:solidFill>
              </a:defRPr>
            </a:defPPr>
            <a:lvl1pPr algn="l">
              <a:defRPr sz="1725" b="0">
                <a:solidFill>
                  <a:srgbClr val="D8E5E2"/>
                </a:solidFill>
              </a:defRPr>
            </a:lvl1pPr>
            <a:lvl2pPr algn="l">
              <a:defRPr sz="1725" b="0">
                <a:solidFill>
                  <a:srgbClr val="D8E5E2"/>
                </a:solidFill>
              </a:defRPr>
            </a:lvl2pPr>
            <a:lvl3pPr algn="l">
              <a:defRPr sz="1725" b="0">
                <a:solidFill>
                  <a:srgbClr val="D8E5E2"/>
                </a:solidFill>
              </a:defRPr>
            </a:lvl3pPr>
            <a:lvl4pPr algn="l">
              <a:defRPr sz="1725" b="0">
                <a:solidFill>
                  <a:srgbClr val="D8E5E2"/>
                </a:solidFill>
              </a:defRPr>
            </a:lvl4pPr>
            <a:lvl5pPr algn="l">
              <a:defRPr sz="1725" b="0">
                <a:solidFill>
                  <a:srgbClr val="D8E5E2"/>
                </a:solidFill>
              </a:defRPr>
            </a:lvl5pPr>
            <a:lvl6pPr algn="l">
              <a:defRPr sz="1725" b="0">
                <a:solidFill>
                  <a:srgbClr val="D8E5E2"/>
                </a:solidFill>
              </a:defRPr>
            </a:lvl6pPr>
            <a:lvl7pPr algn="l">
              <a:defRPr sz="1725" b="0">
                <a:solidFill>
                  <a:srgbClr val="D8E5E2"/>
                </a:solidFill>
              </a:defRPr>
            </a:lvl7pPr>
            <a:lvl8pPr algn="l">
              <a:defRPr sz="1725" b="0">
                <a:solidFill>
                  <a:srgbClr val="D8E5E2"/>
                </a:solidFill>
              </a:defRPr>
            </a:lvl8pPr>
            <a:lvl9pPr algn="l">
              <a:defRPr sz="172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5E2"/>
                </a:solidFill>
              </a:defRPr>
            </a:pPr>
            <a:r>
              <a:rPr sz="1725" b="0">
                <a:solidFill>
                  <a:srgbClr val="D8E5E2"/>
                </a:solidFill>
              </a:rPr>
              <a:t>Moderate relative terrain susceptibility within the sampled circle.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294E1-68AC-4470-AA10-E3E6116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 does not mean a 65% chance of flooding and it does not estimate water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513E1-7BB4-47FB-9032-296EE223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Terrain quality also reports valid-cell coverage and missing-data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83488-D3B6-42A2-8F79-C416857B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2F849-3B7A-46E7-AB9E-86D1723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1686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F5064-A61D-41CB-BDBD-2C33E360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32D35-366C-4917-9A51-6DDBC73F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Resident demo: a guided three-step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F843-9F17-4F91-BAA5-3525C39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redesign clarifies the location, circle size, and result order before exposing technical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61895-04D0-4CC5-B042-AF2CE0BD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BD7F9-D9B6-4A59-A255-1558EDA10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8c109d4be4fc3"/>
          <a:stretch xmlns:a="http://schemas.openxmlformats.org/drawingml/2006/main"/>
        </p:blipFill>
        <p:spPr>
          <a:xfrm xmlns:a="http://schemas.openxmlformats.org/drawingml/2006/main">
            <a:off x="1793984" y="1285875"/>
            <a:ext cx="3612931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CF19C-3904-4A44-9F41-B3152CB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6101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0475E-A313-4B10-87E7-EA2A1C4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C1C09-6E39-4461-A6B7-410064D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1.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DAE27-9CC5-415B-868D-6B18FAB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City shortcut, map click, or exact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64296-4F96-46B9-9439-5247AA45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8D4D-7C24-4DC2-BF03-288F5F6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98FBC-E979-4542-A787-69D5199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2. Assessment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343F4-388E-4E32-9863-E4D1212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Large 1 km, 2 km, and 5 km choices explain the local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6D5B9-D7F8-4091-9231-9337971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A6477-6335-4B12-8D83-C075BD34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68853-E898-485F-B51A-BEB4EE8B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3.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D327C-321E-4DD3-9143-939A93E1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Land, forecast-rain, and river-context cards appear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ACF3E-4A43-4C98-A2EB-E14C797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262"/>
                </a:solidFill>
              </a:defRPr>
            </a:defPPr>
            <a:lvl1pPr algn="l">
              <a:defRPr sz="1200" b="0">
                <a:solidFill>
                  <a:srgbClr val="526262"/>
                </a:solidFill>
              </a:defRPr>
            </a:lvl1pPr>
            <a:lvl2pPr algn="l">
              <a:defRPr sz="1200" b="0">
                <a:solidFill>
                  <a:srgbClr val="526262"/>
                </a:solidFill>
              </a:defRPr>
            </a:lvl2pPr>
            <a:lvl3pPr algn="l">
              <a:defRPr sz="1200" b="0">
                <a:solidFill>
                  <a:srgbClr val="526262"/>
                </a:solidFill>
              </a:defRPr>
            </a:lvl3pPr>
            <a:lvl4pPr algn="l">
              <a:defRPr sz="1200" b="0">
                <a:solidFill>
                  <a:srgbClr val="526262"/>
                </a:solidFill>
              </a:defRPr>
            </a:lvl4pPr>
            <a:lvl5pPr algn="l">
              <a:defRPr sz="1200" b="0">
                <a:solidFill>
                  <a:srgbClr val="526262"/>
                </a:solidFill>
              </a:defRPr>
            </a:lvl5pPr>
            <a:lvl6pPr algn="l">
              <a:defRPr sz="1200" b="0">
                <a:solidFill>
                  <a:srgbClr val="526262"/>
                </a:solidFill>
              </a:defRPr>
            </a:lvl6pPr>
            <a:lvl7pPr algn="l">
              <a:defRPr sz="1200" b="0">
                <a:solidFill>
                  <a:srgbClr val="526262"/>
                </a:solidFill>
              </a:defRPr>
            </a:lvl7pPr>
            <a:lvl8pPr algn="l">
              <a:defRPr sz="1200" b="0">
                <a:solidFill>
                  <a:srgbClr val="526262"/>
                </a:solidFill>
              </a:defRPr>
            </a:lvl8pPr>
            <a:lvl9pPr algn="l">
              <a:defRPr sz="120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62"/>
                </a:solidFill>
              </a:defRPr>
            </a:pPr>
            <a:r>
              <a:rPr sz="1200" b="0">
                <a:solidFill>
                  <a:srgbClr val="526262"/>
                </a:solidFill>
              </a:rPr>
              <a:t>Technical evidence, source details, comparisons, and print output remain available in disclosures.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07DBC-9BFF-4BD7-90A8-7AF188E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C48FA-1062-4487-8DE5-E40EF8C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17951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37F52-3D16-4CAD-A602-398817C2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23713-0615-448A-AA92-277490EE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Verified live Chennai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E81B6-5631-4ED4-AD94-7708C2CA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 2 km run used mounted terrain tiles, imported HydroSHEDS data, and live Open-Meteo rainfall.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A29B3-CA8B-45FA-839B-4A87A7C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815D2-CD5C-4455-9DC0-127A6615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65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D2AC1-6CD5-4221-AAF4-05DC1DC9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relative terrain susceptibility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0E72-A0BC-4C47-B058-1503BE12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0.97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27344-A269-43BF-86E0-518EA332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 terrain-cell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FDEAC-649D-4816-97A5-87EBE93C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18.6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73090-B428-4238-8B4E-4D9B6CB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48-hour rainfall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A2AC2-9043-4B91-9DE3-D2F86B8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0.26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74D07-F00C-48A2-9B1C-3E85A79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nearest mapped river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8B3BB-B0D3-46D8-B9C9-2DFBDFB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C438C-87CA-4083-9983-CDF96FCC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2A"/>
                </a:solidFill>
              </a:defRPr>
            </a:defPPr>
            <a:lvl1pPr algn="l">
              <a:defRPr sz="1725" b="1">
                <a:solidFill>
                  <a:srgbClr val="102A2A"/>
                </a:solidFill>
              </a:defRPr>
            </a:lvl1pPr>
            <a:lvl2pPr algn="l">
              <a:defRPr sz="1725" b="1">
                <a:solidFill>
                  <a:srgbClr val="102A2A"/>
                </a:solidFill>
              </a:defRPr>
            </a:lvl2pPr>
            <a:lvl3pPr algn="l">
              <a:defRPr sz="1725" b="1">
                <a:solidFill>
                  <a:srgbClr val="102A2A"/>
                </a:solidFill>
              </a:defRPr>
            </a:lvl3pPr>
            <a:lvl4pPr algn="l">
              <a:defRPr sz="1725" b="1">
                <a:solidFill>
                  <a:srgbClr val="102A2A"/>
                </a:solidFill>
              </a:defRPr>
            </a:lvl4pPr>
            <a:lvl5pPr algn="l">
              <a:defRPr sz="1725" b="1">
                <a:solidFill>
                  <a:srgbClr val="102A2A"/>
                </a:solidFill>
              </a:defRPr>
            </a:lvl5pPr>
            <a:lvl6pPr algn="l">
              <a:defRPr sz="1725" b="1">
                <a:solidFill>
                  <a:srgbClr val="102A2A"/>
                </a:solidFill>
              </a:defRPr>
            </a:lvl6pPr>
            <a:lvl7pPr algn="l">
              <a:defRPr sz="1725" b="1">
                <a:solidFill>
                  <a:srgbClr val="102A2A"/>
                </a:solidFill>
              </a:defRPr>
            </a:lvl7pPr>
            <a:lvl8pPr algn="l">
              <a:defRPr sz="1725" b="1">
                <a:solidFill>
                  <a:srgbClr val="102A2A"/>
                </a:solidFill>
              </a:defRPr>
            </a:lvl8pPr>
            <a:lvl9pPr algn="l">
              <a:defRPr sz="17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Terrain, rainfall, containing basin, upstream context, and nearby river context all reached a complete result for the selected Chennai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F928D-86FF-4B21-90F6-FB39C182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C0493-42AA-410F-B379-D2066AC7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D6B5E"/>
                </a:solidFill>
              </a:defRPr>
            </a:defPPr>
            <a:lvl1pPr algn="ctr">
              <a:defRPr sz="975" b="1">
                <a:solidFill>
                  <a:srgbClr val="0D6B5E"/>
                </a:solidFill>
              </a:defRPr>
            </a:lvl1pPr>
            <a:lvl2pPr algn="ctr">
              <a:defRPr sz="975" b="1">
                <a:solidFill>
                  <a:srgbClr val="0D6B5E"/>
                </a:solidFill>
              </a:defRPr>
            </a:lvl2pPr>
            <a:lvl3pPr algn="ctr">
              <a:defRPr sz="975" b="1">
                <a:solidFill>
                  <a:srgbClr val="0D6B5E"/>
                </a:solidFill>
              </a:defRPr>
            </a:lvl3pPr>
            <a:lvl4pPr algn="ctr">
              <a:defRPr sz="975" b="1">
                <a:solidFill>
                  <a:srgbClr val="0D6B5E"/>
                </a:solidFill>
              </a:defRPr>
            </a:lvl4pPr>
            <a:lvl5pPr algn="ctr">
              <a:defRPr sz="975" b="1">
                <a:solidFill>
                  <a:srgbClr val="0D6B5E"/>
                </a:solidFill>
              </a:defRPr>
            </a:lvl5pPr>
            <a:lvl6pPr algn="ctr">
              <a:defRPr sz="975" b="1">
                <a:solidFill>
                  <a:srgbClr val="0D6B5E"/>
                </a:solidFill>
              </a:defRPr>
            </a:lvl6pPr>
            <a:lvl7pPr algn="ctr">
              <a:defRPr sz="975" b="1">
                <a:solidFill>
                  <a:srgbClr val="0D6B5E"/>
                </a:solidFill>
              </a:defRPr>
            </a:lvl7pPr>
            <a:lvl8pPr algn="ctr">
              <a:defRPr sz="975" b="1">
                <a:solidFill>
                  <a:srgbClr val="0D6B5E"/>
                </a:solidFill>
              </a:defRPr>
            </a:lvl8pPr>
            <a:lvl9pPr algn="ctr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28,907 basin polygons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47DDD-ABD2-472D-B590-70A6EDC3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9BF2C-0DEA-4533-B3A9-17C5F8B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407BC1"/>
                </a:solidFill>
              </a:defRPr>
            </a:defPPr>
            <a:lvl1pPr algn="ctr">
              <a:defRPr sz="975" b="1">
                <a:solidFill>
                  <a:srgbClr val="407BC1"/>
                </a:solidFill>
              </a:defRPr>
            </a:lvl1pPr>
            <a:lvl2pPr algn="ctr">
              <a:defRPr sz="975" b="1">
                <a:solidFill>
                  <a:srgbClr val="407BC1"/>
                </a:solidFill>
              </a:defRPr>
            </a:lvl2pPr>
            <a:lvl3pPr algn="ctr">
              <a:defRPr sz="975" b="1">
                <a:solidFill>
                  <a:srgbClr val="407BC1"/>
                </a:solidFill>
              </a:defRPr>
            </a:lvl3pPr>
            <a:lvl4pPr algn="ctr">
              <a:defRPr sz="975" b="1">
                <a:solidFill>
                  <a:srgbClr val="407BC1"/>
                </a:solidFill>
              </a:defRPr>
            </a:lvl4pPr>
            <a:lvl5pPr algn="ctr">
              <a:defRPr sz="975" b="1">
                <a:solidFill>
                  <a:srgbClr val="407BC1"/>
                </a:solidFill>
              </a:defRPr>
            </a:lvl5pPr>
            <a:lvl6pPr algn="ctr">
              <a:defRPr sz="975" b="1">
                <a:solidFill>
                  <a:srgbClr val="407BC1"/>
                </a:solidFill>
              </a:defRPr>
            </a:lvl6pPr>
            <a:lvl7pPr algn="ctr">
              <a:defRPr sz="975" b="1">
                <a:solidFill>
                  <a:srgbClr val="407BC1"/>
                </a:solidFill>
              </a:defRPr>
            </a:lvl7pPr>
            <a:lvl8pPr algn="ctr">
              <a:defRPr sz="975" b="1">
                <a:solidFill>
                  <a:srgbClr val="407BC1"/>
                </a:solidFill>
              </a:defRPr>
            </a:lvl8pPr>
            <a:lvl9pPr algn="ctr">
              <a:defRPr sz="97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07BC1"/>
                </a:solidFill>
              </a:defRPr>
            </a:pPr>
            <a:r>
              <a:rPr sz="975" b="1">
                <a:solidFill>
                  <a:srgbClr val="407BC1"/>
                </a:solidFill>
              </a:rPr>
              <a:t>1,428,959 river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25E57-A7B4-48BA-A168-DEFCA45F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E6F5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6AD1C-6D2C-49F0-A16D-49B659D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Docker app + DB +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DA271-4826-4B54-81A1-110D923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2754C-99B7-474A-A89E-6E038E5C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86F51"/>
                </a:solidFill>
              </a:defRPr>
            </a:defPPr>
            <a:lvl1pPr algn="ctr">
              <a:defRPr sz="975" b="1">
                <a:solidFill>
                  <a:srgbClr val="E86F51"/>
                </a:solidFill>
              </a:defRPr>
            </a:lvl1pPr>
            <a:lvl2pPr algn="ctr">
              <a:defRPr sz="975" b="1">
                <a:solidFill>
                  <a:srgbClr val="E86F51"/>
                </a:solidFill>
              </a:defRPr>
            </a:lvl2pPr>
            <a:lvl3pPr algn="ctr">
              <a:defRPr sz="975" b="1">
                <a:solidFill>
                  <a:srgbClr val="E86F51"/>
                </a:solidFill>
              </a:defRPr>
            </a:lvl3pPr>
            <a:lvl4pPr algn="ctr">
              <a:defRPr sz="975" b="1">
                <a:solidFill>
                  <a:srgbClr val="E86F51"/>
                </a:solidFill>
              </a:defRPr>
            </a:lvl4pPr>
            <a:lvl5pPr algn="ctr">
              <a:defRPr sz="975" b="1">
                <a:solidFill>
                  <a:srgbClr val="E86F51"/>
                </a:solidFill>
              </a:defRPr>
            </a:lvl5pPr>
            <a:lvl6pPr algn="ctr">
              <a:defRPr sz="975" b="1">
                <a:solidFill>
                  <a:srgbClr val="E86F51"/>
                </a:solidFill>
              </a:defRPr>
            </a:lvl6pPr>
            <a:lvl7pPr algn="ctr">
              <a:defRPr sz="975" b="1">
                <a:solidFill>
                  <a:srgbClr val="E86F51"/>
                </a:solidFill>
              </a:defRPr>
            </a:lvl7pPr>
            <a:lvl8pPr algn="ctr">
              <a:defRPr sz="975" b="1">
                <a:solidFill>
                  <a:srgbClr val="E86F51"/>
                </a:solidFill>
              </a:defRPr>
            </a:lvl8pPr>
            <a:lvl9pPr algn="ctr">
              <a:defRPr sz="97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86F51"/>
                </a:solidFill>
              </a:defRPr>
            </a:pPr>
            <a:r>
              <a:rPr sz="975" b="1">
                <a:solidFill>
                  <a:srgbClr val="E86F51"/>
                </a:solidFill>
              </a:rPr>
              <a:t>Explicit partial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5AB06-08C5-4DFB-90A9-828A56EC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1F73F-1ADC-446D-918E-B514025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0703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1DF65-FBEC-404F-880D-0D2B9FB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CD2C9-6F78-4A85-83B5-D608A26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Research lab: two related ML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28E17-D5E1-492A-AA28-E0B4B411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models study historical observed water. They do not produce the resident terrain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C8E81-B83D-4FB4-9A86-7CC5B5F0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46683-3A99-4E40-AE0E-FFB01CC2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4D8EB-3FB7-4630-BBE0-08417A20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CE35-363A-4990-8DD5-CAE9333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Whole-chip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C4670-648A-457B-B991-5D1C5735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Does this 512 × 512 chip contain at least 5% labelled observed water?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spatial gradient baseline and rainfall LSTM.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one probability and a thresholded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02694-3E7C-437A-8D40-6E34D8C9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DBA6-4AA4-4214-AF39-E102AD5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A8627-6255-4503-9667-9406261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Pixel water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ED797-0C81-4E5C-923A-9FAF945C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Which pixels match the verified observed-water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Extra Trees and a three-scale two-band U-Net.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a water mask plus error overlay.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C1429-1DA5-4D3B-A304-50CEE716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8CE83-AE1B-4BA4-904E-AB21B8A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Training and evaluation stay in research/. The resident API never treats these predictions as warnings or property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84534-2D74-42A8-B1B0-34062B7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C4C34-47AD-4532-8479-0F75B85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6180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31D55-2049-4C63-BBE7-667E9EC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BD818-3059-4C03-8005-8EB813E3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Evaluation prevents same-event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64CE7-F881-4117-A1ED-3E915B14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Validation selects checkpoints and thresholds; the test events remain unseen.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9C64A-94D1-41F4-84B8-7E69B0F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44453-C034-4F0E-8D2B-1E1878A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18999-9498-4E12-96F4-69B4DDE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A7FDB-750B-4D0B-B983-68E34BF0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242 chips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6C5A4-1892-42C5-AC92-7E25DE44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Six complete-rainfall events fit model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2ED3E-579B-4400-8706-4F37C23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7F091-F5A3-42C5-A97A-17172C75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3F539-6030-4473-A048-C9DA4A3B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87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FB7AC-DCC0-43EB-BD3F-EFE6798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USA and Sri Lanka select checkpoint and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F3FAA-34B5-459B-A93D-633ED88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12F35-C808-4243-8753-0B449C2F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8DD94-22B5-462A-AE4A-C4466B93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81 chips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3C629-2F13-4EAE-A361-04E0E039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Bolivia and Paraguay form the held-out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DD9FD-A633-40F9-9265-B48B2AD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Spain is excluded because its historical rainfall sequence is incomplete. Missing values are not imputed.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16AB-B3DA-4AA0-9F08-B0953543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D6B5E"/>
                </a:solidFill>
              </a:defRPr>
            </a:defPPr>
            <a:lvl1pPr algn="ctr">
              <a:defRPr sz="1650" b="1">
                <a:solidFill>
                  <a:srgbClr val="0D6B5E"/>
                </a:solidFill>
              </a:defRPr>
            </a:lvl1pPr>
            <a:lvl2pPr algn="ctr">
              <a:defRPr sz="1650" b="1">
                <a:solidFill>
                  <a:srgbClr val="0D6B5E"/>
                </a:solidFill>
              </a:defRPr>
            </a:lvl2pPr>
            <a:lvl3pPr algn="ctr">
              <a:defRPr sz="1650" b="1">
                <a:solidFill>
                  <a:srgbClr val="0D6B5E"/>
                </a:solidFill>
              </a:defRPr>
            </a:lvl3pPr>
            <a:lvl4pPr algn="ctr">
              <a:defRPr sz="1650" b="1">
                <a:solidFill>
                  <a:srgbClr val="0D6B5E"/>
                </a:solidFill>
              </a:defRPr>
            </a:lvl4pPr>
            <a:lvl5pPr algn="ctr">
              <a:defRPr sz="1650" b="1">
                <a:solidFill>
                  <a:srgbClr val="0D6B5E"/>
                </a:solidFill>
              </a:defRPr>
            </a:lvl5pPr>
            <a:lvl6pPr algn="ctr">
              <a:defRPr sz="1650" b="1">
                <a:solidFill>
                  <a:srgbClr val="0D6B5E"/>
                </a:solidFill>
              </a:defRPr>
            </a:lvl6pPr>
            <a:lvl7pPr algn="ctr">
              <a:defRPr sz="1650" b="1">
                <a:solidFill>
                  <a:srgbClr val="0D6B5E"/>
                </a:solidFill>
              </a:defRPr>
            </a:lvl7pPr>
            <a:lvl8pPr algn="ctr">
              <a:defRPr sz="1650" b="1">
                <a:solidFill>
                  <a:srgbClr val="0D6B5E"/>
                </a:solidFill>
              </a:defRPr>
            </a:lvl8pPr>
            <a:lvl9pPr algn="ctr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Event-held-out evaluation is harder and more honest than a random chip split.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A495D-B956-4C67-BE35-4D13F65E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82422-11F2-4544-8D02-E5E0265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9547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42140-C5F1-42B4-8C66-A373A03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F2C28-1BC6-4D98-A05D-CD3C32D1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How the models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8E43A-5C71-4E93-B2D6-CB99335B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29967-E999-4498-9BC7-69EE1F01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CA36E-419B-4754-9D2C-84B2CCF8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4F99A-B506-4191-BC65-FFB0865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2C4BA-94CD-4DC0-8F63-734F1E72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Historical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ECEB6-CAEF-4988-B253-810D4A9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Sentinel-1 VV/VH radar and 60 days of CHIRPS 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F8B8B-0B02-462B-99E3-85A3891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1A32B-7F94-4560-864D-50F6D87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93723-75D9-49F9-9BAD-BCF745F2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1232A-39E0-43D0-9A14-5D89966B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13320-A008-49A5-B10D-E28F55F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summaries or an LSTM estimate chip-level water.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81BCE-945C-4E74-876A-55F3940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E04E9-3753-4964-8A59-6929D9B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FBFC6-926B-415C-BF5C-72F691F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58EF3-7684-496E-8290-865ED7B8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21386-EB71-4686-AB3B-045BE6F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label each valid pixel.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32EB7-FE6C-408A-AD00-A8BE715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5B2D-36C8-49C9-8E1B-D89B19DE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7CBDD-B776-4A30-8A27-34F755EF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Spatial gradient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2BE09-193A-4942-A777-C62A23A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VV/VH percentiles, distribution spread, cross-polarisation summaries, texture gradients, and transformed rainfall.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D290D-94DB-42CA-A2CD-A181D977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8E139-4F6F-4CFC-AE20-8512272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BEAE4-7BDD-46BD-9282-47EBF16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Three-scale U-Net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02CB3-0BF0-4B6C-8821-B998A87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Two radar bands, augmented 128 × 128 crops, masked BCE plus Dice loss, and overlapping tiled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2B4FE-2F46-424A-A20A-D09BF08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lab places both tasks beside the same held-out event so users can inspect agreement and failure.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CB93B-FDE2-4DC9-BECC-369445A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1B2C4-B449-4416-9B36-26BC570E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9365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2426E-6DB8-447D-86D4-D41DC81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BEACF-478B-4732-87CF-606BC537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Held-out results on Bolivia and Paraguay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AE919-02A4-46B7-B4FF-25EC11B0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Scores come from 81 chips across two unseen events and remain exploratory.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E98D8-1B98-424F-AD11-C6854DDA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D76AE99-4DFD-4933-8311-0D6964A5C878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c90656c66742b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C5C93-C390-4756-B773-5090C1FE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1244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A83BD-057B-45C4-80B2-61741920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0.725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02A71-014F-46B5-9CEA-C21C943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segmentation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667ED-DB78-4804-B6D5-CFE0EFC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9281-1BE7-49F2-B41E-00C4CB11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intersection-over-union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4EEE2-0BFB-43AE-A10E-BDD81FC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72DD4-B04E-422D-A9D2-A7CEC8C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classification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F4B08-7C78-4A63-A1B1-C233517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81C01-0FA9-49ED-806B-A8072CBE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09480-C2E4-459E-9EB6-4CF0D9F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The LSTM reached PR-AUC 0.762, but threshold transfer reduced F1 to 0.293.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8FF67-95F6-4511-942F-33AAA43D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26262"/>
                </a:solidFill>
              </a:defRPr>
            </a:defPPr>
            <a:lvl1pPr algn="ctr">
              <a:defRPr sz="1200" b="1">
                <a:solidFill>
                  <a:srgbClr val="526262"/>
                </a:solidFill>
              </a:defRPr>
            </a:lvl1pPr>
            <a:lvl2pPr algn="ctr">
              <a:defRPr sz="1200" b="1">
                <a:solidFill>
                  <a:srgbClr val="526262"/>
                </a:solidFill>
              </a:defRPr>
            </a:lvl2pPr>
            <a:lvl3pPr algn="ctr">
              <a:defRPr sz="1200" b="1">
                <a:solidFill>
                  <a:srgbClr val="526262"/>
                </a:solidFill>
              </a:defRPr>
            </a:lvl3pPr>
            <a:lvl4pPr algn="ctr">
              <a:defRPr sz="1200" b="1">
                <a:solidFill>
                  <a:srgbClr val="526262"/>
                </a:solidFill>
              </a:defRPr>
            </a:lvl4pPr>
            <a:lvl5pPr algn="ctr">
              <a:defRPr sz="1200" b="1">
                <a:solidFill>
                  <a:srgbClr val="526262"/>
                </a:solidFill>
              </a:defRPr>
            </a:lvl5pPr>
            <a:lvl6pPr algn="ctr">
              <a:defRPr sz="1200" b="1">
                <a:solidFill>
                  <a:srgbClr val="526262"/>
                </a:solidFill>
              </a:defRPr>
            </a:lvl6pPr>
            <a:lvl7pPr algn="ctr">
              <a:defRPr sz="1200" b="1">
                <a:solidFill>
                  <a:srgbClr val="526262"/>
                </a:solidFill>
              </a:defRPr>
            </a:lvl7pPr>
            <a:lvl8pPr algn="ctr">
              <a:defRPr sz="1200" b="1">
                <a:solidFill>
                  <a:srgbClr val="526262"/>
                </a:solidFill>
              </a:defRPr>
            </a:lvl8pPr>
            <a:lvl9pPr algn="ctr">
              <a:defRPr sz="120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26262"/>
                </a:solidFill>
              </a:defRPr>
            </a:pPr>
            <a:r>
              <a:rPr sz="1200" b="1">
                <a:solidFill>
                  <a:srgbClr val="526262"/>
                </a:solidFill>
              </a:rPr>
              <a:t>Classification and segmentation scores describe different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A02EC-5F7C-4306-AF27-0B75E0D2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E1BA0-422E-41A6-B2B5-D8D2EC2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251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EAA88-CB9B-42AE-9F96-3A633C2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12454-3ED4-4A7A-9114-AF2E2ECC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Historical Event Lab: comparison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7843-1A55-4791-980D-7E57FBC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CBC8"/>
                </a:solidFill>
              </a:defRPr>
            </a:defPPr>
            <a:lvl1pPr algn="l">
              <a:defRPr sz="1125" b="0">
                <a:solidFill>
                  <a:srgbClr val="B9CBC8"/>
                </a:solidFill>
              </a:defRPr>
            </a:lvl1pPr>
            <a:lvl2pPr algn="l">
              <a:defRPr sz="1125" b="0">
                <a:solidFill>
                  <a:srgbClr val="B9CBC8"/>
                </a:solidFill>
              </a:defRPr>
            </a:lvl2pPr>
            <a:lvl3pPr algn="l">
              <a:defRPr sz="1125" b="0">
                <a:solidFill>
                  <a:srgbClr val="B9CBC8"/>
                </a:solidFill>
              </a:defRPr>
            </a:lvl3pPr>
            <a:lvl4pPr algn="l">
              <a:defRPr sz="1125" b="0">
                <a:solidFill>
                  <a:srgbClr val="B9CBC8"/>
                </a:solidFill>
              </a:defRPr>
            </a:lvl4pPr>
            <a:lvl5pPr algn="l">
              <a:defRPr sz="1125" b="0">
                <a:solidFill>
                  <a:srgbClr val="B9CBC8"/>
                </a:solidFill>
              </a:defRPr>
            </a:lvl5pPr>
            <a:lvl6pPr algn="l">
              <a:defRPr sz="1125" b="0">
                <a:solidFill>
                  <a:srgbClr val="B9CBC8"/>
                </a:solidFill>
              </a:defRPr>
            </a:lvl6pPr>
            <a:lvl7pPr algn="l">
              <a:defRPr sz="1125" b="0">
                <a:solidFill>
                  <a:srgbClr val="B9CBC8"/>
                </a:solidFill>
              </a:defRPr>
            </a:lvl7pPr>
            <a:lvl8pPr algn="l">
              <a:defRPr sz="1125" b="0">
                <a:solidFill>
                  <a:srgbClr val="B9CBC8"/>
                </a:solidFill>
              </a:defRPr>
            </a:lvl8pPr>
            <a:lvl9pPr algn="l">
              <a:defRPr sz="112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BC8"/>
                </a:solidFill>
              </a:defRPr>
            </a:pPr>
            <a:r>
              <a:rPr sz="1125" b="0">
                <a:solidFill>
                  <a:srgbClr val="B9CBC8"/>
                </a:solidFill>
              </a:rPr>
              <a:t>Select an event and chip, change model, adjust opacity, and inspect run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3937-CB01-439E-BE61-74F2AEA4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4FBFA-0FD5-436C-9554-3D4C80CFF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8f3ce4a3a48e0"/>
          <a:stretch xmlns:a="http://schemas.openxmlformats.org/drawingml/2006/main"/>
        </p:blipFill>
        <p:spPr>
          <a:xfrm xmlns:a="http://schemas.openxmlformats.org/drawingml/2006/main">
            <a:off x="1785614" y="1257300"/>
            <a:ext cx="362967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8C6F8-4A3F-411E-9429-968C19B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34E43-0279-435D-9840-567A9F37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DE1E-1192-4A9C-87E7-3A5305EE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Held-out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4062-113D-477B-BDAD-A57FDEAA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IoU/F1 appear beside chip-level classification.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CA76E-6B64-4E96-8BCA-6876507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29D8F-2E4E-40AD-97F9-9602EF16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A88D0-36E3-455E-AE7E-B7643982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Visible threshold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757B2-D97F-4889-AE48-567ED4A7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original LSTM remains visible because weak transfer is useful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8D6F4-DB8C-4B7B-A010-1D24849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9D462-6BEE-45B9-88B6-669FB90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F6C52-4798-4A7A-8129-E82B1FC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Reproducible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E3651-199E-4943-BAC8-C160D851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export points to the accepted baseline artifact and frozen segmentation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DC2E5-507A-414C-A414-EB6433C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AA3A0"/>
                </a:solidFill>
              </a:defRPr>
            </a:defPPr>
            <a:lvl1pPr algn="l">
              <a:defRPr sz="825" b="0">
                <a:solidFill>
                  <a:srgbClr val="8AA3A0"/>
                </a:solidFill>
              </a:defRPr>
            </a:lvl1pPr>
            <a:lvl2pPr algn="l">
              <a:defRPr sz="825" b="0">
                <a:solidFill>
                  <a:srgbClr val="8AA3A0"/>
                </a:solidFill>
              </a:defRPr>
            </a:lvl2pPr>
            <a:lvl3pPr algn="l">
              <a:defRPr sz="825" b="0">
                <a:solidFill>
                  <a:srgbClr val="8AA3A0"/>
                </a:solidFill>
              </a:defRPr>
            </a:lvl3pPr>
            <a:lvl4pPr algn="l">
              <a:defRPr sz="825" b="0">
                <a:solidFill>
                  <a:srgbClr val="8AA3A0"/>
                </a:solidFill>
              </a:defRPr>
            </a:lvl4pPr>
            <a:lvl5pPr algn="l">
              <a:defRPr sz="825" b="0">
                <a:solidFill>
                  <a:srgbClr val="8AA3A0"/>
                </a:solidFill>
              </a:defRPr>
            </a:lvl5pPr>
            <a:lvl6pPr algn="l">
              <a:defRPr sz="825" b="0">
                <a:solidFill>
                  <a:srgbClr val="8AA3A0"/>
                </a:solidFill>
              </a:defRPr>
            </a:lvl6pPr>
            <a:lvl7pPr algn="l">
              <a:defRPr sz="825" b="0">
                <a:solidFill>
                  <a:srgbClr val="8AA3A0"/>
                </a:solidFill>
              </a:defRPr>
            </a:lvl7pPr>
            <a:lvl8pPr algn="l">
              <a:defRPr sz="825" b="0">
                <a:solidFill>
                  <a:srgbClr val="8AA3A0"/>
                </a:solidFill>
              </a:defRPr>
            </a:lvl8pPr>
            <a:lvl9pPr algn="l">
              <a:defRPr sz="8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8AA3A0"/>
                </a:solidFill>
              </a:defRPr>
            </a:pPr>
            <a:r>
              <a:rPr sz="825" b="0">
                <a:solidFill>
                  <a:srgbClr val="8AA3A0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FD16E-FBB5-4B7C-9543-77280AFF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8AA3A0"/>
                </a:solidFill>
              </a:defRPr>
            </a:defPPr>
            <a:lvl1pPr algn="r">
              <a:defRPr sz="825" b="1">
                <a:solidFill>
                  <a:srgbClr val="8AA3A0"/>
                </a:solidFill>
              </a:defRPr>
            </a:lvl1pPr>
            <a:lvl2pPr algn="r">
              <a:defRPr sz="825" b="1">
                <a:solidFill>
                  <a:srgbClr val="8AA3A0"/>
                </a:solidFill>
              </a:defRPr>
            </a:lvl2pPr>
            <a:lvl3pPr algn="r">
              <a:defRPr sz="825" b="1">
                <a:solidFill>
                  <a:srgbClr val="8AA3A0"/>
                </a:solidFill>
              </a:defRPr>
            </a:lvl3pPr>
            <a:lvl4pPr algn="r">
              <a:defRPr sz="825" b="1">
                <a:solidFill>
                  <a:srgbClr val="8AA3A0"/>
                </a:solidFill>
              </a:defRPr>
            </a:lvl4pPr>
            <a:lvl5pPr algn="r">
              <a:defRPr sz="825" b="1">
                <a:solidFill>
                  <a:srgbClr val="8AA3A0"/>
                </a:solidFill>
              </a:defRPr>
            </a:lvl5pPr>
            <a:lvl6pPr algn="r">
              <a:defRPr sz="825" b="1">
                <a:solidFill>
                  <a:srgbClr val="8AA3A0"/>
                </a:solidFill>
              </a:defRPr>
            </a:lvl6pPr>
            <a:lvl7pPr algn="r">
              <a:defRPr sz="825" b="1">
                <a:solidFill>
                  <a:srgbClr val="8AA3A0"/>
                </a:solidFill>
              </a:defRPr>
            </a:lvl7pPr>
            <a:lvl8pPr algn="r">
              <a:defRPr sz="825" b="1">
                <a:solidFill>
                  <a:srgbClr val="8AA3A0"/>
                </a:solidFill>
              </a:defRPr>
            </a:lvl8pPr>
            <a:lvl9pPr algn="r">
              <a:defRPr sz="825" b="1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AA3A0"/>
                </a:solidFill>
              </a:defRPr>
            </a:pPr>
            <a:r>
              <a:rPr sz="825" b="1">
                <a:solidFill>
                  <a:srgbClr val="8AA3A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224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CE85F-92C0-4524-B2F7-CD1EA9B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59C73-6F64-4195-95C4-42E3DD6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Failure analysis on a held-out satellite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15743-BF6F-4293-8C40-C2621EF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Bolivia_129334 has full radar coverage, so the four panels can be compared without a confusing no-data swath.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19D3-5113-4FBE-A43E-B29E535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4AD9C-145B-4646-87F7-733287ED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Radar input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AFC02-AC0D-48E5-8459-D68AEDB6B4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010ac58ad4708"/>
          <a:stretch xmlns:a="http://schemas.openxmlformats.org/drawingml/2006/main"/>
        </p:blipFill>
        <p:spPr>
          <a:xfrm xmlns:a="http://schemas.openxmlformats.org/drawingml/2006/main">
            <a:off x="8382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E85EA-1A4A-475C-BBCD-A7D0184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Verified label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A6D37-9328-41F3-AF3A-7D456C0F5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89c63c30741a4"/>
          <a:stretch xmlns:a="http://schemas.openxmlformats.org/drawingml/2006/main"/>
        </p:blipFill>
        <p:spPr>
          <a:xfrm xmlns:a="http://schemas.openxmlformats.org/drawingml/2006/main">
            <a:off x="35623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F787F-B0A2-41C4-AA79-1A3E657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U-Net prediction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9D222-9B61-4642-BA89-B3F0DC9B2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8cdd0b14743e6"/>
          <a:stretch xmlns:a="http://schemas.openxmlformats.org/drawingml/2006/main"/>
        </p:blipFill>
        <p:spPr>
          <a:xfrm xmlns:a="http://schemas.openxmlformats.org/drawingml/2006/main">
            <a:off x="62865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D8367-CF6A-4C9B-8096-0ECB4E8E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Error overlay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19E2B-A727-4553-B86B-090BD81D9E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e1ee108644f8a"/>
          <a:stretch xmlns:a="http://schemas.openxmlformats.org/drawingml/2006/main"/>
        </p:blipFill>
        <p:spPr>
          <a:xfrm xmlns:a="http://schemas.openxmlformats.org/drawingml/2006/main">
            <a:off x="90106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5522D-B7BC-4853-8A40-B4ACBA0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77DCA-B982-4D44-8479-DE9105C3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How to read this chip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F28F7-4529-41C5-9C51-A4B66A8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C7627-0906-4037-8566-4C7932D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Observed water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667CE-4986-4191-904F-5D2CE80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solidFill>
              <a:srgbClr val="D957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6D3E2-73AD-418F-A8B2-97E19D8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False 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E4AA8-CB21-4499-89BE-48A8452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3A"/>
          </a:solidFill>
          <a:ln xmlns:a="http://schemas.openxmlformats.org/drawingml/2006/main" w="0">
            <a:solidFill>
              <a:srgbClr val="F2A2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E957B-6DFB-409D-B8DB-AAF3258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Missed water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BB1AA-C510-45C0-84BD-2944317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8794E-149B-42BB-B326-FB7259DC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No label / outside valid footprint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B720C-ABE9-4689-B50A-D3607A8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U-Net IoU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82E9C-4AC5-471D-9F9B-6600350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6B6CF"/>
                </a:solidFill>
              </a:defRPr>
            </a:defPPr>
            <a:lvl1pPr algn="l">
              <a:defRPr sz="2400" b="1">
                <a:solidFill>
                  <a:srgbClr val="26B6CF"/>
                </a:solidFill>
              </a:defRPr>
            </a:lvl1pPr>
            <a:lvl2pPr algn="l">
              <a:defRPr sz="2400" b="1">
                <a:solidFill>
                  <a:srgbClr val="26B6CF"/>
                </a:solidFill>
              </a:defRPr>
            </a:lvl2pPr>
            <a:lvl3pPr algn="l">
              <a:defRPr sz="2400" b="1">
                <a:solidFill>
                  <a:srgbClr val="26B6CF"/>
                </a:solidFill>
              </a:defRPr>
            </a:lvl3pPr>
            <a:lvl4pPr algn="l">
              <a:defRPr sz="2400" b="1">
                <a:solidFill>
                  <a:srgbClr val="26B6CF"/>
                </a:solidFill>
              </a:defRPr>
            </a:lvl4pPr>
            <a:lvl5pPr algn="l">
              <a:defRPr sz="2400" b="1">
                <a:solidFill>
                  <a:srgbClr val="26B6CF"/>
                </a:solidFill>
              </a:defRPr>
            </a:lvl5pPr>
            <a:lvl6pPr algn="l">
              <a:defRPr sz="2400" b="1">
                <a:solidFill>
                  <a:srgbClr val="26B6CF"/>
                </a:solidFill>
              </a:defRPr>
            </a:lvl6pPr>
            <a:lvl7pPr algn="l">
              <a:defRPr sz="2400" b="1">
                <a:solidFill>
                  <a:srgbClr val="26B6CF"/>
                </a:solidFill>
              </a:defRPr>
            </a:lvl7pPr>
            <a:lvl8pPr algn="l">
              <a:defRPr sz="2400" b="1">
                <a:solidFill>
                  <a:srgbClr val="26B6CF"/>
                </a:solidFill>
              </a:defRPr>
            </a:lvl8pPr>
            <a:lvl9pPr algn="l">
              <a:defRPr sz="240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6B6CF"/>
                </a:solidFill>
              </a:defRPr>
            </a:pPr>
            <a:r>
              <a:rPr sz="2400" b="1">
                <a:solidFill>
                  <a:srgbClr val="26B6CF"/>
                </a:solidFill>
              </a:rPr>
              <a:t>0.807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B69B5-1516-4135-B538-A0E0878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precision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97FB8-8806-4911-ADB3-7E143AE5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D6B5E"/>
                </a:solidFill>
              </a:defRPr>
            </a:defPPr>
            <a:lvl1pPr algn="l">
              <a:defRPr sz="2400" b="1">
                <a:solidFill>
                  <a:srgbClr val="0D6B5E"/>
                </a:solidFill>
              </a:defRPr>
            </a:lvl1pPr>
            <a:lvl2pPr algn="l">
              <a:defRPr sz="2400" b="1">
                <a:solidFill>
                  <a:srgbClr val="0D6B5E"/>
                </a:solidFill>
              </a:defRPr>
            </a:lvl2pPr>
            <a:lvl3pPr algn="l">
              <a:defRPr sz="2400" b="1">
                <a:solidFill>
                  <a:srgbClr val="0D6B5E"/>
                </a:solidFill>
              </a:defRPr>
            </a:lvl3pPr>
            <a:lvl4pPr algn="l">
              <a:defRPr sz="2400" b="1">
                <a:solidFill>
                  <a:srgbClr val="0D6B5E"/>
                </a:solidFill>
              </a:defRPr>
            </a:lvl4pPr>
            <a:lvl5pPr algn="l">
              <a:defRPr sz="2400" b="1">
                <a:solidFill>
                  <a:srgbClr val="0D6B5E"/>
                </a:solidFill>
              </a:defRPr>
            </a:lvl5pPr>
            <a:lvl6pPr algn="l">
              <a:defRPr sz="2400" b="1">
                <a:solidFill>
                  <a:srgbClr val="0D6B5E"/>
                </a:solidFill>
              </a:defRPr>
            </a:lvl6pPr>
            <a:lvl7pPr algn="l">
              <a:defRPr sz="2400" b="1">
                <a:solidFill>
                  <a:srgbClr val="0D6B5E"/>
                </a:solidFill>
              </a:defRPr>
            </a:lvl7pPr>
            <a:lvl8pPr algn="l">
              <a:defRPr sz="2400" b="1">
                <a:solidFill>
                  <a:srgbClr val="0D6B5E"/>
                </a:solidFill>
              </a:defRPr>
            </a:lvl8pPr>
            <a:lvl9pPr algn="l">
              <a:defRPr sz="24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D6B5E"/>
                </a:solidFill>
              </a:defRPr>
            </a:pPr>
            <a:r>
              <a:rPr sz="2400" b="1">
                <a:solidFill>
                  <a:srgbClr val="0D6B5E"/>
                </a:solidFill>
              </a:rPr>
              <a:t>0.965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1009D-D2D8-46DF-909F-E0E2D55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86F51"/>
                </a:solidFill>
              </a:defRPr>
            </a:defPPr>
            <a:lvl1pPr algn="l">
              <a:defRPr sz="1050" b="1">
                <a:solidFill>
                  <a:srgbClr val="E86F51"/>
                </a:solidFill>
              </a:defRPr>
            </a:lvl1pPr>
            <a:lvl2pPr algn="l">
              <a:defRPr sz="1050" b="1">
                <a:solidFill>
                  <a:srgbClr val="E86F51"/>
                </a:solidFill>
              </a:defRPr>
            </a:lvl2pPr>
            <a:lvl3pPr algn="l">
              <a:defRPr sz="1050" b="1">
                <a:solidFill>
                  <a:srgbClr val="E86F51"/>
                </a:solidFill>
              </a:defRPr>
            </a:lvl3pPr>
            <a:lvl4pPr algn="l">
              <a:defRPr sz="1050" b="1">
                <a:solidFill>
                  <a:srgbClr val="E86F51"/>
                </a:solidFill>
              </a:defRPr>
            </a:lvl4pPr>
            <a:lvl5pPr algn="l">
              <a:defRPr sz="1050" b="1">
                <a:solidFill>
                  <a:srgbClr val="E86F51"/>
                </a:solidFill>
              </a:defRPr>
            </a:lvl5pPr>
            <a:lvl6pPr algn="l">
              <a:defRPr sz="1050" b="1">
                <a:solidFill>
                  <a:srgbClr val="E86F51"/>
                </a:solidFill>
              </a:defRPr>
            </a:lvl6pPr>
            <a:lvl7pPr algn="l">
              <a:defRPr sz="1050" b="1">
                <a:solidFill>
                  <a:srgbClr val="E86F51"/>
                </a:solidFill>
              </a:defRPr>
            </a:lvl7pPr>
            <a:lvl8pPr algn="l">
              <a:defRPr sz="1050" b="1">
                <a:solidFill>
                  <a:srgbClr val="E86F51"/>
                </a:solidFill>
              </a:defRPr>
            </a:lvl8pPr>
            <a:lvl9pPr algn="l">
              <a:defRPr sz="10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86F51"/>
                </a:solidFill>
              </a:defRPr>
            </a:pPr>
            <a:r>
              <a:rPr sz="1050" b="1">
                <a:solidFill>
                  <a:srgbClr val="E86F51"/>
                </a:solidFill>
              </a:rPr>
              <a:t>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77D97-A3B2-4CA4-8036-6A981F1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26262"/>
                </a:solidFill>
              </a:defRPr>
            </a:defPPr>
            <a:lvl1pPr algn="l">
              <a:defRPr sz="975" b="0">
                <a:solidFill>
                  <a:srgbClr val="526262"/>
                </a:solidFill>
              </a:defRPr>
            </a:lvl1pPr>
            <a:lvl2pPr algn="l">
              <a:defRPr sz="975" b="0">
                <a:solidFill>
                  <a:srgbClr val="526262"/>
                </a:solidFill>
              </a:defRPr>
            </a:lvl2pPr>
            <a:lvl3pPr algn="l">
              <a:defRPr sz="975" b="0">
                <a:solidFill>
                  <a:srgbClr val="526262"/>
                </a:solidFill>
              </a:defRPr>
            </a:lvl3pPr>
            <a:lvl4pPr algn="l">
              <a:defRPr sz="975" b="0">
                <a:solidFill>
                  <a:srgbClr val="526262"/>
                </a:solidFill>
              </a:defRPr>
            </a:lvl4pPr>
            <a:lvl5pPr algn="l">
              <a:defRPr sz="975" b="0">
                <a:solidFill>
                  <a:srgbClr val="526262"/>
                </a:solidFill>
              </a:defRPr>
            </a:lvl5pPr>
            <a:lvl6pPr algn="l">
              <a:defRPr sz="975" b="0">
                <a:solidFill>
                  <a:srgbClr val="526262"/>
                </a:solidFill>
              </a:defRPr>
            </a:lvl6pPr>
            <a:lvl7pPr algn="l">
              <a:defRPr sz="975" b="0">
                <a:solidFill>
                  <a:srgbClr val="526262"/>
                </a:solidFill>
              </a:defRPr>
            </a:lvl7pPr>
            <a:lvl8pPr algn="l">
              <a:defRPr sz="975" b="0">
                <a:solidFill>
                  <a:srgbClr val="526262"/>
                </a:solidFill>
              </a:defRPr>
            </a:lvl8pPr>
            <a:lvl9pPr algn="l">
              <a:defRPr sz="9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26262"/>
                </a:solidFill>
              </a:defRPr>
            </a:pPr>
            <a:r>
              <a:rPr sz="975" b="0">
                <a:solidFill>
                  <a:srgbClr val="526262"/>
                </a:solidFill>
              </a:rPr>
              <a:t>The U-Net recovers most of the broad labelled water area. Remaining mistakes concentrate around narrow boundaries and small disconnected regions.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DE5DC-89D0-4BAC-94CF-CFDFB60C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5CB5D-F861-49A2-BA47-906AFCF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0048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673BE-4094-4FBF-BDAE-A23AEDE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1FFE8-80D6-4106-BB1E-87C27189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 higher F1 can still hide a bad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35EFC-F481-42E8-883E-BF6A4AB4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event-balanced LSTM v2 reached F1 0.603 by predicting every held-out chip as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E5A1F-5ACF-4680-9E7E-FD17F4F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38CC3-70DE-4706-8CA7-DC6E9ADA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3C4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32C6A-14A1-479C-8B9E-EE18B47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Rejected LSTM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B6279-CDA0-4A90-8357-982E543F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F1E5A-F234-4352-B0DC-2C25326B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chips predicted positive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38E1B-F7EE-4407-84B4-FCFF2D0C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DDB3E-BCEE-4DE9-8420-DAEC82B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true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E481A-5786-4DE3-8745-4683584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The apparent F1 improvement did not represent a useful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C581E-97B0-4A3E-8746-038D3B9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959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C2099-041C-4442-A62E-CBB636E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Accepted spatial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18FAE-987F-4F53-8FFC-174C8D6A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A2E86-FC38-4B99-8B49-97F72BD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CAABC-39C0-4980-B51D-A46449D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B57F2-9410-47F4-B601-3AB4FAF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0CACF-613D-4049-99B8-1D9B069F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It preserves positive and negative decisions, with PR-AUC 0.871 and ROC-AUC 0.909.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5BC20-FC71-4F89-940E-9147A807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D6B5E"/>
                </a:solidFill>
              </a:defRPr>
            </a:defPPr>
            <a:lvl1pPr algn="ctr">
              <a:defRPr sz="1575" b="1">
                <a:solidFill>
                  <a:srgbClr val="0D6B5E"/>
                </a:solidFill>
              </a:defRPr>
            </a:lvl1pPr>
            <a:lvl2pPr algn="ctr">
              <a:defRPr sz="1575" b="1">
                <a:solidFill>
                  <a:srgbClr val="0D6B5E"/>
                </a:solidFill>
              </a:defRPr>
            </a:lvl2pPr>
            <a:lvl3pPr algn="ctr">
              <a:defRPr sz="1575" b="1">
                <a:solidFill>
                  <a:srgbClr val="0D6B5E"/>
                </a:solidFill>
              </a:defRPr>
            </a:lvl3pPr>
            <a:lvl4pPr algn="ctr">
              <a:defRPr sz="1575" b="1">
                <a:solidFill>
                  <a:srgbClr val="0D6B5E"/>
                </a:solidFill>
              </a:defRPr>
            </a:lvl4pPr>
            <a:lvl5pPr algn="ctr">
              <a:defRPr sz="1575" b="1">
                <a:solidFill>
                  <a:srgbClr val="0D6B5E"/>
                </a:solidFill>
              </a:defRPr>
            </a:lvl5pPr>
            <a:lvl6pPr algn="ctr">
              <a:defRPr sz="1575" b="1">
                <a:solidFill>
                  <a:srgbClr val="0D6B5E"/>
                </a:solidFill>
              </a:defRPr>
            </a:lvl6pPr>
            <a:lvl7pPr algn="ctr">
              <a:defRPr sz="1575" b="1">
                <a:solidFill>
                  <a:srgbClr val="0D6B5E"/>
                </a:solidFill>
              </a:defRPr>
            </a:lvl7pPr>
            <a:lvl8pPr algn="ctr">
              <a:defRPr sz="1575" b="1">
                <a:solidFill>
                  <a:srgbClr val="0D6B5E"/>
                </a:solidFill>
              </a:defRPr>
            </a:lvl8pPr>
            <a:lvl9pPr algn="ctr">
              <a:defRPr sz="15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D6B5E"/>
                </a:solidFill>
              </a:defRPr>
            </a:pPr>
            <a:r>
              <a:rPr sz="1575" b="1">
                <a:solidFill>
                  <a:srgbClr val="0D6B5E"/>
                </a:solidFill>
              </a:rPr>
              <a:t>Model selection uses the confusion pattern and threshold-independent metrics, not F1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02F5-75F6-4561-87DA-740CB34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F3E5C-E4CE-49FE-BF59-90EF733B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13056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25016-5C8E-4881-B8F9-5037964D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FC14C-24B5-4BF1-8901-11F96E1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deliverables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ACAD4-F504-4E3B-8967-2E0C17D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project now includes a resident application, a research laboratory, verified local data, trained models, and reproducible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F61E1-9171-41D7-8DAD-BA603C4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CDEE2-08BF-4C69-83D9-1B21AFE5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B5C72-5467-4139-94BC-704DF70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A2420-CE47-4A5A-B9AF-8BE07FBF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1ED78-C95D-4380-884A-ED188DF8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Guided map workflow, 1/2/5 km assessment circles, asynchronous job progress, factor cards, source disclosures, comparison snapshots, and print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2933-864F-4FE9-817F-66870E0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0404-07CD-4821-9AA6-1F44F0F5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7F445-7818-4BCE-AF8C-E5939AF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Historical Event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A5FF4-CBAA-4171-BB2C-1F9A85B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event and chip selection, synchronized radar/label/prediction panels, model switching, zoom, opacity, failure sorting, run provenance, and experiment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E849F-A8A4-495D-B99F-2EE56A9D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41747-DE29-42CF-AE02-978828B6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E1AC8-D420-4168-8228-351C6C7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Model and data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3BB5D-5F94-49DF-9099-1F8ADC47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Accepted classification and segmentation runs, frozen thresholds, predictions, metrics, event split, local dataset registry, and provenance-aware imports.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C0779-C412-402B-9885-6C2CAF0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AD465-3DAE-4838-A9EE-F94996CF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E6CEB-1548-40D2-88CF-775DF6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Deployment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73018-27D8-4DBF-93C9-C091FFF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Docker Compose runs the app, worker, and PostGIS database. The same app serves the resident site and /research/ viewer.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2546E-7BF8-43D7-BEAF-E6C5CD7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6AF36-8DD9-4AC5-AEEA-99F0B23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FFA93-6F35-4CF5-98A3-401505F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Project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1BC2BF-00F2-486E-9127-75350F9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Technical README files, method notes, source inventory, reproducible run instructions, screenshots, and this final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B1618-F30C-40EC-AB64-D3C3040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4DC68-9FE7-430C-B17E-3D425A5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71825-CD7A-41ED-B714-B783C52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B558A-8486-453D-999F-40CEF897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Unavailable data stays unavailable. Research output remains outside the resident assessment and carries no warning or property-risk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DBD99-DE4C-4970-B9D8-1AF6DBC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BEB7F-7896-49A4-88C5-7542A50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869239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930BF-43B5-4D46-9A53-A8CEE470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A0E0C-0431-4A1F-945D-AD20D7B8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result: what a user receives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7A4D6-1BBD-4C4C-88C2-16B87D0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completed assessment turns multiple technical data sources into a short, understandable neighbourhood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3BA17-DBB5-4B17-B60E-35A2800D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1F617-BAA1-4999-940D-EADFD90E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4E752-AF81-466D-8B15-42238C8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084A3-11BF-44AA-8402-75A1111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F4E4-39A3-40EF-8437-BBFCBEC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76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Location and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24F77-2E2D-42A5-A1AC-19EF4B5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Selected map point, exact coordinates when expanded, and the chosen 1 km, 2 km, or 5 km circle.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FB508-A38F-486F-9148-82DE3419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D01BA-3592-42C3-9602-E145DA8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C21A1-3892-4E2C-B7FB-F9D9210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BAC63-9B33-40D8-B7E9-CA44DAF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526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Land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75657-D9C1-4DB2-A163-1A87C85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Relative terrain susceptibility, factor explanation, coverage ratio, and a clear statement that the score is not flood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1E297-9792-405A-AC05-333C3AD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69582-6811-4CB8-84A2-41413AC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21581-75DB-4475-8815-9E448A1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6B5F0-013B-46A7-99C8-369C87E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Rainfall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34705-C822-409F-8AEA-9F072F40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Provider, forecast window, total rainfall, intensity context, and an unavailable state if the provider cannot return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C9D43-FA40-486D-8D12-E5655B3A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ED6AD-5036-4AC4-AA35-3FF01B57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FF9A4-E01E-4F18-862E-70A2754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BB78F-B247-4D7E-8F5B-19F3353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River and basin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49F0E-6E72-4B94-8D95-5B48FFF2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Containing basin, upstream context, nearest mapped river distance, and wording that prevents property-level interpretation.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C9617-AC18-4ECB-A05A-321A059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C588F-2D39-407F-B65F-8161D16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  <a:ln xmlns:a="http://schemas.openxmlformats.org/drawingml/2006/main" w="9525">
            <a:solidFill>
              <a:srgbClr val="E8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8831F-ABC9-4995-AD41-C4217C4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FBA18-1E7C-4452-8FD1-3201BE2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Evidence and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965C0-8340-483E-9D8D-16B5648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Analysis ID, dataset status, import coverage, source versions, timing, technical JSON, and printable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2DE0C-A47E-4B9D-8F4E-97E3C1D8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The final screen starts with the information residents can act on, while detailed evidence stays available for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32D68-77BB-45D9-B253-A7416A3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A5B92-4E01-40A6-971C-68EFA0FB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984487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B8512-451E-4849-AABA-6C16C3DF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0DE2B-C6E6-456E-86A3-205A1A6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End result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87580-C6A7-4397-AF7E-35FB84C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C886D-B2D3-4F14-BAA9-DAD1A22C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local resident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B12F2-693B-4359-B1D5-EFF5A399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8198A-DE58-4A9E-B417-DA490EF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historical-event research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EE3D-6338-40AC-907B-1A88C51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B2878-D09C-43FD-822F-75FECE5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Chennai data-backed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E84CB-5D4B-40F1-B402-4839F23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7BC1E-0450-4DA1-BC64-98D7FE1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ML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944B1-0E51-45AA-BD3F-C152B2A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9660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EFB13-C1B3-4E10-AF07-9AC4CA9B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Final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3EA72-3644-4922-BC7E-667E687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</a:defRPr>
            </a:defPPr>
            <a:lvl1pPr algn="l">
              <a:defRPr sz="2025" b="1">
                <a:solidFill>
                  <a:srgbClr val="FFFFFF"/>
                </a:solidFill>
              </a:defRPr>
            </a:lvl1pPr>
            <a:lvl2pPr algn="l">
              <a:defRPr sz="2025" b="1">
                <a:solidFill>
                  <a:srgbClr val="FFFFFF"/>
                </a:solidFill>
              </a:defRPr>
            </a:lvl2pPr>
            <a:lvl3pPr algn="l">
              <a:defRPr sz="2025" b="1">
                <a:solidFill>
                  <a:srgbClr val="FFFFFF"/>
                </a:solidFill>
              </a:defRPr>
            </a:lvl3pPr>
            <a:lvl4pPr algn="l">
              <a:defRPr sz="2025" b="1">
                <a:solidFill>
                  <a:srgbClr val="FFFFFF"/>
                </a:solidFill>
              </a:defRPr>
            </a:lvl4pPr>
            <a:lvl5pPr algn="l">
              <a:defRPr sz="2025" b="1">
                <a:solidFill>
                  <a:srgbClr val="FFFFFF"/>
                </a:solidFill>
              </a:defRPr>
            </a:lvl5pPr>
            <a:lvl6pPr algn="l">
              <a:defRPr sz="2025" b="1">
                <a:solidFill>
                  <a:srgbClr val="FFFFFF"/>
                </a:solidFill>
              </a:defRPr>
            </a:lvl6pPr>
            <a:lvl7pPr algn="l">
              <a:defRPr sz="2025" b="1">
                <a:solidFill>
                  <a:srgbClr val="FFFFFF"/>
                </a:solidFill>
              </a:defRPr>
            </a:lvl7pPr>
            <a:lvl8pPr algn="l">
              <a:defRPr sz="2025" b="1">
                <a:solidFill>
                  <a:srgbClr val="FFFFFF"/>
                </a:solidFill>
              </a:defRPr>
            </a:lvl8pPr>
            <a:lvl9pPr algn="l"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FloodLens successfully demonstrates how terrain, forecast rainfall, river-basin context, and historical-event ML analysis can be combined in one transparent project without presenting experimental predictions as public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3C9F5-64F0-4929-8673-7FB26E5E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B6CF"/>
                </a:solidFill>
              </a:defRPr>
            </a:defPPr>
            <a:lvl1pPr algn="l">
              <a:defRPr sz="1275" b="1">
                <a:solidFill>
                  <a:srgbClr val="26B6CF"/>
                </a:solidFill>
              </a:defRPr>
            </a:lvl1pPr>
            <a:lvl2pPr algn="l">
              <a:defRPr sz="1275" b="1">
                <a:solidFill>
                  <a:srgbClr val="26B6CF"/>
                </a:solidFill>
              </a:defRPr>
            </a:lvl2pPr>
            <a:lvl3pPr algn="l">
              <a:defRPr sz="1275" b="1">
                <a:solidFill>
                  <a:srgbClr val="26B6CF"/>
                </a:solidFill>
              </a:defRPr>
            </a:lvl3pPr>
            <a:lvl4pPr algn="l">
              <a:defRPr sz="1275" b="1">
                <a:solidFill>
                  <a:srgbClr val="26B6CF"/>
                </a:solidFill>
              </a:defRPr>
            </a:lvl4pPr>
            <a:lvl5pPr algn="l">
              <a:defRPr sz="1275" b="1">
                <a:solidFill>
                  <a:srgbClr val="26B6CF"/>
                </a:solidFill>
              </a:defRPr>
            </a:lvl5pPr>
            <a:lvl6pPr algn="l">
              <a:defRPr sz="1275" b="1">
                <a:solidFill>
                  <a:srgbClr val="26B6CF"/>
                </a:solidFill>
              </a:defRPr>
            </a:lvl6pPr>
            <a:lvl7pPr algn="l">
              <a:defRPr sz="1275" b="1">
                <a:solidFill>
                  <a:srgbClr val="26B6CF"/>
                </a:solidFill>
              </a:defRPr>
            </a:lvl7pPr>
            <a:lvl8pPr algn="l">
              <a:defRPr sz="1275" b="1">
                <a:solidFill>
                  <a:srgbClr val="26B6CF"/>
                </a:solidFill>
              </a:defRPr>
            </a:lvl8pPr>
            <a:lvl9pPr algn="l">
              <a:defRPr sz="12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B6CF"/>
                </a:solidFill>
              </a:defRPr>
            </a:pPr>
            <a:r>
              <a:rPr sz="1275" b="1">
                <a:solidFill>
                  <a:srgbClr val="26B6CF"/>
                </a:solidFill>
              </a:rPr>
              <a:t>Ready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D52EF-7468-4C39-A2C7-83E8FA8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2717E-88EA-4C59-ABE0-8D1F9A1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Academic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D6F75-DFDD-4359-A451-744B776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768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3F1F2-59B9-417D-918A-EB8D4C79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Portfolio demonstration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CDC02-6768-4853-B96B-65F7C92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27CEE-7A22-4118-ADB8-794002FA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Research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E17B2-AA57-4925-97D3-773BDAB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2686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9B305-8E93-485C-AADE-9ADD2BDA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Future validation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22ED7-F76F-4454-A855-40D2E90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BC8"/>
                </a:solidFill>
              </a:defRPr>
            </a:defPPr>
            <a:lvl1pPr algn="ctr">
              <a:defRPr sz="1200" b="1">
                <a:solidFill>
                  <a:srgbClr val="B9CBC8"/>
                </a:solidFill>
              </a:defRPr>
            </a:lvl1pPr>
            <a:lvl2pPr algn="ctr">
              <a:defRPr sz="1200" b="1">
                <a:solidFill>
                  <a:srgbClr val="B9CBC8"/>
                </a:solidFill>
              </a:defRPr>
            </a:lvl2pPr>
            <a:lvl3pPr algn="ctr">
              <a:defRPr sz="1200" b="1">
                <a:solidFill>
                  <a:srgbClr val="B9CBC8"/>
                </a:solidFill>
              </a:defRPr>
            </a:lvl3pPr>
            <a:lvl4pPr algn="ctr">
              <a:defRPr sz="1200" b="1">
                <a:solidFill>
                  <a:srgbClr val="B9CBC8"/>
                </a:solidFill>
              </a:defRPr>
            </a:lvl4pPr>
            <a:lvl5pPr algn="ctr">
              <a:defRPr sz="1200" b="1">
                <a:solidFill>
                  <a:srgbClr val="B9CBC8"/>
                </a:solidFill>
              </a:defRPr>
            </a:lvl5pPr>
            <a:lvl6pPr algn="ctr">
              <a:defRPr sz="1200" b="1">
                <a:solidFill>
                  <a:srgbClr val="B9CBC8"/>
                </a:solidFill>
              </a:defRPr>
            </a:lvl6pPr>
            <a:lvl7pPr algn="ctr">
              <a:defRPr sz="1200" b="1">
                <a:solidFill>
                  <a:srgbClr val="B9CBC8"/>
                </a:solidFill>
              </a:defRPr>
            </a:lvl7pPr>
            <a:lvl8pPr algn="ctr">
              <a:defRPr sz="1200" b="1">
                <a:solidFill>
                  <a:srgbClr val="B9CBC8"/>
                </a:solidFill>
              </a:defRPr>
            </a:lvl8pPr>
            <a:lvl9pPr algn="ctr">
              <a:defRPr sz="1200" b="1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9CBC8"/>
                </a:solidFill>
              </a:defRPr>
            </a:pPr>
            <a:r>
              <a:rPr sz="1200" b="1">
                <a:solidFill>
                  <a:srgbClr val="B9CBC8"/>
                </a:solidFill>
              </a:rPr>
              <a:t>Next scientific step: add more independent events and India-focused geography-held-out validation before considering resident-facing ML.</a:t>
            </a:r>
          </a:p>
        </p:txBody>
      </p:sp>
    </p:spTree>
    <p:extLst>
      <p:ext uri="{BB962C8B-B14F-4D97-AF65-F5344CB8AC3E}">
        <p14:creationId xmlns:p14="http://schemas.microsoft.com/office/powerpoint/2010/main" val="2014704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2026-10-20T03:17:54.1910000Z</dcterms:created>
  <dcterms:modified xsi:type="dcterms:W3CDTF">2026-10-20T03:17:54.1910000Z</dcterms:modified>
</coreProperties>
</file>